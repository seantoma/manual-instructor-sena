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538" r:id="rId5"/>
    <p:sldId id="545" r:id="rId6"/>
    <p:sldId id="548" r:id="rId7"/>
    <p:sldId id="543" r:id="rId8"/>
    <p:sldId id="535" r:id="rId9"/>
    <p:sldId id="542" r:id="rId10"/>
    <p:sldId id="536" r:id="rId11"/>
    <p:sldId id="546" r:id="rId12"/>
    <p:sldId id="547" r:id="rId13"/>
    <p:sldId id="531" r:id="rId1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5" userDrawn="1">
          <p15:clr>
            <a:srgbClr val="A4A3A4"/>
          </p15:clr>
        </p15:guide>
        <p15:guide id="2" pos="3840" userDrawn="1">
          <p15:clr>
            <a:srgbClr val="A4A3A4"/>
          </p15:clr>
        </p15:guide>
        <p15:guide id="3" orient="horz" pos="1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D6FD"/>
    <a:srgbClr val="FF6C00"/>
    <a:srgbClr val="FFF5EA"/>
    <a:srgbClr val="FFCCFF"/>
    <a:srgbClr val="4D4D4C"/>
    <a:srgbClr val="343433"/>
    <a:srgbClr val="38AA00"/>
    <a:srgbClr val="766363"/>
    <a:srgbClr val="0032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28"/>
    <p:restoredTop sz="97242"/>
  </p:normalViewPr>
  <p:slideViewPr>
    <p:cSldViewPr snapToGrid="0">
      <p:cViewPr varScale="1">
        <p:scale>
          <a:sx n="161" d="100"/>
          <a:sy n="161" d="100"/>
        </p:scale>
        <p:origin x="1200" y="100"/>
      </p:cViewPr>
      <p:guideLst>
        <p:guide orient="horz" pos="595"/>
        <p:guide pos="3840"/>
        <p:guide orient="horz" pos="187"/>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image" Target="../media/image13.jpg"/><Relationship Id="rId5" Type="http://schemas.openxmlformats.org/officeDocument/2006/relationships/image" Target="../media/image11.svg"/><Relationship Id="rId4"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image" Target="../media/image13.jpg"/><Relationship Id="rId5" Type="http://schemas.openxmlformats.org/officeDocument/2006/relationships/image" Target="../media/image11.svg"/><Relationship Id="rId4"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4D9710-B54D-4EC0-8F27-922BE42C7DC9}" type="doc">
      <dgm:prSet loTypeId="urn:microsoft.com/office/officeart/2018/2/layout/IconCircleList" loCatId="icon" qsTypeId="urn:microsoft.com/office/officeart/2005/8/quickstyle/simple1" qsCatId="simple" csTypeId="urn:microsoft.com/office/officeart/2005/8/colors/colorful4" csCatId="colorful" phldr="1"/>
      <dgm:spPr/>
      <dgm:t>
        <a:bodyPr/>
        <a:lstStyle/>
        <a:p>
          <a:endParaRPr lang="en-US"/>
        </a:p>
      </dgm:t>
    </dgm:pt>
    <dgm:pt modelId="{9AAD83A5-06FF-4D43-8822-762E85728D9D}">
      <dgm:prSet custT="1"/>
      <dgm:spPr/>
      <dgm:t>
        <a:bodyPr/>
        <a:lstStyle/>
        <a:p>
          <a:pPr>
            <a:lnSpc>
              <a:spcPct val="100000"/>
            </a:lnSpc>
          </a:pPr>
          <a:r>
            <a:rPr lang="es-MX" sz="1600"/>
            <a:t>1. El instructor debe programar visita final de seguimiento con el Aprendiz y empresa </a:t>
          </a:r>
          <a:endParaRPr lang="en-US" sz="1600"/>
        </a:p>
      </dgm:t>
    </dgm:pt>
    <dgm:pt modelId="{813EC9AB-7C59-4B3E-B312-5645116D463F}" type="parTrans" cxnId="{0FF9D03A-9F88-4703-9DE0-006D2246E9F0}">
      <dgm:prSet/>
      <dgm:spPr/>
      <dgm:t>
        <a:bodyPr/>
        <a:lstStyle/>
        <a:p>
          <a:pPr algn="just"/>
          <a:endParaRPr lang="en-US" sz="1600"/>
        </a:p>
      </dgm:t>
    </dgm:pt>
    <dgm:pt modelId="{71E1402D-CC91-41B5-A1CF-7A4672C506CE}" type="sibTrans" cxnId="{0FF9D03A-9F88-4703-9DE0-006D2246E9F0}">
      <dgm:prSet/>
      <dgm:spPr/>
      <dgm:t>
        <a:bodyPr/>
        <a:lstStyle/>
        <a:p>
          <a:pPr>
            <a:lnSpc>
              <a:spcPct val="100000"/>
            </a:lnSpc>
          </a:pPr>
          <a:endParaRPr lang="en-US" sz="1600"/>
        </a:p>
      </dgm:t>
    </dgm:pt>
    <dgm:pt modelId="{F502DBA5-852C-483C-A086-7A259A8CDB1E}">
      <dgm:prSet custT="1"/>
      <dgm:spPr/>
      <dgm:t>
        <a:bodyPr/>
        <a:lstStyle/>
        <a:p>
          <a:pPr algn="just">
            <a:lnSpc>
              <a:spcPct val="100000"/>
            </a:lnSpc>
          </a:pPr>
          <a:r>
            <a:rPr lang="es-MX" sz="1600" dirty="0"/>
            <a:t>2. En la visita se debe realizar la evaluación final en el formato GFPI-F-023 versión 05, respondiendo a cada una de las variables de los factores técnicos Actitudinales y Comportamentales.</a:t>
          </a:r>
          <a:endParaRPr lang="en-US" sz="1600" dirty="0"/>
        </a:p>
      </dgm:t>
    </dgm:pt>
    <dgm:pt modelId="{CCFA8D39-79A5-486D-9EC5-E9AA1970B651}" type="parTrans" cxnId="{451004AE-47C1-4355-98F2-1453CEA4E625}">
      <dgm:prSet/>
      <dgm:spPr/>
      <dgm:t>
        <a:bodyPr/>
        <a:lstStyle/>
        <a:p>
          <a:pPr algn="just"/>
          <a:endParaRPr lang="en-US" sz="1600"/>
        </a:p>
      </dgm:t>
    </dgm:pt>
    <dgm:pt modelId="{D0AB96AC-874A-471C-B175-F44D518FAC1A}" type="sibTrans" cxnId="{451004AE-47C1-4355-98F2-1453CEA4E625}">
      <dgm:prSet/>
      <dgm:spPr/>
      <dgm:t>
        <a:bodyPr/>
        <a:lstStyle/>
        <a:p>
          <a:pPr>
            <a:lnSpc>
              <a:spcPct val="100000"/>
            </a:lnSpc>
          </a:pPr>
          <a:endParaRPr lang="en-US" sz="1600"/>
        </a:p>
      </dgm:t>
    </dgm:pt>
    <dgm:pt modelId="{7D9FF73B-47F1-4376-8FFA-042F03AF20E8}">
      <dgm:prSet custT="1"/>
      <dgm:spPr/>
      <dgm:t>
        <a:bodyPr/>
        <a:lstStyle/>
        <a:p>
          <a:pPr>
            <a:lnSpc>
              <a:spcPct val="100000"/>
            </a:lnSpc>
          </a:pPr>
          <a:r>
            <a:rPr lang="es-MX" sz="1600" dirty="0"/>
            <a:t>3. En el formato GFPI-F-023 versión 05 el jefe inmediato debe señalar en el espacio de juicio de evaluación si es </a:t>
          </a:r>
          <a:r>
            <a:rPr lang="es-MX" sz="1600" b="1" dirty="0"/>
            <a:t>APROBADO</a:t>
          </a:r>
          <a:r>
            <a:rPr lang="es-MX" sz="1600" dirty="0"/>
            <a:t> o </a:t>
          </a:r>
          <a:r>
            <a:rPr lang="es-MX" sz="1600" b="1" dirty="0"/>
            <a:t>NO APROBADO </a:t>
          </a:r>
          <a:r>
            <a:rPr lang="es-MX" sz="1600" b="0" dirty="0"/>
            <a:t>la etapa productiva</a:t>
          </a:r>
          <a:r>
            <a:rPr lang="es-MX" sz="1600" dirty="0"/>
            <a:t>.</a:t>
          </a:r>
          <a:endParaRPr lang="en-US" sz="1600" dirty="0"/>
        </a:p>
      </dgm:t>
    </dgm:pt>
    <dgm:pt modelId="{F589340A-F8A0-44FD-AE17-B6663CEA1148}" type="parTrans" cxnId="{B5AD7416-6B5B-4CA0-A64C-BA9BC94D200E}">
      <dgm:prSet/>
      <dgm:spPr/>
      <dgm:t>
        <a:bodyPr/>
        <a:lstStyle/>
        <a:p>
          <a:pPr algn="just"/>
          <a:endParaRPr lang="en-US" sz="1600"/>
        </a:p>
      </dgm:t>
    </dgm:pt>
    <dgm:pt modelId="{0D471F7B-C430-42BD-A8DE-0277F95EC7E6}" type="sibTrans" cxnId="{B5AD7416-6B5B-4CA0-A64C-BA9BC94D200E}">
      <dgm:prSet/>
      <dgm:spPr/>
      <dgm:t>
        <a:bodyPr/>
        <a:lstStyle/>
        <a:p>
          <a:pPr>
            <a:lnSpc>
              <a:spcPct val="100000"/>
            </a:lnSpc>
          </a:pPr>
          <a:endParaRPr lang="en-US" sz="1600"/>
        </a:p>
      </dgm:t>
    </dgm:pt>
    <dgm:pt modelId="{68195770-3268-424C-B7B6-395323C82356}">
      <dgm:prSet custT="1"/>
      <dgm:spPr/>
      <dgm:t>
        <a:bodyPr/>
        <a:lstStyle/>
        <a:p>
          <a:pPr algn="just">
            <a:lnSpc>
              <a:spcPct val="100000"/>
            </a:lnSpc>
          </a:pPr>
          <a:r>
            <a:rPr lang="es-MX" sz="1600" dirty="0"/>
            <a:t>4. En esta visita final el instructor debe revisar nuevamente que el formato F023 este completo y bien diligenciado en su </a:t>
          </a:r>
          <a:r>
            <a:rPr lang="es-MX" sz="1600" b="1" dirty="0"/>
            <a:t>CONCERTACIÓN, EVALUACIÓN PARCIAL Y EVALUACIÓN FINAL</a:t>
          </a:r>
          <a:r>
            <a:rPr lang="es-MX" sz="1600" dirty="0"/>
            <a:t>, con fechas y firmas registradas como corresponde, una vez revisado y aprobado debe anexarlo al expediente del Aprendiz.</a:t>
          </a:r>
          <a:endParaRPr lang="en-US" sz="1600" dirty="0"/>
        </a:p>
      </dgm:t>
    </dgm:pt>
    <dgm:pt modelId="{0C15518B-3B56-43A4-A71C-81CA96A0CC73}" type="parTrans" cxnId="{A22086A3-64A0-4650-AE7C-E54119023191}">
      <dgm:prSet/>
      <dgm:spPr/>
      <dgm:t>
        <a:bodyPr/>
        <a:lstStyle/>
        <a:p>
          <a:pPr algn="just"/>
          <a:endParaRPr lang="en-US" sz="1600"/>
        </a:p>
      </dgm:t>
    </dgm:pt>
    <dgm:pt modelId="{50E351D4-B6F5-4585-8564-E07E857095D8}" type="sibTrans" cxnId="{A22086A3-64A0-4650-AE7C-E54119023191}">
      <dgm:prSet/>
      <dgm:spPr/>
      <dgm:t>
        <a:bodyPr/>
        <a:lstStyle/>
        <a:p>
          <a:pPr algn="just"/>
          <a:endParaRPr lang="en-US" sz="1600"/>
        </a:p>
      </dgm:t>
    </dgm:pt>
    <dgm:pt modelId="{D48BDC53-0668-4677-81AF-1E597634932A}" type="pres">
      <dgm:prSet presAssocID="{CF4D9710-B54D-4EC0-8F27-922BE42C7DC9}" presName="root" presStyleCnt="0">
        <dgm:presLayoutVars>
          <dgm:dir/>
          <dgm:resizeHandles val="exact"/>
        </dgm:presLayoutVars>
      </dgm:prSet>
      <dgm:spPr/>
    </dgm:pt>
    <dgm:pt modelId="{7380D3C4-2E27-499F-897F-924B5FF73187}" type="pres">
      <dgm:prSet presAssocID="{CF4D9710-B54D-4EC0-8F27-922BE42C7DC9}" presName="container" presStyleCnt="0">
        <dgm:presLayoutVars>
          <dgm:dir/>
          <dgm:resizeHandles val="exact"/>
        </dgm:presLayoutVars>
      </dgm:prSet>
      <dgm:spPr/>
    </dgm:pt>
    <dgm:pt modelId="{7C62EF1F-0DF4-4071-801D-479A6AC17992}" type="pres">
      <dgm:prSet presAssocID="{9AAD83A5-06FF-4D43-8822-762E85728D9D}" presName="compNode" presStyleCnt="0"/>
      <dgm:spPr/>
    </dgm:pt>
    <dgm:pt modelId="{BDE127B2-F709-4F90-B411-F05C21F3F3C1}" type="pres">
      <dgm:prSet presAssocID="{9AAD83A5-06FF-4D43-8822-762E85728D9D}" presName="iconBgRect" presStyleLbl="bgShp" presStyleIdx="0" presStyleCnt="4"/>
      <dgm:spPr/>
    </dgm:pt>
    <dgm:pt modelId="{4039406E-202C-4041-B44F-65ED2653DA53}" type="pres">
      <dgm:prSet presAssocID="{9AAD83A5-06FF-4D43-8822-762E85728D9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ily Calendar"/>
        </a:ext>
      </dgm:extLst>
    </dgm:pt>
    <dgm:pt modelId="{E8F4F2EE-8345-4446-9506-C1D1EEA873EB}" type="pres">
      <dgm:prSet presAssocID="{9AAD83A5-06FF-4D43-8822-762E85728D9D}" presName="spaceRect" presStyleCnt="0"/>
      <dgm:spPr/>
    </dgm:pt>
    <dgm:pt modelId="{30758AD5-60C1-4583-AE48-71962DD22122}" type="pres">
      <dgm:prSet presAssocID="{9AAD83A5-06FF-4D43-8822-762E85728D9D}" presName="textRect" presStyleLbl="revTx" presStyleIdx="0" presStyleCnt="4">
        <dgm:presLayoutVars>
          <dgm:chMax val="1"/>
          <dgm:chPref val="1"/>
        </dgm:presLayoutVars>
      </dgm:prSet>
      <dgm:spPr/>
    </dgm:pt>
    <dgm:pt modelId="{E5261A37-2BAE-4189-BE16-202015B44B98}" type="pres">
      <dgm:prSet presAssocID="{71E1402D-CC91-41B5-A1CF-7A4672C506CE}" presName="sibTrans" presStyleLbl="sibTrans2D1" presStyleIdx="0" presStyleCnt="0"/>
      <dgm:spPr/>
    </dgm:pt>
    <dgm:pt modelId="{5805EE0D-C7EC-419D-9B86-8DF9D74F6EE9}" type="pres">
      <dgm:prSet presAssocID="{F502DBA5-852C-483C-A086-7A259A8CDB1E}" presName="compNode" presStyleCnt="0"/>
      <dgm:spPr/>
    </dgm:pt>
    <dgm:pt modelId="{65D667F2-8D47-4655-9619-5A9545785C99}" type="pres">
      <dgm:prSet presAssocID="{F502DBA5-852C-483C-A086-7A259A8CDB1E}" presName="iconBgRect" presStyleLbl="bgShp" presStyleIdx="1" presStyleCnt="4"/>
      <dgm:spPr/>
    </dgm:pt>
    <dgm:pt modelId="{3CC77729-12B2-4033-9296-651EF7606245}" type="pres">
      <dgm:prSet presAssocID="{F502DBA5-852C-483C-A086-7A259A8CDB1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rama"/>
        </a:ext>
      </dgm:extLst>
    </dgm:pt>
    <dgm:pt modelId="{04A4AD8F-80E8-42B1-BA5B-A081FF2FE3A4}" type="pres">
      <dgm:prSet presAssocID="{F502DBA5-852C-483C-A086-7A259A8CDB1E}" presName="spaceRect" presStyleCnt="0"/>
      <dgm:spPr/>
    </dgm:pt>
    <dgm:pt modelId="{BBF1CF36-EF96-4D33-88F2-98AC5FB58CC5}" type="pres">
      <dgm:prSet presAssocID="{F502DBA5-852C-483C-A086-7A259A8CDB1E}" presName="textRect" presStyleLbl="revTx" presStyleIdx="1" presStyleCnt="4">
        <dgm:presLayoutVars>
          <dgm:chMax val="1"/>
          <dgm:chPref val="1"/>
        </dgm:presLayoutVars>
      </dgm:prSet>
      <dgm:spPr/>
    </dgm:pt>
    <dgm:pt modelId="{7CA01B31-5F62-4C3A-BA6E-E5C5BB141F3B}" type="pres">
      <dgm:prSet presAssocID="{D0AB96AC-874A-471C-B175-F44D518FAC1A}" presName="sibTrans" presStyleLbl="sibTrans2D1" presStyleIdx="0" presStyleCnt="0"/>
      <dgm:spPr/>
    </dgm:pt>
    <dgm:pt modelId="{6BB55207-9B22-4E03-87F0-1DCC9B7303A2}" type="pres">
      <dgm:prSet presAssocID="{7D9FF73B-47F1-4376-8FFA-042F03AF20E8}" presName="compNode" presStyleCnt="0"/>
      <dgm:spPr/>
    </dgm:pt>
    <dgm:pt modelId="{E9F3AD17-0E45-4FBE-9294-FC96ABCBA48F}" type="pres">
      <dgm:prSet presAssocID="{7D9FF73B-47F1-4376-8FFA-042F03AF20E8}" presName="iconBgRect" presStyleLbl="bgShp" presStyleIdx="2" presStyleCnt="4"/>
      <dgm:spPr/>
    </dgm:pt>
    <dgm:pt modelId="{FA6294D4-D89E-4E91-8C39-AF801656FF88}" type="pres">
      <dgm:prSet presAssocID="{7D9FF73B-47F1-4376-8FFA-042F03AF20E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millas"/>
        </a:ext>
      </dgm:extLst>
    </dgm:pt>
    <dgm:pt modelId="{D433FC25-4334-40B7-969D-0CEDDF3197DF}" type="pres">
      <dgm:prSet presAssocID="{7D9FF73B-47F1-4376-8FFA-042F03AF20E8}" presName="spaceRect" presStyleCnt="0"/>
      <dgm:spPr/>
    </dgm:pt>
    <dgm:pt modelId="{CE81C66A-9F32-4AF3-A7DA-462872D0AFD9}" type="pres">
      <dgm:prSet presAssocID="{7D9FF73B-47F1-4376-8FFA-042F03AF20E8}" presName="textRect" presStyleLbl="revTx" presStyleIdx="2" presStyleCnt="4">
        <dgm:presLayoutVars>
          <dgm:chMax val="1"/>
          <dgm:chPref val="1"/>
        </dgm:presLayoutVars>
      </dgm:prSet>
      <dgm:spPr/>
    </dgm:pt>
    <dgm:pt modelId="{F557B494-0C35-4C80-B5E4-BF28533969B9}" type="pres">
      <dgm:prSet presAssocID="{0D471F7B-C430-42BD-A8DE-0277F95EC7E6}" presName="sibTrans" presStyleLbl="sibTrans2D1" presStyleIdx="0" presStyleCnt="0"/>
      <dgm:spPr/>
    </dgm:pt>
    <dgm:pt modelId="{C31876AF-36C1-4DD1-BFE3-B0B5080D466C}" type="pres">
      <dgm:prSet presAssocID="{68195770-3268-424C-B7B6-395323C82356}" presName="compNode" presStyleCnt="0"/>
      <dgm:spPr/>
    </dgm:pt>
    <dgm:pt modelId="{64DA3FAB-A6F3-4FBB-9B4B-56EA71AB3B9B}" type="pres">
      <dgm:prSet presAssocID="{68195770-3268-424C-B7B6-395323C82356}" presName="iconBgRect" presStyleLbl="bgShp" presStyleIdx="3" presStyleCnt="4"/>
      <dgm:spPr/>
    </dgm:pt>
    <dgm:pt modelId="{25B3FA8D-9EE2-4FB1-98AA-61B31A9AC235}" type="pres">
      <dgm:prSet presAssocID="{68195770-3268-424C-B7B6-395323C8235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arca de verificación"/>
        </a:ext>
      </dgm:extLst>
    </dgm:pt>
    <dgm:pt modelId="{8503B1BE-9DD9-4FA6-A16B-34782AD0C089}" type="pres">
      <dgm:prSet presAssocID="{68195770-3268-424C-B7B6-395323C82356}" presName="spaceRect" presStyleCnt="0"/>
      <dgm:spPr/>
    </dgm:pt>
    <dgm:pt modelId="{38F46D47-150A-431A-8F89-B321C7CA727F}" type="pres">
      <dgm:prSet presAssocID="{68195770-3268-424C-B7B6-395323C82356}" presName="textRect" presStyleLbl="revTx" presStyleIdx="3" presStyleCnt="4" custScaleX="101115" custScaleY="108884" custLinFactNeighborY="860">
        <dgm:presLayoutVars>
          <dgm:chMax val="1"/>
          <dgm:chPref val="1"/>
        </dgm:presLayoutVars>
      </dgm:prSet>
      <dgm:spPr/>
    </dgm:pt>
  </dgm:ptLst>
  <dgm:cxnLst>
    <dgm:cxn modelId="{F3AB0D01-96B8-4A83-A1CD-710D98671DCA}" type="presOf" srcId="{9AAD83A5-06FF-4D43-8822-762E85728D9D}" destId="{30758AD5-60C1-4583-AE48-71962DD22122}" srcOrd="0" destOrd="0" presId="urn:microsoft.com/office/officeart/2018/2/layout/IconCircleList"/>
    <dgm:cxn modelId="{B5AD7416-6B5B-4CA0-A64C-BA9BC94D200E}" srcId="{CF4D9710-B54D-4EC0-8F27-922BE42C7DC9}" destId="{7D9FF73B-47F1-4376-8FFA-042F03AF20E8}" srcOrd="2" destOrd="0" parTransId="{F589340A-F8A0-44FD-AE17-B6663CEA1148}" sibTransId="{0D471F7B-C430-42BD-A8DE-0277F95EC7E6}"/>
    <dgm:cxn modelId="{F34A2C18-A896-4D0D-9131-214681A644DA}" type="presOf" srcId="{F502DBA5-852C-483C-A086-7A259A8CDB1E}" destId="{BBF1CF36-EF96-4D33-88F2-98AC5FB58CC5}" srcOrd="0" destOrd="0" presId="urn:microsoft.com/office/officeart/2018/2/layout/IconCircleList"/>
    <dgm:cxn modelId="{7C40742F-96C8-4661-9E07-28CA86BB01E1}" type="presOf" srcId="{0D471F7B-C430-42BD-A8DE-0277F95EC7E6}" destId="{F557B494-0C35-4C80-B5E4-BF28533969B9}" srcOrd="0" destOrd="0" presId="urn:microsoft.com/office/officeart/2018/2/layout/IconCircleList"/>
    <dgm:cxn modelId="{0FF9D03A-9F88-4703-9DE0-006D2246E9F0}" srcId="{CF4D9710-B54D-4EC0-8F27-922BE42C7DC9}" destId="{9AAD83A5-06FF-4D43-8822-762E85728D9D}" srcOrd="0" destOrd="0" parTransId="{813EC9AB-7C59-4B3E-B312-5645116D463F}" sibTransId="{71E1402D-CC91-41B5-A1CF-7A4672C506CE}"/>
    <dgm:cxn modelId="{C318275B-B9F4-435C-BCFE-C4440B66C0A3}" type="presOf" srcId="{68195770-3268-424C-B7B6-395323C82356}" destId="{38F46D47-150A-431A-8F89-B321C7CA727F}" srcOrd="0" destOrd="0" presId="urn:microsoft.com/office/officeart/2018/2/layout/IconCircleList"/>
    <dgm:cxn modelId="{290D1D9F-900D-4659-B5DA-E3763A78D540}" type="presOf" srcId="{71E1402D-CC91-41B5-A1CF-7A4672C506CE}" destId="{E5261A37-2BAE-4189-BE16-202015B44B98}" srcOrd="0" destOrd="0" presId="urn:microsoft.com/office/officeart/2018/2/layout/IconCircleList"/>
    <dgm:cxn modelId="{A22086A3-64A0-4650-AE7C-E54119023191}" srcId="{CF4D9710-B54D-4EC0-8F27-922BE42C7DC9}" destId="{68195770-3268-424C-B7B6-395323C82356}" srcOrd="3" destOrd="0" parTransId="{0C15518B-3B56-43A4-A71C-81CA96A0CC73}" sibTransId="{50E351D4-B6F5-4585-8564-E07E857095D8}"/>
    <dgm:cxn modelId="{77D34CAA-F0CF-4EA9-B53E-FEADD18F8E47}" type="presOf" srcId="{7D9FF73B-47F1-4376-8FFA-042F03AF20E8}" destId="{CE81C66A-9F32-4AF3-A7DA-462872D0AFD9}" srcOrd="0" destOrd="0" presId="urn:microsoft.com/office/officeart/2018/2/layout/IconCircleList"/>
    <dgm:cxn modelId="{EC95B6AB-4D83-4646-92D1-E8E5F2236A42}" type="presOf" srcId="{D0AB96AC-874A-471C-B175-F44D518FAC1A}" destId="{7CA01B31-5F62-4C3A-BA6E-E5C5BB141F3B}" srcOrd="0" destOrd="0" presId="urn:microsoft.com/office/officeart/2018/2/layout/IconCircleList"/>
    <dgm:cxn modelId="{451004AE-47C1-4355-98F2-1453CEA4E625}" srcId="{CF4D9710-B54D-4EC0-8F27-922BE42C7DC9}" destId="{F502DBA5-852C-483C-A086-7A259A8CDB1E}" srcOrd="1" destOrd="0" parTransId="{CCFA8D39-79A5-486D-9EC5-E9AA1970B651}" sibTransId="{D0AB96AC-874A-471C-B175-F44D518FAC1A}"/>
    <dgm:cxn modelId="{DF1F31E2-BD88-4E27-A837-2B09B950EB54}" type="presOf" srcId="{CF4D9710-B54D-4EC0-8F27-922BE42C7DC9}" destId="{D48BDC53-0668-4677-81AF-1E597634932A}" srcOrd="0" destOrd="0" presId="urn:microsoft.com/office/officeart/2018/2/layout/IconCircleList"/>
    <dgm:cxn modelId="{C37E79EF-BD5C-44D7-B0B2-5E7ED016213D}" type="presParOf" srcId="{D48BDC53-0668-4677-81AF-1E597634932A}" destId="{7380D3C4-2E27-499F-897F-924B5FF73187}" srcOrd="0" destOrd="0" presId="urn:microsoft.com/office/officeart/2018/2/layout/IconCircleList"/>
    <dgm:cxn modelId="{B07D15AA-ABC1-4581-83CA-3ABEB9543D86}" type="presParOf" srcId="{7380D3C4-2E27-499F-897F-924B5FF73187}" destId="{7C62EF1F-0DF4-4071-801D-479A6AC17992}" srcOrd="0" destOrd="0" presId="urn:microsoft.com/office/officeart/2018/2/layout/IconCircleList"/>
    <dgm:cxn modelId="{48DD7CBB-9D5E-4755-81BC-2F51E5EC204A}" type="presParOf" srcId="{7C62EF1F-0DF4-4071-801D-479A6AC17992}" destId="{BDE127B2-F709-4F90-B411-F05C21F3F3C1}" srcOrd="0" destOrd="0" presId="urn:microsoft.com/office/officeart/2018/2/layout/IconCircleList"/>
    <dgm:cxn modelId="{2A146DE3-1F34-43D4-8B66-CF8A095F7CBB}" type="presParOf" srcId="{7C62EF1F-0DF4-4071-801D-479A6AC17992}" destId="{4039406E-202C-4041-B44F-65ED2653DA53}" srcOrd="1" destOrd="0" presId="urn:microsoft.com/office/officeart/2018/2/layout/IconCircleList"/>
    <dgm:cxn modelId="{9D6F4329-0E55-4693-9238-577440E4C1E9}" type="presParOf" srcId="{7C62EF1F-0DF4-4071-801D-479A6AC17992}" destId="{E8F4F2EE-8345-4446-9506-C1D1EEA873EB}" srcOrd="2" destOrd="0" presId="urn:microsoft.com/office/officeart/2018/2/layout/IconCircleList"/>
    <dgm:cxn modelId="{E9F2A5A5-4C92-4CAD-ACE4-A6E6D38B4638}" type="presParOf" srcId="{7C62EF1F-0DF4-4071-801D-479A6AC17992}" destId="{30758AD5-60C1-4583-AE48-71962DD22122}" srcOrd="3" destOrd="0" presId="urn:microsoft.com/office/officeart/2018/2/layout/IconCircleList"/>
    <dgm:cxn modelId="{EB9725E7-204C-4DF1-9D50-4F2F7E935295}" type="presParOf" srcId="{7380D3C4-2E27-499F-897F-924B5FF73187}" destId="{E5261A37-2BAE-4189-BE16-202015B44B98}" srcOrd="1" destOrd="0" presId="urn:microsoft.com/office/officeart/2018/2/layout/IconCircleList"/>
    <dgm:cxn modelId="{D725FC87-4EA6-49D1-B350-4F193372EBCC}" type="presParOf" srcId="{7380D3C4-2E27-499F-897F-924B5FF73187}" destId="{5805EE0D-C7EC-419D-9B86-8DF9D74F6EE9}" srcOrd="2" destOrd="0" presId="urn:microsoft.com/office/officeart/2018/2/layout/IconCircleList"/>
    <dgm:cxn modelId="{F8DD8917-7DF0-422E-ADAD-ABB69A4284DC}" type="presParOf" srcId="{5805EE0D-C7EC-419D-9B86-8DF9D74F6EE9}" destId="{65D667F2-8D47-4655-9619-5A9545785C99}" srcOrd="0" destOrd="0" presId="urn:microsoft.com/office/officeart/2018/2/layout/IconCircleList"/>
    <dgm:cxn modelId="{F1F0D0B0-877C-4B16-9019-9DC0E88E4D4E}" type="presParOf" srcId="{5805EE0D-C7EC-419D-9B86-8DF9D74F6EE9}" destId="{3CC77729-12B2-4033-9296-651EF7606245}" srcOrd="1" destOrd="0" presId="urn:microsoft.com/office/officeart/2018/2/layout/IconCircleList"/>
    <dgm:cxn modelId="{E83B5BE7-DD91-40FF-B327-6A4B151B0CA5}" type="presParOf" srcId="{5805EE0D-C7EC-419D-9B86-8DF9D74F6EE9}" destId="{04A4AD8F-80E8-42B1-BA5B-A081FF2FE3A4}" srcOrd="2" destOrd="0" presId="urn:microsoft.com/office/officeart/2018/2/layout/IconCircleList"/>
    <dgm:cxn modelId="{176C105F-D973-4F46-8685-480A000B4B6F}" type="presParOf" srcId="{5805EE0D-C7EC-419D-9B86-8DF9D74F6EE9}" destId="{BBF1CF36-EF96-4D33-88F2-98AC5FB58CC5}" srcOrd="3" destOrd="0" presId="urn:microsoft.com/office/officeart/2018/2/layout/IconCircleList"/>
    <dgm:cxn modelId="{FF730E1F-9B04-467D-B59D-07552247F953}" type="presParOf" srcId="{7380D3C4-2E27-499F-897F-924B5FF73187}" destId="{7CA01B31-5F62-4C3A-BA6E-E5C5BB141F3B}" srcOrd="3" destOrd="0" presId="urn:microsoft.com/office/officeart/2018/2/layout/IconCircleList"/>
    <dgm:cxn modelId="{8EC6CDB5-853B-4954-BF48-013AB2FDBC99}" type="presParOf" srcId="{7380D3C4-2E27-499F-897F-924B5FF73187}" destId="{6BB55207-9B22-4E03-87F0-1DCC9B7303A2}" srcOrd="4" destOrd="0" presId="urn:microsoft.com/office/officeart/2018/2/layout/IconCircleList"/>
    <dgm:cxn modelId="{2924C8DA-F34F-44AD-BCA9-902BDE356063}" type="presParOf" srcId="{6BB55207-9B22-4E03-87F0-1DCC9B7303A2}" destId="{E9F3AD17-0E45-4FBE-9294-FC96ABCBA48F}" srcOrd="0" destOrd="0" presId="urn:microsoft.com/office/officeart/2018/2/layout/IconCircleList"/>
    <dgm:cxn modelId="{379E3BF6-4ED5-404B-BDB1-130EF6051217}" type="presParOf" srcId="{6BB55207-9B22-4E03-87F0-1DCC9B7303A2}" destId="{FA6294D4-D89E-4E91-8C39-AF801656FF88}" srcOrd="1" destOrd="0" presId="urn:microsoft.com/office/officeart/2018/2/layout/IconCircleList"/>
    <dgm:cxn modelId="{88F5A584-504D-46B9-B4A5-7920ED81981B}" type="presParOf" srcId="{6BB55207-9B22-4E03-87F0-1DCC9B7303A2}" destId="{D433FC25-4334-40B7-969D-0CEDDF3197DF}" srcOrd="2" destOrd="0" presId="urn:microsoft.com/office/officeart/2018/2/layout/IconCircleList"/>
    <dgm:cxn modelId="{A528CEA4-8853-40A8-B940-55455B7D14E1}" type="presParOf" srcId="{6BB55207-9B22-4E03-87F0-1DCC9B7303A2}" destId="{CE81C66A-9F32-4AF3-A7DA-462872D0AFD9}" srcOrd="3" destOrd="0" presId="urn:microsoft.com/office/officeart/2018/2/layout/IconCircleList"/>
    <dgm:cxn modelId="{F7B00801-0DC7-4557-AF27-2238CA985BAD}" type="presParOf" srcId="{7380D3C4-2E27-499F-897F-924B5FF73187}" destId="{F557B494-0C35-4C80-B5E4-BF28533969B9}" srcOrd="5" destOrd="0" presId="urn:microsoft.com/office/officeart/2018/2/layout/IconCircleList"/>
    <dgm:cxn modelId="{9CD4D57D-1E50-40C8-BDDC-CCC4135E19AF}" type="presParOf" srcId="{7380D3C4-2E27-499F-897F-924B5FF73187}" destId="{C31876AF-36C1-4DD1-BFE3-B0B5080D466C}" srcOrd="6" destOrd="0" presId="urn:microsoft.com/office/officeart/2018/2/layout/IconCircleList"/>
    <dgm:cxn modelId="{5B3964DD-B14D-4AA5-91B8-5F6544838CAC}" type="presParOf" srcId="{C31876AF-36C1-4DD1-BFE3-B0B5080D466C}" destId="{64DA3FAB-A6F3-4FBB-9B4B-56EA71AB3B9B}" srcOrd="0" destOrd="0" presId="urn:microsoft.com/office/officeart/2018/2/layout/IconCircleList"/>
    <dgm:cxn modelId="{C58EB49D-6EB8-44FC-A89F-DC76B630EAAF}" type="presParOf" srcId="{C31876AF-36C1-4DD1-BFE3-B0B5080D466C}" destId="{25B3FA8D-9EE2-4FB1-98AA-61B31A9AC235}" srcOrd="1" destOrd="0" presId="urn:microsoft.com/office/officeart/2018/2/layout/IconCircleList"/>
    <dgm:cxn modelId="{C1CBF7F9-9008-4953-B2A8-3617374D766D}" type="presParOf" srcId="{C31876AF-36C1-4DD1-BFE3-B0B5080D466C}" destId="{8503B1BE-9DD9-4FA6-A16B-34782AD0C089}" srcOrd="2" destOrd="0" presId="urn:microsoft.com/office/officeart/2018/2/layout/IconCircleList"/>
    <dgm:cxn modelId="{2BF8416B-F7D1-4CAB-9C34-3D0451BA96E1}" type="presParOf" srcId="{C31876AF-36C1-4DD1-BFE3-B0B5080D466C}" destId="{38F46D47-150A-431A-8F89-B321C7CA727F}"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4D9710-B54D-4EC0-8F27-922BE42C7DC9}" type="doc">
      <dgm:prSet loTypeId="urn:microsoft.com/office/officeart/2018/2/layout/IconCircleList" loCatId="icon" qsTypeId="urn:microsoft.com/office/officeart/2005/8/quickstyle/simple1" qsCatId="simple" csTypeId="urn:microsoft.com/office/officeart/2005/8/colors/colorful4" csCatId="colorful" phldr="1"/>
      <dgm:spPr/>
      <dgm:t>
        <a:bodyPr/>
        <a:lstStyle/>
        <a:p>
          <a:endParaRPr lang="en-US"/>
        </a:p>
      </dgm:t>
    </dgm:pt>
    <dgm:pt modelId="{9AAD83A5-06FF-4D43-8822-762E85728D9D}">
      <dgm:prSet custT="1"/>
      <dgm:spPr/>
      <dgm:t>
        <a:bodyPr/>
        <a:lstStyle/>
        <a:p>
          <a:pPr>
            <a:lnSpc>
              <a:spcPct val="100000"/>
            </a:lnSpc>
          </a:pPr>
          <a:r>
            <a:rPr lang="es-MX" sz="1600" dirty="0">
              <a:solidFill>
                <a:schemeClr val="tx1"/>
              </a:solidFill>
            </a:rPr>
            <a:t>5. Se debe realizar la revisión y validación de la ultima bitácora GFPI-F-147 V03, verificando su correcto diligenciamiento, con fechas acordes al </a:t>
          </a:r>
          <a:r>
            <a:rPr lang="es-MX" sz="1600" dirty="0"/>
            <a:t>formato F023 </a:t>
          </a:r>
          <a:r>
            <a:rPr lang="es-MX" sz="1600" dirty="0">
              <a:solidFill>
                <a:schemeClr val="tx1"/>
              </a:solidFill>
            </a:rPr>
            <a:t>y firmas registradas como corresponde.</a:t>
          </a:r>
          <a:endParaRPr lang="en-US" sz="1600" dirty="0"/>
        </a:p>
      </dgm:t>
    </dgm:pt>
    <dgm:pt modelId="{813EC9AB-7C59-4B3E-B312-5645116D463F}" type="parTrans" cxnId="{0FF9D03A-9F88-4703-9DE0-006D2246E9F0}">
      <dgm:prSet/>
      <dgm:spPr/>
      <dgm:t>
        <a:bodyPr/>
        <a:lstStyle/>
        <a:p>
          <a:pPr algn="just"/>
          <a:endParaRPr lang="en-US" sz="1600"/>
        </a:p>
      </dgm:t>
    </dgm:pt>
    <dgm:pt modelId="{71E1402D-CC91-41B5-A1CF-7A4672C506CE}" type="sibTrans" cxnId="{0FF9D03A-9F88-4703-9DE0-006D2246E9F0}">
      <dgm:prSet/>
      <dgm:spPr/>
      <dgm:t>
        <a:bodyPr/>
        <a:lstStyle/>
        <a:p>
          <a:pPr>
            <a:lnSpc>
              <a:spcPct val="100000"/>
            </a:lnSpc>
          </a:pPr>
          <a:endParaRPr lang="en-US" sz="1600"/>
        </a:p>
      </dgm:t>
    </dgm:pt>
    <dgm:pt modelId="{F502DBA5-852C-483C-A086-7A259A8CDB1E}">
      <dgm:prSet custT="1"/>
      <dgm:spPr/>
      <dgm:t>
        <a:bodyPr/>
        <a:lstStyle/>
        <a:p>
          <a:pPr algn="just">
            <a:lnSpc>
              <a:spcPct val="100000"/>
            </a:lnSpc>
          </a:pPr>
          <a:r>
            <a:rPr lang="es-MX" sz="1600" dirty="0">
              <a:solidFill>
                <a:schemeClr val="tx1"/>
              </a:solidFill>
            </a:rPr>
            <a:t>6. En la visita final el instructor debe revisar y garantizar que todas las bitácoras de la etapa productiva estén diligenciadas bajo criterios de completitud y calidad con fechas y firmas de acuerdo a la duración de la misma.</a:t>
          </a:r>
          <a:endParaRPr lang="en-US" sz="1600" dirty="0"/>
        </a:p>
      </dgm:t>
    </dgm:pt>
    <dgm:pt modelId="{CCFA8D39-79A5-486D-9EC5-E9AA1970B651}" type="parTrans" cxnId="{451004AE-47C1-4355-98F2-1453CEA4E625}">
      <dgm:prSet/>
      <dgm:spPr/>
      <dgm:t>
        <a:bodyPr/>
        <a:lstStyle/>
        <a:p>
          <a:pPr algn="just"/>
          <a:endParaRPr lang="en-US" sz="1600"/>
        </a:p>
      </dgm:t>
    </dgm:pt>
    <dgm:pt modelId="{D0AB96AC-874A-471C-B175-F44D518FAC1A}" type="sibTrans" cxnId="{451004AE-47C1-4355-98F2-1453CEA4E625}">
      <dgm:prSet/>
      <dgm:spPr/>
      <dgm:t>
        <a:bodyPr/>
        <a:lstStyle/>
        <a:p>
          <a:pPr>
            <a:lnSpc>
              <a:spcPct val="100000"/>
            </a:lnSpc>
          </a:pPr>
          <a:endParaRPr lang="en-US" sz="1600"/>
        </a:p>
      </dgm:t>
    </dgm:pt>
    <dgm:pt modelId="{7D9FF73B-47F1-4376-8FFA-042F03AF20E8}">
      <dgm:prSet custT="1"/>
      <dgm:spPr/>
      <dgm:t>
        <a:bodyPr/>
        <a:lstStyle/>
        <a:p>
          <a:pPr>
            <a:lnSpc>
              <a:spcPct val="100000"/>
            </a:lnSpc>
          </a:pPr>
          <a:r>
            <a:rPr lang="es-MX" sz="1600" dirty="0"/>
            <a:t>7. Tenga en cuenta: </a:t>
          </a:r>
        </a:p>
        <a:p>
          <a:pPr>
            <a:lnSpc>
              <a:spcPct val="100000"/>
            </a:lnSpc>
          </a:pPr>
          <a:r>
            <a:rPr lang="es-CO" sz="1600" dirty="0">
              <a:solidFill>
                <a:schemeClr val="tx1"/>
              </a:solidFill>
            </a:rPr>
            <a:t>Práctica de 3 meses (6 bitácoras)</a:t>
          </a:r>
          <a:endParaRPr lang="es-MX" sz="1600" dirty="0"/>
        </a:p>
        <a:p>
          <a:pPr>
            <a:lnSpc>
              <a:spcPct val="100000"/>
            </a:lnSpc>
          </a:pPr>
          <a:r>
            <a:rPr lang="es-CO" sz="1600" dirty="0">
              <a:solidFill>
                <a:schemeClr val="tx1"/>
              </a:solidFill>
            </a:rPr>
            <a:t>Práctica de 6 meses (12 bitácoras)</a:t>
          </a:r>
        </a:p>
        <a:p>
          <a:pPr>
            <a:lnSpc>
              <a:spcPct val="100000"/>
            </a:lnSpc>
          </a:pPr>
          <a:r>
            <a:rPr lang="es-CO" sz="1600" dirty="0">
              <a:solidFill>
                <a:schemeClr val="tx1"/>
              </a:solidFill>
            </a:rPr>
            <a:t>Práctica de 9 meses (18 bitácoras)</a:t>
          </a:r>
        </a:p>
        <a:p>
          <a:pPr>
            <a:lnSpc>
              <a:spcPct val="100000"/>
            </a:lnSpc>
          </a:pPr>
          <a:r>
            <a:rPr lang="es-CO" sz="1600" dirty="0">
              <a:solidFill>
                <a:schemeClr val="tx1"/>
              </a:solidFill>
            </a:rPr>
            <a:t>Práctica de 12 meses (24 bitácoras) </a:t>
          </a:r>
          <a:endParaRPr lang="en-US" sz="1600" dirty="0"/>
        </a:p>
      </dgm:t>
    </dgm:pt>
    <dgm:pt modelId="{F589340A-F8A0-44FD-AE17-B6663CEA1148}" type="parTrans" cxnId="{B5AD7416-6B5B-4CA0-A64C-BA9BC94D200E}">
      <dgm:prSet/>
      <dgm:spPr/>
      <dgm:t>
        <a:bodyPr/>
        <a:lstStyle/>
        <a:p>
          <a:pPr algn="just"/>
          <a:endParaRPr lang="en-US" sz="1600"/>
        </a:p>
      </dgm:t>
    </dgm:pt>
    <dgm:pt modelId="{0D471F7B-C430-42BD-A8DE-0277F95EC7E6}" type="sibTrans" cxnId="{B5AD7416-6B5B-4CA0-A64C-BA9BC94D200E}">
      <dgm:prSet/>
      <dgm:spPr/>
      <dgm:t>
        <a:bodyPr/>
        <a:lstStyle/>
        <a:p>
          <a:pPr>
            <a:lnSpc>
              <a:spcPct val="100000"/>
            </a:lnSpc>
          </a:pPr>
          <a:endParaRPr lang="en-US" sz="1600"/>
        </a:p>
      </dgm:t>
    </dgm:pt>
    <dgm:pt modelId="{68195770-3268-424C-B7B6-395323C82356}">
      <dgm:prSet custT="1"/>
      <dgm:spPr/>
      <dgm:t>
        <a:bodyPr/>
        <a:lstStyle/>
        <a:p>
          <a:pPr algn="just">
            <a:lnSpc>
              <a:spcPct val="100000"/>
            </a:lnSpc>
          </a:pPr>
          <a:r>
            <a:rPr lang="es-MX" sz="1600" dirty="0">
              <a:solidFill>
                <a:schemeClr val="tx1"/>
              </a:solidFill>
            </a:rPr>
            <a:t>7. Las bitácoras deben ser revisadas en su totalidad, una vez revisadas aprobadas y validadas deben ser anexadas al expediente del Aprendiz.</a:t>
          </a:r>
          <a:endParaRPr lang="en-US" sz="1600" dirty="0"/>
        </a:p>
      </dgm:t>
    </dgm:pt>
    <dgm:pt modelId="{0C15518B-3B56-43A4-A71C-81CA96A0CC73}" type="parTrans" cxnId="{A22086A3-64A0-4650-AE7C-E54119023191}">
      <dgm:prSet/>
      <dgm:spPr/>
      <dgm:t>
        <a:bodyPr/>
        <a:lstStyle/>
        <a:p>
          <a:pPr algn="just"/>
          <a:endParaRPr lang="en-US" sz="1600"/>
        </a:p>
      </dgm:t>
    </dgm:pt>
    <dgm:pt modelId="{50E351D4-B6F5-4585-8564-E07E857095D8}" type="sibTrans" cxnId="{A22086A3-64A0-4650-AE7C-E54119023191}">
      <dgm:prSet/>
      <dgm:spPr/>
      <dgm:t>
        <a:bodyPr/>
        <a:lstStyle/>
        <a:p>
          <a:pPr algn="just"/>
          <a:endParaRPr lang="en-US" sz="1600"/>
        </a:p>
      </dgm:t>
    </dgm:pt>
    <dgm:pt modelId="{D48BDC53-0668-4677-81AF-1E597634932A}" type="pres">
      <dgm:prSet presAssocID="{CF4D9710-B54D-4EC0-8F27-922BE42C7DC9}" presName="root" presStyleCnt="0">
        <dgm:presLayoutVars>
          <dgm:dir/>
          <dgm:resizeHandles val="exact"/>
        </dgm:presLayoutVars>
      </dgm:prSet>
      <dgm:spPr/>
    </dgm:pt>
    <dgm:pt modelId="{7380D3C4-2E27-499F-897F-924B5FF73187}" type="pres">
      <dgm:prSet presAssocID="{CF4D9710-B54D-4EC0-8F27-922BE42C7DC9}" presName="container" presStyleCnt="0">
        <dgm:presLayoutVars>
          <dgm:dir/>
          <dgm:resizeHandles val="exact"/>
        </dgm:presLayoutVars>
      </dgm:prSet>
      <dgm:spPr/>
    </dgm:pt>
    <dgm:pt modelId="{7C62EF1F-0DF4-4071-801D-479A6AC17992}" type="pres">
      <dgm:prSet presAssocID="{9AAD83A5-06FF-4D43-8822-762E85728D9D}" presName="compNode" presStyleCnt="0"/>
      <dgm:spPr/>
    </dgm:pt>
    <dgm:pt modelId="{BDE127B2-F709-4F90-B411-F05C21F3F3C1}" type="pres">
      <dgm:prSet presAssocID="{9AAD83A5-06FF-4D43-8822-762E85728D9D}" presName="iconBgRect" presStyleLbl="bgShp" presStyleIdx="0" presStyleCnt="4"/>
      <dgm:spPr/>
    </dgm:pt>
    <dgm:pt modelId="{4039406E-202C-4041-B44F-65ED2653DA53}" type="pres">
      <dgm:prSet presAssocID="{9AAD83A5-06FF-4D43-8822-762E85728D9D}" presName="iconRect" presStyleLbl="node1" presStyleIdx="0" presStyleCnt="4" custAng="0" custScaleX="97118" custScaleY="95657"/>
      <dgm:spPr>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dgm:spPr>
    </dgm:pt>
    <dgm:pt modelId="{E8F4F2EE-8345-4446-9506-C1D1EEA873EB}" type="pres">
      <dgm:prSet presAssocID="{9AAD83A5-06FF-4D43-8822-762E85728D9D}" presName="spaceRect" presStyleCnt="0"/>
      <dgm:spPr/>
    </dgm:pt>
    <dgm:pt modelId="{30758AD5-60C1-4583-AE48-71962DD22122}" type="pres">
      <dgm:prSet presAssocID="{9AAD83A5-06FF-4D43-8822-762E85728D9D}" presName="textRect" presStyleLbl="revTx" presStyleIdx="0" presStyleCnt="4" custScaleY="109580" custLinFactNeighborX="-5846" custLinFactNeighborY="827">
        <dgm:presLayoutVars>
          <dgm:chMax val="1"/>
          <dgm:chPref val="1"/>
        </dgm:presLayoutVars>
      </dgm:prSet>
      <dgm:spPr/>
    </dgm:pt>
    <dgm:pt modelId="{E5261A37-2BAE-4189-BE16-202015B44B98}" type="pres">
      <dgm:prSet presAssocID="{71E1402D-CC91-41B5-A1CF-7A4672C506CE}" presName="sibTrans" presStyleLbl="sibTrans2D1" presStyleIdx="0" presStyleCnt="0"/>
      <dgm:spPr/>
    </dgm:pt>
    <dgm:pt modelId="{5805EE0D-C7EC-419D-9B86-8DF9D74F6EE9}" type="pres">
      <dgm:prSet presAssocID="{F502DBA5-852C-483C-A086-7A259A8CDB1E}" presName="compNode" presStyleCnt="0"/>
      <dgm:spPr/>
    </dgm:pt>
    <dgm:pt modelId="{65D667F2-8D47-4655-9619-5A9545785C99}" type="pres">
      <dgm:prSet presAssocID="{F502DBA5-852C-483C-A086-7A259A8CDB1E}" presName="iconBgRect" presStyleLbl="bgShp" presStyleIdx="1" presStyleCnt="4"/>
      <dgm:spPr/>
    </dgm:pt>
    <dgm:pt modelId="{3CC77729-12B2-4033-9296-651EF7606245}" type="pres">
      <dgm:prSet presAssocID="{F502DBA5-852C-483C-A086-7A259A8CDB1E}" presName="iconRect" presStyleLbl="node1" presStyleIdx="1" presStyleCnt="4" custScaleX="99141" custScaleY="105927"/>
      <dgm:spPr>
        <a:blipFill>
          <a:blip xmlns:r="http://schemas.openxmlformats.org/officeDocument/2006/relationships" r:embed="rId2">
            <a:extLst>
              <a:ext uri="{28A0092B-C50C-407E-A947-70E740481C1C}">
                <a14:useLocalDpi xmlns:a14="http://schemas.microsoft.com/office/drawing/2010/main" val="0"/>
              </a:ext>
            </a:extLst>
          </a:blip>
          <a:srcRect/>
          <a:stretch>
            <a:fillRect t="-16000" b="-16000"/>
          </a:stretch>
        </a:blipFill>
      </dgm:spPr>
    </dgm:pt>
    <dgm:pt modelId="{04A4AD8F-80E8-42B1-BA5B-A081FF2FE3A4}" type="pres">
      <dgm:prSet presAssocID="{F502DBA5-852C-483C-A086-7A259A8CDB1E}" presName="spaceRect" presStyleCnt="0"/>
      <dgm:spPr/>
    </dgm:pt>
    <dgm:pt modelId="{BBF1CF36-EF96-4D33-88F2-98AC5FB58CC5}" type="pres">
      <dgm:prSet presAssocID="{F502DBA5-852C-483C-A086-7A259A8CDB1E}" presName="textRect" presStyleLbl="revTx" presStyleIdx="1" presStyleCnt="4" custLinFactNeighborY="16874">
        <dgm:presLayoutVars>
          <dgm:chMax val="1"/>
          <dgm:chPref val="1"/>
        </dgm:presLayoutVars>
      </dgm:prSet>
      <dgm:spPr/>
    </dgm:pt>
    <dgm:pt modelId="{7CA01B31-5F62-4C3A-BA6E-E5C5BB141F3B}" type="pres">
      <dgm:prSet presAssocID="{D0AB96AC-874A-471C-B175-F44D518FAC1A}" presName="sibTrans" presStyleLbl="sibTrans2D1" presStyleIdx="0" presStyleCnt="0"/>
      <dgm:spPr/>
    </dgm:pt>
    <dgm:pt modelId="{6BB55207-9B22-4E03-87F0-1DCC9B7303A2}" type="pres">
      <dgm:prSet presAssocID="{7D9FF73B-47F1-4376-8FFA-042F03AF20E8}" presName="compNode" presStyleCnt="0"/>
      <dgm:spPr/>
    </dgm:pt>
    <dgm:pt modelId="{E9F3AD17-0E45-4FBE-9294-FC96ABCBA48F}" type="pres">
      <dgm:prSet presAssocID="{7D9FF73B-47F1-4376-8FFA-042F03AF20E8}" presName="iconBgRect" presStyleLbl="bgShp" presStyleIdx="2" presStyleCnt="4"/>
      <dgm:spPr/>
    </dgm:pt>
    <dgm:pt modelId="{FA6294D4-D89E-4E91-8C39-AF801656FF88}" type="pres">
      <dgm:prSet presAssocID="{7D9FF73B-47F1-4376-8FFA-042F03AF20E8}" presName="iconRect" presStyleLbl="node1"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l="-12000" r="-12000"/>
          </a:stretch>
        </a:blipFill>
      </dgm:spPr>
    </dgm:pt>
    <dgm:pt modelId="{D433FC25-4334-40B7-969D-0CEDDF3197DF}" type="pres">
      <dgm:prSet presAssocID="{7D9FF73B-47F1-4376-8FFA-042F03AF20E8}" presName="spaceRect" presStyleCnt="0"/>
      <dgm:spPr/>
    </dgm:pt>
    <dgm:pt modelId="{CE81C66A-9F32-4AF3-A7DA-462872D0AFD9}" type="pres">
      <dgm:prSet presAssocID="{7D9FF73B-47F1-4376-8FFA-042F03AF20E8}" presName="textRect" presStyleLbl="revTx" presStyleIdx="2" presStyleCnt="4" custScaleY="133755">
        <dgm:presLayoutVars>
          <dgm:chMax val="1"/>
          <dgm:chPref val="1"/>
        </dgm:presLayoutVars>
      </dgm:prSet>
      <dgm:spPr/>
    </dgm:pt>
    <dgm:pt modelId="{F557B494-0C35-4C80-B5E4-BF28533969B9}" type="pres">
      <dgm:prSet presAssocID="{0D471F7B-C430-42BD-A8DE-0277F95EC7E6}" presName="sibTrans" presStyleLbl="sibTrans2D1" presStyleIdx="0" presStyleCnt="0"/>
      <dgm:spPr/>
    </dgm:pt>
    <dgm:pt modelId="{C31876AF-36C1-4DD1-BFE3-B0B5080D466C}" type="pres">
      <dgm:prSet presAssocID="{68195770-3268-424C-B7B6-395323C82356}" presName="compNode" presStyleCnt="0"/>
      <dgm:spPr/>
    </dgm:pt>
    <dgm:pt modelId="{64DA3FAB-A6F3-4FBB-9B4B-56EA71AB3B9B}" type="pres">
      <dgm:prSet presAssocID="{68195770-3268-424C-B7B6-395323C82356}" presName="iconBgRect" presStyleLbl="bgShp" presStyleIdx="3" presStyleCnt="4"/>
      <dgm:spPr/>
    </dgm:pt>
    <dgm:pt modelId="{25B3FA8D-9EE2-4FB1-98AA-61B31A9AC235}" type="pres">
      <dgm:prSet presAssocID="{68195770-3268-424C-B7B6-395323C82356}" presName="iconRect" presStyleLbl="node1" presStyleIdx="3"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Marca de verificación"/>
        </a:ext>
      </dgm:extLst>
    </dgm:pt>
    <dgm:pt modelId="{8503B1BE-9DD9-4FA6-A16B-34782AD0C089}" type="pres">
      <dgm:prSet presAssocID="{68195770-3268-424C-B7B6-395323C82356}" presName="spaceRect" presStyleCnt="0"/>
      <dgm:spPr/>
    </dgm:pt>
    <dgm:pt modelId="{38F46D47-150A-431A-8F89-B321C7CA727F}" type="pres">
      <dgm:prSet presAssocID="{68195770-3268-424C-B7B6-395323C82356}" presName="textRect" presStyleLbl="revTx" presStyleIdx="3" presStyleCnt="4">
        <dgm:presLayoutVars>
          <dgm:chMax val="1"/>
          <dgm:chPref val="1"/>
        </dgm:presLayoutVars>
      </dgm:prSet>
      <dgm:spPr/>
    </dgm:pt>
  </dgm:ptLst>
  <dgm:cxnLst>
    <dgm:cxn modelId="{F3AB0D01-96B8-4A83-A1CD-710D98671DCA}" type="presOf" srcId="{9AAD83A5-06FF-4D43-8822-762E85728D9D}" destId="{30758AD5-60C1-4583-AE48-71962DD22122}" srcOrd="0" destOrd="0" presId="urn:microsoft.com/office/officeart/2018/2/layout/IconCircleList"/>
    <dgm:cxn modelId="{B5AD7416-6B5B-4CA0-A64C-BA9BC94D200E}" srcId="{CF4D9710-B54D-4EC0-8F27-922BE42C7DC9}" destId="{7D9FF73B-47F1-4376-8FFA-042F03AF20E8}" srcOrd="2" destOrd="0" parTransId="{F589340A-F8A0-44FD-AE17-B6663CEA1148}" sibTransId="{0D471F7B-C430-42BD-A8DE-0277F95EC7E6}"/>
    <dgm:cxn modelId="{F34A2C18-A896-4D0D-9131-214681A644DA}" type="presOf" srcId="{F502DBA5-852C-483C-A086-7A259A8CDB1E}" destId="{BBF1CF36-EF96-4D33-88F2-98AC5FB58CC5}" srcOrd="0" destOrd="0" presId="urn:microsoft.com/office/officeart/2018/2/layout/IconCircleList"/>
    <dgm:cxn modelId="{7C40742F-96C8-4661-9E07-28CA86BB01E1}" type="presOf" srcId="{0D471F7B-C430-42BD-A8DE-0277F95EC7E6}" destId="{F557B494-0C35-4C80-B5E4-BF28533969B9}" srcOrd="0" destOrd="0" presId="urn:microsoft.com/office/officeart/2018/2/layout/IconCircleList"/>
    <dgm:cxn modelId="{0FF9D03A-9F88-4703-9DE0-006D2246E9F0}" srcId="{CF4D9710-B54D-4EC0-8F27-922BE42C7DC9}" destId="{9AAD83A5-06FF-4D43-8822-762E85728D9D}" srcOrd="0" destOrd="0" parTransId="{813EC9AB-7C59-4B3E-B312-5645116D463F}" sibTransId="{71E1402D-CC91-41B5-A1CF-7A4672C506CE}"/>
    <dgm:cxn modelId="{C318275B-B9F4-435C-BCFE-C4440B66C0A3}" type="presOf" srcId="{68195770-3268-424C-B7B6-395323C82356}" destId="{38F46D47-150A-431A-8F89-B321C7CA727F}" srcOrd="0" destOrd="0" presId="urn:microsoft.com/office/officeart/2018/2/layout/IconCircleList"/>
    <dgm:cxn modelId="{290D1D9F-900D-4659-B5DA-E3763A78D540}" type="presOf" srcId="{71E1402D-CC91-41B5-A1CF-7A4672C506CE}" destId="{E5261A37-2BAE-4189-BE16-202015B44B98}" srcOrd="0" destOrd="0" presId="urn:microsoft.com/office/officeart/2018/2/layout/IconCircleList"/>
    <dgm:cxn modelId="{A22086A3-64A0-4650-AE7C-E54119023191}" srcId="{CF4D9710-B54D-4EC0-8F27-922BE42C7DC9}" destId="{68195770-3268-424C-B7B6-395323C82356}" srcOrd="3" destOrd="0" parTransId="{0C15518B-3B56-43A4-A71C-81CA96A0CC73}" sibTransId="{50E351D4-B6F5-4585-8564-E07E857095D8}"/>
    <dgm:cxn modelId="{77D34CAA-F0CF-4EA9-B53E-FEADD18F8E47}" type="presOf" srcId="{7D9FF73B-47F1-4376-8FFA-042F03AF20E8}" destId="{CE81C66A-9F32-4AF3-A7DA-462872D0AFD9}" srcOrd="0" destOrd="0" presId="urn:microsoft.com/office/officeart/2018/2/layout/IconCircleList"/>
    <dgm:cxn modelId="{EC95B6AB-4D83-4646-92D1-E8E5F2236A42}" type="presOf" srcId="{D0AB96AC-874A-471C-B175-F44D518FAC1A}" destId="{7CA01B31-5F62-4C3A-BA6E-E5C5BB141F3B}" srcOrd="0" destOrd="0" presId="urn:microsoft.com/office/officeart/2018/2/layout/IconCircleList"/>
    <dgm:cxn modelId="{451004AE-47C1-4355-98F2-1453CEA4E625}" srcId="{CF4D9710-B54D-4EC0-8F27-922BE42C7DC9}" destId="{F502DBA5-852C-483C-A086-7A259A8CDB1E}" srcOrd="1" destOrd="0" parTransId="{CCFA8D39-79A5-486D-9EC5-E9AA1970B651}" sibTransId="{D0AB96AC-874A-471C-B175-F44D518FAC1A}"/>
    <dgm:cxn modelId="{DF1F31E2-BD88-4E27-A837-2B09B950EB54}" type="presOf" srcId="{CF4D9710-B54D-4EC0-8F27-922BE42C7DC9}" destId="{D48BDC53-0668-4677-81AF-1E597634932A}" srcOrd="0" destOrd="0" presId="urn:microsoft.com/office/officeart/2018/2/layout/IconCircleList"/>
    <dgm:cxn modelId="{C37E79EF-BD5C-44D7-B0B2-5E7ED016213D}" type="presParOf" srcId="{D48BDC53-0668-4677-81AF-1E597634932A}" destId="{7380D3C4-2E27-499F-897F-924B5FF73187}" srcOrd="0" destOrd="0" presId="urn:microsoft.com/office/officeart/2018/2/layout/IconCircleList"/>
    <dgm:cxn modelId="{B07D15AA-ABC1-4581-83CA-3ABEB9543D86}" type="presParOf" srcId="{7380D3C4-2E27-499F-897F-924B5FF73187}" destId="{7C62EF1F-0DF4-4071-801D-479A6AC17992}" srcOrd="0" destOrd="0" presId="urn:microsoft.com/office/officeart/2018/2/layout/IconCircleList"/>
    <dgm:cxn modelId="{48DD7CBB-9D5E-4755-81BC-2F51E5EC204A}" type="presParOf" srcId="{7C62EF1F-0DF4-4071-801D-479A6AC17992}" destId="{BDE127B2-F709-4F90-B411-F05C21F3F3C1}" srcOrd="0" destOrd="0" presId="urn:microsoft.com/office/officeart/2018/2/layout/IconCircleList"/>
    <dgm:cxn modelId="{2A146DE3-1F34-43D4-8B66-CF8A095F7CBB}" type="presParOf" srcId="{7C62EF1F-0DF4-4071-801D-479A6AC17992}" destId="{4039406E-202C-4041-B44F-65ED2653DA53}" srcOrd="1" destOrd="0" presId="urn:microsoft.com/office/officeart/2018/2/layout/IconCircleList"/>
    <dgm:cxn modelId="{9D6F4329-0E55-4693-9238-577440E4C1E9}" type="presParOf" srcId="{7C62EF1F-0DF4-4071-801D-479A6AC17992}" destId="{E8F4F2EE-8345-4446-9506-C1D1EEA873EB}" srcOrd="2" destOrd="0" presId="urn:microsoft.com/office/officeart/2018/2/layout/IconCircleList"/>
    <dgm:cxn modelId="{E9F2A5A5-4C92-4CAD-ACE4-A6E6D38B4638}" type="presParOf" srcId="{7C62EF1F-0DF4-4071-801D-479A6AC17992}" destId="{30758AD5-60C1-4583-AE48-71962DD22122}" srcOrd="3" destOrd="0" presId="urn:microsoft.com/office/officeart/2018/2/layout/IconCircleList"/>
    <dgm:cxn modelId="{EB9725E7-204C-4DF1-9D50-4F2F7E935295}" type="presParOf" srcId="{7380D3C4-2E27-499F-897F-924B5FF73187}" destId="{E5261A37-2BAE-4189-BE16-202015B44B98}" srcOrd="1" destOrd="0" presId="urn:microsoft.com/office/officeart/2018/2/layout/IconCircleList"/>
    <dgm:cxn modelId="{D725FC87-4EA6-49D1-B350-4F193372EBCC}" type="presParOf" srcId="{7380D3C4-2E27-499F-897F-924B5FF73187}" destId="{5805EE0D-C7EC-419D-9B86-8DF9D74F6EE9}" srcOrd="2" destOrd="0" presId="urn:microsoft.com/office/officeart/2018/2/layout/IconCircleList"/>
    <dgm:cxn modelId="{F8DD8917-7DF0-422E-ADAD-ABB69A4284DC}" type="presParOf" srcId="{5805EE0D-C7EC-419D-9B86-8DF9D74F6EE9}" destId="{65D667F2-8D47-4655-9619-5A9545785C99}" srcOrd="0" destOrd="0" presId="urn:microsoft.com/office/officeart/2018/2/layout/IconCircleList"/>
    <dgm:cxn modelId="{F1F0D0B0-877C-4B16-9019-9DC0E88E4D4E}" type="presParOf" srcId="{5805EE0D-C7EC-419D-9B86-8DF9D74F6EE9}" destId="{3CC77729-12B2-4033-9296-651EF7606245}" srcOrd="1" destOrd="0" presId="urn:microsoft.com/office/officeart/2018/2/layout/IconCircleList"/>
    <dgm:cxn modelId="{E83B5BE7-DD91-40FF-B327-6A4B151B0CA5}" type="presParOf" srcId="{5805EE0D-C7EC-419D-9B86-8DF9D74F6EE9}" destId="{04A4AD8F-80E8-42B1-BA5B-A081FF2FE3A4}" srcOrd="2" destOrd="0" presId="urn:microsoft.com/office/officeart/2018/2/layout/IconCircleList"/>
    <dgm:cxn modelId="{176C105F-D973-4F46-8685-480A000B4B6F}" type="presParOf" srcId="{5805EE0D-C7EC-419D-9B86-8DF9D74F6EE9}" destId="{BBF1CF36-EF96-4D33-88F2-98AC5FB58CC5}" srcOrd="3" destOrd="0" presId="urn:microsoft.com/office/officeart/2018/2/layout/IconCircleList"/>
    <dgm:cxn modelId="{FF730E1F-9B04-467D-B59D-07552247F953}" type="presParOf" srcId="{7380D3C4-2E27-499F-897F-924B5FF73187}" destId="{7CA01B31-5F62-4C3A-BA6E-E5C5BB141F3B}" srcOrd="3" destOrd="0" presId="urn:microsoft.com/office/officeart/2018/2/layout/IconCircleList"/>
    <dgm:cxn modelId="{8EC6CDB5-853B-4954-BF48-013AB2FDBC99}" type="presParOf" srcId="{7380D3C4-2E27-499F-897F-924B5FF73187}" destId="{6BB55207-9B22-4E03-87F0-1DCC9B7303A2}" srcOrd="4" destOrd="0" presId="urn:microsoft.com/office/officeart/2018/2/layout/IconCircleList"/>
    <dgm:cxn modelId="{2924C8DA-F34F-44AD-BCA9-902BDE356063}" type="presParOf" srcId="{6BB55207-9B22-4E03-87F0-1DCC9B7303A2}" destId="{E9F3AD17-0E45-4FBE-9294-FC96ABCBA48F}" srcOrd="0" destOrd="0" presId="urn:microsoft.com/office/officeart/2018/2/layout/IconCircleList"/>
    <dgm:cxn modelId="{379E3BF6-4ED5-404B-BDB1-130EF6051217}" type="presParOf" srcId="{6BB55207-9B22-4E03-87F0-1DCC9B7303A2}" destId="{FA6294D4-D89E-4E91-8C39-AF801656FF88}" srcOrd="1" destOrd="0" presId="urn:microsoft.com/office/officeart/2018/2/layout/IconCircleList"/>
    <dgm:cxn modelId="{88F5A584-504D-46B9-B4A5-7920ED81981B}" type="presParOf" srcId="{6BB55207-9B22-4E03-87F0-1DCC9B7303A2}" destId="{D433FC25-4334-40B7-969D-0CEDDF3197DF}" srcOrd="2" destOrd="0" presId="urn:microsoft.com/office/officeart/2018/2/layout/IconCircleList"/>
    <dgm:cxn modelId="{A528CEA4-8853-40A8-B940-55455B7D14E1}" type="presParOf" srcId="{6BB55207-9B22-4E03-87F0-1DCC9B7303A2}" destId="{CE81C66A-9F32-4AF3-A7DA-462872D0AFD9}" srcOrd="3" destOrd="0" presId="urn:microsoft.com/office/officeart/2018/2/layout/IconCircleList"/>
    <dgm:cxn modelId="{F7B00801-0DC7-4557-AF27-2238CA985BAD}" type="presParOf" srcId="{7380D3C4-2E27-499F-897F-924B5FF73187}" destId="{F557B494-0C35-4C80-B5E4-BF28533969B9}" srcOrd="5" destOrd="0" presId="urn:microsoft.com/office/officeart/2018/2/layout/IconCircleList"/>
    <dgm:cxn modelId="{9CD4D57D-1E50-40C8-BDDC-CCC4135E19AF}" type="presParOf" srcId="{7380D3C4-2E27-499F-897F-924B5FF73187}" destId="{C31876AF-36C1-4DD1-BFE3-B0B5080D466C}" srcOrd="6" destOrd="0" presId="urn:microsoft.com/office/officeart/2018/2/layout/IconCircleList"/>
    <dgm:cxn modelId="{5B3964DD-B14D-4AA5-91B8-5F6544838CAC}" type="presParOf" srcId="{C31876AF-36C1-4DD1-BFE3-B0B5080D466C}" destId="{64DA3FAB-A6F3-4FBB-9B4B-56EA71AB3B9B}" srcOrd="0" destOrd="0" presId="urn:microsoft.com/office/officeart/2018/2/layout/IconCircleList"/>
    <dgm:cxn modelId="{C58EB49D-6EB8-44FC-A89F-DC76B630EAAF}" type="presParOf" srcId="{C31876AF-36C1-4DD1-BFE3-B0B5080D466C}" destId="{25B3FA8D-9EE2-4FB1-98AA-61B31A9AC235}" srcOrd="1" destOrd="0" presId="urn:microsoft.com/office/officeart/2018/2/layout/IconCircleList"/>
    <dgm:cxn modelId="{C1CBF7F9-9008-4953-B2A8-3617374D766D}" type="presParOf" srcId="{C31876AF-36C1-4DD1-BFE3-B0B5080D466C}" destId="{8503B1BE-9DD9-4FA6-A16B-34782AD0C089}" srcOrd="2" destOrd="0" presId="urn:microsoft.com/office/officeart/2018/2/layout/IconCircleList"/>
    <dgm:cxn modelId="{2BF8416B-F7D1-4CAB-9C34-3D0451BA96E1}" type="presParOf" srcId="{C31876AF-36C1-4DD1-BFE3-B0B5080D466C}" destId="{38F46D47-150A-431A-8F89-B321C7CA727F}"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3A9E703-D419-4926-AE70-0E6167654C0D}" type="doc">
      <dgm:prSet loTypeId="urn:microsoft.com/office/officeart/2016/7/layout/RepeatingBendingProcessNew" loCatId="process" qsTypeId="urn:microsoft.com/office/officeart/2005/8/quickstyle/3d3" qsCatId="3D" csTypeId="urn:microsoft.com/office/officeart/2005/8/colors/colorful5" csCatId="colorful" phldr="1"/>
      <dgm:spPr/>
      <dgm:t>
        <a:bodyPr/>
        <a:lstStyle/>
        <a:p>
          <a:endParaRPr lang="en-US"/>
        </a:p>
      </dgm:t>
    </dgm:pt>
    <dgm:pt modelId="{4A35DA59-A406-4362-A239-5D8A307C638D}">
      <dgm:prSet custT="1"/>
      <dgm:spPr/>
      <dgm:t>
        <a:bodyPr/>
        <a:lstStyle/>
        <a:p>
          <a:r>
            <a:rPr lang="es-CO" sz="1600" b="1">
              <a:solidFill>
                <a:schemeClr val="tx1"/>
              </a:solidFill>
            </a:rPr>
            <a:t>1</a:t>
          </a:r>
          <a:r>
            <a:rPr lang="es-CO" sz="1600">
              <a:solidFill>
                <a:schemeClr val="tx1"/>
              </a:solidFill>
            </a:rPr>
            <a:t>. Fotocopia del documento de identidad vigente. </a:t>
          </a:r>
          <a:endParaRPr lang="en-US" sz="1600">
            <a:solidFill>
              <a:schemeClr val="tx1"/>
            </a:solidFill>
          </a:endParaRPr>
        </a:p>
      </dgm:t>
    </dgm:pt>
    <dgm:pt modelId="{EE953EF0-C434-44E3-BD45-B600ACAAC36B}" type="parTrans" cxnId="{64B315EE-5D2E-4771-AAAF-3AA35A686B02}">
      <dgm:prSet/>
      <dgm:spPr/>
      <dgm:t>
        <a:bodyPr/>
        <a:lstStyle/>
        <a:p>
          <a:endParaRPr lang="en-US" sz="1600">
            <a:solidFill>
              <a:schemeClr val="tx1"/>
            </a:solidFill>
          </a:endParaRPr>
        </a:p>
      </dgm:t>
    </dgm:pt>
    <dgm:pt modelId="{D813D95E-B390-4382-A923-CD0EED0635B3}" type="sibTrans" cxnId="{64B315EE-5D2E-4771-AAAF-3AA35A686B02}">
      <dgm:prSet custT="1"/>
      <dgm:spPr/>
      <dgm:t>
        <a:bodyPr/>
        <a:lstStyle/>
        <a:p>
          <a:endParaRPr lang="en-US" sz="1600">
            <a:solidFill>
              <a:schemeClr val="tx1"/>
            </a:solidFill>
          </a:endParaRPr>
        </a:p>
      </dgm:t>
    </dgm:pt>
    <dgm:pt modelId="{2F5B07D9-034B-47AB-B4C4-A2F06356AA0B}">
      <dgm:prSet custT="1"/>
      <dgm:spPr/>
      <dgm:t>
        <a:bodyPr/>
        <a:lstStyle/>
        <a:p>
          <a:r>
            <a:rPr lang="es-CO" sz="1600" dirty="0">
              <a:solidFill>
                <a:schemeClr val="tx1"/>
              </a:solidFill>
            </a:rPr>
            <a:t>2. Fotografía carnet Sena destruido o carta donde indique su caso</a:t>
          </a:r>
          <a:endParaRPr lang="en-US" sz="1600" dirty="0">
            <a:solidFill>
              <a:schemeClr val="tx1"/>
            </a:solidFill>
          </a:endParaRPr>
        </a:p>
      </dgm:t>
    </dgm:pt>
    <dgm:pt modelId="{2F6F2240-217E-4383-A5C5-E5739467E659}" type="parTrans" cxnId="{03FBE62C-EB7F-4045-AC71-FDB7B602CD83}">
      <dgm:prSet/>
      <dgm:spPr/>
      <dgm:t>
        <a:bodyPr/>
        <a:lstStyle/>
        <a:p>
          <a:endParaRPr lang="en-US" sz="1600">
            <a:solidFill>
              <a:schemeClr val="tx1"/>
            </a:solidFill>
          </a:endParaRPr>
        </a:p>
      </dgm:t>
    </dgm:pt>
    <dgm:pt modelId="{D1AA77F9-FC2A-427A-BBF8-1D14E4549126}" type="sibTrans" cxnId="{03FBE62C-EB7F-4045-AC71-FDB7B602CD83}">
      <dgm:prSet custT="1"/>
      <dgm:spPr/>
      <dgm:t>
        <a:bodyPr/>
        <a:lstStyle/>
        <a:p>
          <a:endParaRPr lang="en-US" sz="1600">
            <a:solidFill>
              <a:schemeClr val="tx1"/>
            </a:solidFill>
          </a:endParaRPr>
        </a:p>
      </dgm:t>
    </dgm:pt>
    <dgm:pt modelId="{6D4A9950-8741-40C0-805A-A44F383EF622}">
      <dgm:prSet custT="1"/>
      <dgm:spPr/>
      <dgm:t>
        <a:bodyPr/>
        <a:lstStyle/>
        <a:p>
          <a:r>
            <a:rPr lang="es-CO" sz="1600" dirty="0">
              <a:solidFill>
                <a:schemeClr val="tx1"/>
              </a:solidFill>
            </a:rPr>
            <a:t>3. Certificado de la Agencia Pública de empleo SENA. Con datos actualizados</a:t>
          </a:r>
          <a:endParaRPr lang="en-US" sz="1600" dirty="0">
            <a:solidFill>
              <a:schemeClr val="tx1"/>
            </a:solidFill>
          </a:endParaRPr>
        </a:p>
      </dgm:t>
    </dgm:pt>
    <dgm:pt modelId="{37A71D54-556A-433E-8760-1193C9EDC8F0}" type="parTrans" cxnId="{62BFEB1A-4D97-4B97-9901-95AB7CE5DC04}">
      <dgm:prSet/>
      <dgm:spPr/>
      <dgm:t>
        <a:bodyPr/>
        <a:lstStyle/>
        <a:p>
          <a:endParaRPr lang="en-US" sz="1600">
            <a:solidFill>
              <a:schemeClr val="tx1"/>
            </a:solidFill>
          </a:endParaRPr>
        </a:p>
      </dgm:t>
    </dgm:pt>
    <dgm:pt modelId="{F50E82AE-D029-42FC-8FF9-EA4B81C6C482}" type="sibTrans" cxnId="{62BFEB1A-4D97-4B97-9901-95AB7CE5DC04}">
      <dgm:prSet custT="1"/>
      <dgm:spPr/>
      <dgm:t>
        <a:bodyPr/>
        <a:lstStyle/>
        <a:p>
          <a:endParaRPr lang="en-US" sz="1600">
            <a:solidFill>
              <a:schemeClr val="tx1"/>
            </a:solidFill>
          </a:endParaRPr>
        </a:p>
      </dgm:t>
    </dgm:pt>
    <dgm:pt modelId="{1201F0AE-1CAF-4303-BB18-B509B455E2C3}">
      <dgm:prSet custT="1"/>
      <dgm:spPr/>
      <dgm:t>
        <a:bodyPr/>
        <a:lstStyle/>
        <a:p>
          <a:r>
            <a:rPr lang="es-CO" sz="1600" dirty="0">
              <a:solidFill>
                <a:schemeClr val="tx1"/>
              </a:solidFill>
            </a:rPr>
            <a:t>4. Pantallazo de actualización de datos SENA Sofía. </a:t>
          </a:r>
          <a:endParaRPr lang="en-US" sz="1600" dirty="0">
            <a:solidFill>
              <a:schemeClr val="tx1"/>
            </a:solidFill>
          </a:endParaRPr>
        </a:p>
      </dgm:t>
    </dgm:pt>
    <dgm:pt modelId="{2195F0FB-6900-4CFF-9620-AE092688A329}" type="parTrans" cxnId="{87F6FBC6-E8BE-4543-B3C5-C26344FF611D}">
      <dgm:prSet/>
      <dgm:spPr/>
      <dgm:t>
        <a:bodyPr/>
        <a:lstStyle/>
        <a:p>
          <a:endParaRPr lang="en-US" sz="1600">
            <a:solidFill>
              <a:schemeClr val="tx1"/>
            </a:solidFill>
          </a:endParaRPr>
        </a:p>
      </dgm:t>
    </dgm:pt>
    <dgm:pt modelId="{575447F3-F2C0-4013-82C3-5E07F90874E5}" type="sibTrans" cxnId="{87F6FBC6-E8BE-4543-B3C5-C26344FF611D}">
      <dgm:prSet custT="1"/>
      <dgm:spPr/>
      <dgm:t>
        <a:bodyPr/>
        <a:lstStyle/>
        <a:p>
          <a:endParaRPr lang="en-US" sz="1600">
            <a:solidFill>
              <a:schemeClr val="tx1"/>
            </a:solidFill>
          </a:endParaRPr>
        </a:p>
      </dgm:t>
    </dgm:pt>
    <dgm:pt modelId="{3019CCF6-E41B-492D-BC6C-2613EF87BAC9}">
      <dgm:prSet custT="1"/>
      <dgm:spPr/>
      <dgm:t>
        <a:bodyPr/>
        <a:lstStyle/>
        <a:p>
          <a:r>
            <a:rPr lang="es-CO" sz="1600" dirty="0">
              <a:solidFill>
                <a:schemeClr val="tx1"/>
              </a:solidFill>
            </a:rPr>
            <a:t>5. Resultado de pruebas TYT o certificado de asistencia (Tecnólogos).</a:t>
          </a:r>
          <a:endParaRPr lang="en-US" sz="1600" dirty="0">
            <a:solidFill>
              <a:schemeClr val="tx1"/>
            </a:solidFill>
          </a:endParaRPr>
        </a:p>
      </dgm:t>
    </dgm:pt>
    <dgm:pt modelId="{40FE0B81-509E-4649-B6B7-6B7D501803C1}" type="parTrans" cxnId="{5DCE985C-D4D9-4E69-8CEC-2EA249EFAB46}">
      <dgm:prSet/>
      <dgm:spPr/>
      <dgm:t>
        <a:bodyPr/>
        <a:lstStyle/>
        <a:p>
          <a:endParaRPr lang="en-US" sz="1600">
            <a:solidFill>
              <a:schemeClr val="tx1"/>
            </a:solidFill>
          </a:endParaRPr>
        </a:p>
      </dgm:t>
    </dgm:pt>
    <dgm:pt modelId="{2E0C15A5-319C-4AF6-8BE5-1D5D86684D40}" type="sibTrans" cxnId="{5DCE985C-D4D9-4E69-8CEC-2EA249EFAB46}">
      <dgm:prSet custT="1"/>
      <dgm:spPr/>
      <dgm:t>
        <a:bodyPr/>
        <a:lstStyle/>
        <a:p>
          <a:endParaRPr lang="en-US" sz="1600">
            <a:solidFill>
              <a:schemeClr val="tx1"/>
            </a:solidFill>
          </a:endParaRPr>
        </a:p>
      </dgm:t>
    </dgm:pt>
    <dgm:pt modelId="{8089FB83-8BA0-4A5E-AA29-7E1CFDE42A84}">
      <dgm:prSet custT="1"/>
      <dgm:spPr/>
      <dgm:t>
        <a:bodyPr/>
        <a:lstStyle/>
        <a:p>
          <a:r>
            <a:rPr lang="es-CO" sz="1600" dirty="0">
              <a:solidFill>
                <a:schemeClr val="tx1"/>
              </a:solidFill>
            </a:rPr>
            <a:t>6. Pantallazo correo aprobación alternativa etapa productiva, (para los aprendices de vínculo laboral)</a:t>
          </a:r>
          <a:r>
            <a:rPr lang="es-ES" sz="1600" dirty="0">
              <a:solidFill>
                <a:schemeClr val="tx1"/>
              </a:solidFill>
            </a:rPr>
            <a:t> </a:t>
          </a:r>
          <a:endParaRPr lang="en-US" sz="1600" dirty="0">
            <a:solidFill>
              <a:schemeClr val="tx1"/>
            </a:solidFill>
          </a:endParaRPr>
        </a:p>
      </dgm:t>
    </dgm:pt>
    <dgm:pt modelId="{7F019124-E31F-45A0-B9CD-82ECE88FB9FE}" type="parTrans" cxnId="{7D28856B-016E-4CE6-B1E6-06F16221265A}">
      <dgm:prSet/>
      <dgm:spPr/>
      <dgm:t>
        <a:bodyPr/>
        <a:lstStyle/>
        <a:p>
          <a:endParaRPr lang="en-US" sz="1600">
            <a:solidFill>
              <a:schemeClr val="tx1"/>
            </a:solidFill>
          </a:endParaRPr>
        </a:p>
      </dgm:t>
    </dgm:pt>
    <dgm:pt modelId="{130E5244-FF42-483C-A4DB-550315101328}" type="sibTrans" cxnId="{7D28856B-016E-4CE6-B1E6-06F16221265A}">
      <dgm:prSet custT="1"/>
      <dgm:spPr/>
      <dgm:t>
        <a:bodyPr/>
        <a:lstStyle/>
        <a:p>
          <a:endParaRPr lang="en-US" sz="1600">
            <a:solidFill>
              <a:schemeClr val="tx1"/>
            </a:solidFill>
          </a:endParaRPr>
        </a:p>
      </dgm:t>
    </dgm:pt>
    <dgm:pt modelId="{3DA6DDF2-F22B-4035-8EA3-51DEA5A68D3D}">
      <dgm:prSet custT="1"/>
      <dgm:spPr/>
      <dgm:t>
        <a:bodyPr/>
        <a:lstStyle/>
        <a:p>
          <a:r>
            <a:rPr lang="es-CO" sz="1600" dirty="0">
              <a:solidFill>
                <a:schemeClr val="tx1"/>
              </a:solidFill>
            </a:rPr>
            <a:t>7. Certificación de la empresa con fechas de inicio y finalización etapa productiva.</a:t>
          </a:r>
          <a:endParaRPr lang="en-US" sz="1600" dirty="0">
            <a:solidFill>
              <a:schemeClr val="tx1"/>
            </a:solidFill>
          </a:endParaRPr>
        </a:p>
      </dgm:t>
    </dgm:pt>
    <dgm:pt modelId="{3B29B81D-4F1A-4FE3-86AA-4927C0EDECF2}" type="parTrans" cxnId="{C1EC4B75-8554-4131-BDB9-059C8C3EAC91}">
      <dgm:prSet/>
      <dgm:spPr/>
      <dgm:t>
        <a:bodyPr/>
        <a:lstStyle/>
        <a:p>
          <a:endParaRPr lang="en-US" sz="1600">
            <a:solidFill>
              <a:schemeClr val="tx1"/>
            </a:solidFill>
          </a:endParaRPr>
        </a:p>
      </dgm:t>
    </dgm:pt>
    <dgm:pt modelId="{C55B2FDD-C835-4CB3-937B-9BA7E16C7D0D}" type="sibTrans" cxnId="{C1EC4B75-8554-4131-BDB9-059C8C3EAC91}">
      <dgm:prSet custT="1"/>
      <dgm:spPr/>
      <dgm:t>
        <a:bodyPr/>
        <a:lstStyle/>
        <a:p>
          <a:endParaRPr lang="en-US" sz="1600">
            <a:solidFill>
              <a:schemeClr val="tx1"/>
            </a:solidFill>
          </a:endParaRPr>
        </a:p>
      </dgm:t>
    </dgm:pt>
    <dgm:pt modelId="{E3875B81-8C65-425A-885D-77340AD641D6}">
      <dgm:prSet custT="1"/>
      <dgm:spPr/>
      <dgm:t>
        <a:bodyPr/>
        <a:lstStyle/>
        <a:p>
          <a:r>
            <a:rPr lang="es-CO" sz="1600" dirty="0">
              <a:solidFill>
                <a:schemeClr val="tx1"/>
              </a:solidFill>
            </a:rPr>
            <a:t>8. </a:t>
          </a:r>
          <a:r>
            <a:rPr lang="es-MX" sz="1600" dirty="0">
              <a:solidFill>
                <a:schemeClr val="tx1"/>
              </a:solidFill>
            </a:rPr>
            <a:t>Formatos F023 y </a:t>
          </a:r>
          <a:r>
            <a:rPr lang="es-MX" sz="1600" dirty="0" err="1">
              <a:solidFill>
                <a:schemeClr val="tx1"/>
              </a:solidFill>
            </a:rPr>
            <a:t>Bitacoras</a:t>
          </a:r>
          <a:r>
            <a:rPr lang="es-MX" sz="1600" dirty="0">
              <a:solidFill>
                <a:schemeClr val="tx1"/>
              </a:solidFill>
            </a:rPr>
            <a:t> de visitas</a:t>
          </a:r>
          <a:endParaRPr lang="en-US" sz="1600" dirty="0">
            <a:solidFill>
              <a:schemeClr val="tx1"/>
            </a:solidFill>
          </a:endParaRPr>
        </a:p>
      </dgm:t>
    </dgm:pt>
    <dgm:pt modelId="{CD940033-2A69-4D79-8271-77D74DB114FF}" type="parTrans" cxnId="{FF4CE608-62D4-443F-AC06-625572119BA7}">
      <dgm:prSet/>
      <dgm:spPr/>
      <dgm:t>
        <a:bodyPr/>
        <a:lstStyle/>
        <a:p>
          <a:endParaRPr lang="en-US" sz="1600">
            <a:solidFill>
              <a:schemeClr val="tx1"/>
            </a:solidFill>
          </a:endParaRPr>
        </a:p>
      </dgm:t>
    </dgm:pt>
    <dgm:pt modelId="{CDE5054F-C908-4E83-AF76-4492260B4285}" type="sibTrans" cxnId="{FF4CE608-62D4-443F-AC06-625572119BA7}">
      <dgm:prSet/>
      <dgm:spPr/>
      <dgm:t>
        <a:bodyPr/>
        <a:lstStyle/>
        <a:p>
          <a:endParaRPr lang="en-US" sz="1600">
            <a:solidFill>
              <a:schemeClr val="tx1"/>
            </a:solidFill>
          </a:endParaRPr>
        </a:p>
      </dgm:t>
    </dgm:pt>
    <dgm:pt modelId="{D4A0A211-1AF6-440D-8517-A08AA4BF3F39}" type="pres">
      <dgm:prSet presAssocID="{B3A9E703-D419-4926-AE70-0E6167654C0D}" presName="Name0" presStyleCnt="0">
        <dgm:presLayoutVars>
          <dgm:dir/>
          <dgm:resizeHandles val="exact"/>
        </dgm:presLayoutVars>
      </dgm:prSet>
      <dgm:spPr/>
    </dgm:pt>
    <dgm:pt modelId="{26B7E947-85AF-40D0-AFCD-63C94ECE3A7F}" type="pres">
      <dgm:prSet presAssocID="{4A35DA59-A406-4362-A239-5D8A307C638D}" presName="node" presStyleLbl="node1" presStyleIdx="0" presStyleCnt="8">
        <dgm:presLayoutVars>
          <dgm:bulletEnabled val="1"/>
        </dgm:presLayoutVars>
      </dgm:prSet>
      <dgm:spPr/>
    </dgm:pt>
    <dgm:pt modelId="{67C691A5-E646-4B72-9BDC-899E01BF230D}" type="pres">
      <dgm:prSet presAssocID="{D813D95E-B390-4382-A923-CD0EED0635B3}" presName="sibTrans" presStyleLbl="sibTrans1D1" presStyleIdx="0" presStyleCnt="7"/>
      <dgm:spPr/>
    </dgm:pt>
    <dgm:pt modelId="{6CA3C23C-62B6-492C-8F0F-9AEFF687F46F}" type="pres">
      <dgm:prSet presAssocID="{D813D95E-B390-4382-A923-CD0EED0635B3}" presName="connectorText" presStyleLbl="sibTrans1D1" presStyleIdx="0" presStyleCnt="7"/>
      <dgm:spPr/>
    </dgm:pt>
    <dgm:pt modelId="{FFDC99CB-225E-4304-A877-FDAFA026E779}" type="pres">
      <dgm:prSet presAssocID="{2F5B07D9-034B-47AB-B4C4-A2F06356AA0B}" presName="node" presStyleLbl="node1" presStyleIdx="1" presStyleCnt="8">
        <dgm:presLayoutVars>
          <dgm:bulletEnabled val="1"/>
        </dgm:presLayoutVars>
      </dgm:prSet>
      <dgm:spPr/>
    </dgm:pt>
    <dgm:pt modelId="{F461A865-1616-4A79-A4D3-DCEFCECD1BB1}" type="pres">
      <dgm:prSet presAssocID="{D1AA77F9-FC2A-427A-BBF8-1D14E4549126}" presName="sibTrans" presStyleLbl="sibTrans1D1" presStyleIdx="1" presStyleCnt="7"/>
      <dgm:spPr/>
    </dgm:pt>
    <dgm:pt modelId="{A81F9A10-57AC-4F18-8434-419B949F1AB7}" type="pres">
      <dgm:prSet presAssocID="{D1AA77F9-FC2A-427A-BBF8-1D14E4549126}" presName="connectorText" presStyleLbl="sibTrans1D1" presStyleIdx="1" presStyleCnt="7"/>
      <dgm:spPr/>
    </dgm:pt>
    <dgm:pt modelId="{4623ADEF-6738-4F91-8734-8A75CA3B72D7}" type="pres">
      <dgm:prSet presAssocID="{6D4A9950-8741-40C0-805A-A44F383EF622}" presName="node" presStyleLbl="node1" presStyleIdx="2" presStyleCnt="8">
        <dgm:presLayoutVars>
          <dgm:bulletEnabled val="1"/>
        </dgm:presLayoutVars>
      </dgm:prSet>
      <dgm:spPr/>
    </dgm:pt>
    <dgm:pt modelId="{29C846C4-EC69-47C9-B2E9-2E63D92F8A4E}" type="pres">
      <dgm:prSet presAssocID="{F50E82AE-D029-42FC-8FF9-EA4B81C6C482}" presName="sibTrans" presStyleLbl="sibTrans1D1" presStyleIdx="2" presStyleCnt="7"/>
      <dgm:spPr/>
    </dgm:pt>
    <dgm:pt modelId="{79F3B3B9-E1F4-40D2-8C55-FEAC619661A2}" type="pres">
      <dgm:prSet presAssocID="{F50E82AE-D029-42FC-8FF9-EA4B81C6C482}" presName="connectorText" presStyleLbl="sibTrans1D1" presStyleIdx="2" presStyleCnt="7"/>
      <dgm:spPr/>
    </dgm:pt>
    <dgm:pt modelId="{949B8400-8BCA-4387-9B03-E845E4DA4AA9}" type="pres">
      <dgm:prSet presAssocID="{1201F0AE-1CAF-4303-BB18-B509B455E2C3}" presName="node" presStyleLbl="node1" presStyleIdx="3" presStyleCnt="8">
        <dgm:presLayoutVars>
          <dgm:bulletEnabled val="1"/>
        </dgm:presLayoutVars>
      </dgm:prSet>
      <dgm:spPr/>
    </dgm:pt>
    <dgm:pt modelId="{8B3172E5-3729-48CD-9253-66183B06DD8A}" type="pres">
      <dgm:prSet presAssocID="{575447F3-F2C0-4013-82C3-5E07F90874E5}" presName="sibTrans" presStyleLbl="sibTrans1D1" presStyleIdx="3" presStyleCnt="7"/>
      <dgm:spPr/>
    </dgm:pt>
    <dgm:pt modelId="{AB2655C5-FF87-4BB3-B628-18D6F41FF533}" type="pres">
      <dgm:prSet presAssocID="{575447F3-F2C0-4013-82C3-5E07F90874E5}" presName="connectorText" presStyleLbl="sibTrans1D1" presStyleIdx="3" presStyleCnt="7"/>
      <dgm:spPr/>
    </dgm:pt>
    <dgm:pt modelId="{B7D00F38-5150-4F00-9DD0-CCA190F0D607}" type="pres">
      <dgm:prSet presAssocID="{3019CCF6-E41B-492D-BC6C-2613EF87BAC9}" presName="node" presStyleLbl="node1" presStyleIdx="4" presStyleCnt="8" custLinFactNeighborY="2896">
        <dgm:presLayoutVars>
          <dgm:bulletEnabled val="1"/>
        </dgm:presLayoutVars>
      </dgm:prSet>
      <dgm:spPr/>
    </dgm:pt>
    <dgm:pt modelId="{BAC8C80C-EDB3-4C87-BF5D-565626D2D8C8}" type="pres">
      <dgm:prSet presAssocID="{2E0C15A5-319C-4AF6-8BE5-1D5D86684D40}" presName="sibTrans" presStyleLbl="sibTrans1D1" presStyleIdx="4" presStyleCnt="7"/>
      <dgm:spPr/>
    </dgm:pt>
    <dgm:pt modelId="{FF67AC18-8C3D-4956-93F3-740AA36613B8}" type="pres">
      <dgm:prSet presAssocID="{2E0C15A5-319C-4AF6-8BE5-1D5D86684D40}" presName="connectorText" presStyleLbl="sibTrans1D1" presStyleIdx="4" presStyleCnt="7"/>
      <dgm:spPr/>
    </dgm:pt>
    <dgm:pt modelId="{2EFCBA5B-D4A4-4D5B-8C9F-9E6C3B80A2B8}" type="pres">
      <dgm:prSet presAssocID="{8089FB83-8BA0-4A5E-AA29-7E1CFDE42A84}" presName="node" presStyleLbl="node1" presStyleIdx="5" presStyleCnt="8">
        <dgm:presLayoutVars>
          <dgm:bulletEnabled val="1"/>
        </dgm:presLayoutVars>
      </dgm:prSet>
      <dgm:spPr/>
    </dgm:pt>
    <dgm:pt modelId="{D4A423D2-8700-407F-8F45-6B03BA9CF562}" type="pres">
      <dgm:prSet presAssocID="{130E5244-FF42-483C-A4DB-550315101328}" presName="sibTrans" presStyleLbl="sibTrans1D1" presStyleIdx="5" presStyleCnt="7"/>
      <dgm:spPr/>
    </dgm:pt>
    <dgm:pt modelId="{402828D9-99D2-4678-B21E-5471F7054D91}" type="pres">
      <dgm:prSet presAssocID="{130E5244-FF42-483C-A4DB-550315101328}" presName="connectorText" presStyleLbl="sibTrans1D1" presStyleIdx="5" presStyleCnt="7"/>
      <dgm:spPr/>
    </dgm:pt>
    <dgm:pt modelId="{6660A539-C70A-44B3-9F65-4A2C512BA3F6}" type="pres">
      <dgm:prSet presAssocID="{3DA6DDF2-F22B-4035-8EA3-51DEA5A68D3D}" presName="node" presStyleLbl="node1" presStyleIdx="6" presStyleCnt="8">
        <dgm:presLayoutVars>
          <dgm:bulletEnabled val="1"/>
        </dgm:presLayoutVars>
      </dgm:prSet>
      <dgm:spPr/>
    </dgm:pt>
    <dgm:pt modelId="{18C92A58-E83A-474F-8B32-6297D86D0614}" type="pres">
      <dgm:prSet presAssocID="{C55B2FDD-C835-4CB3-937B-9BA7E16C7D0D}" presName="sibTrans" presStyleLbl="sibTrans1D1" presStyleIdx="6" presStyleCnt="7"/>
      <dgm:spPr/>
    </dgm:pt>
    <dgm:pt modelId="{1387CC6F-A882-4B45-8A13-4AC1EFC3E6DA}" type="pres">
      <dgm:prSet presAssocID="{C55B2FDD-C835-4CB3-937B-9BA7E16C7D0D}" presName="connectorText" presStyleLbl="sibTrans1D1" presStyleIdx="6" presStyleCnt="7"/>
      <dgm:spPr/>
    </dgm:pt>
    <dgm:pt modelId="{987C679C-451F-48ED-B99B-95277C8EAF64}" type="pres">
      <dgm:prSet presAssocID="{E3875B81-8C65-425A-885D-77340AD641D6}" presName="node" presStyleLbl="node1" presStyleIdx="7" presStyleCnt="8">
        <dgm:presLayoutVars>
          <dgm:bulletEnabled val="1"/>
        </dgm:presLayoutVars>
      </dgm:prSet>
      <dgm:spPr/>
    </dgm:pt>
  </dgm:ptLst>
  <dgm:cxnLst>
    <dgm:cxn modelId="{FF4CE608-62D4-443F-AC06-625572119BA7}" srcId="{B3A9E703-D419-4926-AE70-0E6167654C0D}" destId="{E3875B81-8C65-425A-885D-77340AD641D6}" srcOrd="7" destOrd="0" parTransId="{CD940033-2A69-4D79-8271-77D74DB114FF}" sibTransId="{CDE5054F-C908-4E83-AF76-4492260B4285}"/>
    <dgm:cxn modelId="{D5728318-BF11-4AD0-A624-DB43815FEB09}" type="presOf" srcId="{575447F3-F2C0-4013-82C3-5E07F90874E5}" destId="{8B3172E5-3729-48CD-9253-66183B06DD8A}" srcOrd="0" destOrd="0" presId="urn:microsoft.com/office/officeart/2016/7/layout/RepeatingBendingProcessNew"/>
    <dgm:cxn modelId="{62BFEB1A-4D97-4B97-9901-95AB7CE5DC04}" srcId="{B3A9E703-D419-4926-AE70-0E6167654C0D}" destId="{6D4A9950-8741-40C0-805A-A44F383EF622}" srcOrd="2" destOrd="0" parTransId="{37A71D54-556A-433E-8760-1193C9EDC8F0}" sibTransId="{F50E82AE-D029-42FC-8FF9-EA4B81C6C482}"/>
    <dgm:cxn modelId="{96CDDA25-A244-4FD6-A3E6-338C4C11FEA1}" type="presOf" srcId="{575447F3-F2C0-4013-82C3-5E07F90874E5}" destId="{AB2655C5-FF87-4BB3-B628-18D6F41FF533}" srcOrd="1" destOrd="0" presId="urn:microsoft.com/office/officeart/2016/7/layout/RepeatingBendingProcessNew"/>
    <dgm:cxn modelId="{03FBE62C-EB7F-4045-AC71-FDB7B602CD83}" srcId="{B3A9E703-D419-4926-AE70-0E6167654C0D}" destId="{2F5B07D9-034B-47AB-B4C4-A2F06356AA0B}" srcOrd="1" destOrd="0" parTransId="{2F6F2240-217E-4383-A5C5-E5739467E659}" sibTransId="{D1AA77F9-FC2A-427A-BBF8-1D14E4549126}"/>
    <dgm:cxn modelId="{5DCE985C-D4D9-4E69-8CEC-2EA249EFAB46}" srcId="{B3A9E703-D419-4926-AE70-0E6167654C0D}" destId="{3019CCF6-E41B-492D-BC6C-2613EF87BAC9}" srcOrd="4" destOrd="0" parTransId="{40FE0B81-509E-4649-B6B7-6B7D501803C1}" sibTransId="{2E0C15A5-319C-4AF6-8BE5-1D5D86684D40}"/>
    <dgm:cxn modelId="{C24D0F5F-B582-4F73-B0C0-3971AEDD04E6}" type="presOf" srcId="{8089FB83-8BA0-4A5E-AA29-7E1CFDE42A84}" destId="{2EFCBA5B-D4A4-4D5B-8C9F-9E6C3B80A2B8}" srcOrd="0" destOrd="0" presId="urn:microsoft.com/office/officeart/2016/7/layout/RepeatingBendingProcessNew"/>
    <dgm:cxn modelId="{6342F442-9CD0-44F4-9EBA-E77A9E430099}" type="presOf" srcId="{D813D95E-B390-4382-A923-CD0EED0635B3}" destId="{67C691A5-E646-4B72-9BDC-899E01BF230D}" srcOrd="0" destOrd="0" presId="urn:microsoft.com/office/officeart/2016/7/layout/RepeatingBendingProcessNew"/>
    <dgm:cxn modelId="{7D28856B-016E-4CE6-B1E6-06F16221265A}" srcId="{B3A9E703-D419-4926-AE70-0E6167654C0D}" destId="{8089FB83-8BA0-4A5E-AA29-7E1CFDE42A84}" srcOrd="5" destOrd="0" parTransId="{7F019124-E31F-45A0-B9CD-82ECE88FB9FE}" sibTransId="{130E5244-FF42-483C-A4DB-550315101328}"/>
    <dgm:cxn modelId="{C1EC4B75-8554-4131-BDB9-059C8C3EAC91}" srcId="{B3A9E703-D419-4926-AE70-0E6167654C0D}" destId="{3DA6DDF2-F22B-4035-8EA3-51DEA5A68D3D}" srcOrd="6" destOrd="0" parTransId="{3B29B81D-4F1A-4FE3-86AA-4927C0EDECF2}" sibTransId="{C55B2FDD-C835-4CB3-937B-9BA7E16C7D0D}"/>
    <dgm:cxn modelId="{AF36C15A-805E-4ED2-AE83-4712079D8B88}" type="presOf" srcId="{130E5244-FF42-483C-A4DB-550315101328}" destId="{D4A423D2-8700-407F-8F45-6B03BA9CF562}" srcOrd="0" destOrd="0" presId="urn:microsoft.com/office/officeart/2016/7/layout/RepeatingBendingProcessNew"/>
    <dgm:cxn modelId="{C1AC257B-EE3D-416B-9C35-79718ACC72B3}" type="presOf" srcId="{4A35DA59-A406-4362-A239-5D8A307C638D}" destId="{26B7E947-85AF-40D0-AFCD-63C94ECE3A7F}" srcOrd="0" destOrd="0" presId="urn:microsoft.com/office/officeart/2016/7/layout/RepeatingBendingProcessNew"/>
    <dgm:cxn modelId="{10FA747E-FF36-4522-A086-EAE5C1FC6152}" type="presOf" srcId="{C55B2FDD-C835-4CB3-937B-9BA7E16C7D0D}" destId="{1387CC6F-A882-4B45-8A13-4AC1EFC3E6DA}" srcOrd="1" destOrd="0" presId="urn:microsoft.com/office/officeart/2016/7/layout/RepeatingBendingProcessNew"/>
    <dgm:cxn modelId="{DAA02782-77CB-4624-8E29-738F05DD6FD5}" type="presOf" srcId="{2E0C15A5-319C-4AF6-8BE5-1D5D86684D40}" destId="{BAC8C80C-EDB3-4C87-BF5D-565626D2D8C8}" srcOrd="0" destOrd="0" presId="urn:microsoft.com/office/officeart/2016/7/layout/RepeatingBendingProcessNew"/>
    <dgm:cxn modelId="{37AD8C87-5B4B-4C7D-99D6-D4899ECFD843}" type="presOf" srcId="{6D4A9950-8741-40C0-805A-A44F383EF622}" destId="{4623ADEF-6738-4F91-8734-8A75CA3B72D7}" srcOrd="0" destOrd="0" presId="urn:microsoft.com/office/officeart/2016/7/layout/RepeatingBendingProcessNew"/>
    <dgm:cxn modelId="{9F739789-4162-431C-B8F8-C441B85965A6}" type="presOf" srcId="{3019CCF6-E41B-492D-BC6C-2613EF87BAC9}" destId="{B7D00F38-5150-4F00-9DD0-CCA190F0D607}" srcOrd="0" destOrd="0" presId="urn:microsoft.com/office/officeart/2016/7/layout/RepeatingBendingProcessNew"/>
    <dgm:cxn modelId="{0260FA8B-994F-46C9-8849-7B85DC29FAB7}" type="presOf" srcId="{130E5244-FF42-483C-A4DB-550315101328}" destId="{402828D9-99D2-4678-B21E-5471F7054D91}" srcOrd="1" destOrd="0" presId="urn:microsoft.com/office/officeart/2016/7/layout/RepeatingBendingProcessNew"/>
    <dgm:cxn modelId="{B2318595-EE04-4A24-9D2D-01E256C3BE57}" type="presOf" srcId="{D813D95E-B390-4382-A923-CD0EED0635B3}" destId="{6CA3C23C-62B6-492C-8F0F-9AEFF687F46F}" srcOrd="1" destOrd="0" presId="urn:microsoft.com/office/officeart/2016/7/layout/RepeatingBendingProcessNew"/>
    <dgm:cxn modelId="{57CF2797-14C4-4389-A02E-326BC1AB0B4E}" type="presOf" srcId="{3DA6DDF2-F22B-4035-8EA3-51DEA5A68D3D}" destId="{6660A539-C70A-44B3-9F65-4A2C512BA3F6}" srcOrd="0" destOrd="0" presId="urn:microsoft.com/office/officeart/2016/7/layout/RepeatingBendingProcessNew"/>
    <dgm:cxn modelId="{88D539A2-D758-4D74-B5D6-FF93ABFD67B5}" type="presOf" srcId="{2F5B07D9-034B-47AB-B4C4-A2F06356AA0B}" destId="{FFDC99CB-225E-4304-A877-FDAFA026E779}" srcOrd="0" destOrd="0" presId="urn:microsoft.com/office/officeart/2016/7/layout/RepeatingBendingProcessNew"/>
    <dgm:cxn modelId="{A809F3A7-9FA1-460A-A57F-C6BC3255DB9D}" type="presOf" srcId="{D1AA77F9-FC2A-427A-BBF8-1D14E4549126}" destId="{F461A865-1616-4A79-A4D3-DCEFCECD1BB1}" srcOrd="0" destOrd="0" presId="urn:microsoft.com/office/officeart/2016/7/layout/RepeatingBendingProcessNew"/>
    <dgm:cxn modelId="{507ACABD-8C59-44F2-8C5F-0040FAC993CD}" type="presOf" srcId="{2E0C15A5-319C-4AF6-8BE5-1D5D86684D40}" destId="{FF67AC18-8C3D-4956-93F3-740AA36613B8}" srcOrd="1" destOrd="0" presId="urn:microsoft.com/office/officeart/2016/7/layout/RepeatingBendingProcessNew"/>
    <dgm:cxn modelId="{7517F1C1-2E3A-44AD-82F7-EA830546322B}" type="presOf" srcId="{B3A9E703-D419-4926-AE70-0E6167654C0D}" destId="{D4A0A211-1AF6-440D-8517-A08AA4BF3F39}" srcOrd="0" destOrd="0" presId="urn:microsoft.com/office/officeart/2016/7/layout/RepeatingBendingProcessNew"/>
    <dgm:cxn modelId="{87F6FBC6-E8BE-4543-B3C5-C26344FF611D}" srcId="{B3A9E703-D419-4926-AE70-0E6167654C0D}" destId="{1201F0AE-1CAF-4303-BB18-B509B455E2C3}" srcOrd="3" destOrd="0" parTransId="{2195F0FB-6900-4CFF-9620-AE092688A329}" sibTransId="{575447F3-F2C0-4013-82C3-5E07F90874E5}"/>
    <dgm:cxn modelId="{997E04E6-0BE6-4320-83EC-A81BC46F266C}" type="presOf" srcId="{1201F0AE-1CAF-4303-BB18-B509B455E2C3}" destId="{949B8400-8BCA-4387-9B03-E845E4DA4AA9}" srcOrd="0" destOrd="0" presId="urn:microsoft.com/office/officeart/2016/7/layout/RepeatingBendingProcessNew"/>
    <dgm:cxn modelId="{64B315EE-5D2E-4771-AAAF-3AA35A686B02}" srcId="{B3A9E703-D419-4926-AE70-0E6167654C0D}" destId="{4A35DA59-A406-4362-A239-5D8A307C638D}" srcOrd="0" destOrd="0" parTransId="{EE953EF0-C434-44E3-BD45-B600ACAAC36B}" sibTransId="{D813D95E-B390-4382-A923-CD0EED0635B3}"/>
    <dgm:cxn modelId="{0D755DF1-4B85-4216-BB81-90D613C6FC02}" type="presOf" srcId="{E3875B81-8C65-425A-885D-77340AD641D6}" destId="{987C679C-451F-48ED-B99B-95277C8EAF64}" srcOrd="0" destOrd="0" presId="urn:microsoft.com/office/officeart/2016/7/layout/RepeatingBendingProcessNew"/>
    <dgm:cxn modelId="{50EA6BF1-19B7-400C-BCCA-2D5BDD863208}" type="presOf" srcId="{F50E82AE-D029-42FC-8FF9-EA4B81C6C482}" destId="{79F3B3B9-E1F4-40D2-8C55-FEAC619661A2}" srcOrd="1" destOrd="0" presId="urn:microsoft.com/office/officeart/2016/7/layout/RepeatingBendingProcessNew"/>
    <dgm:cxn modelId="{2C4654F3-A227-45C7-BBB4-4D0FC45BBE63}" type="presOf" srcId="{D1AA77F9-FC2A-427A-BBF8-1D14E4549126}" destId="{A81F9A10-57AC-4F18-8434-419B949F1AB7}" srcOrd="1" destOrd="0" presId="urn:microsoft.com/office/officeart/2016/7/layout/RepeatingBendingProcessNew"/>
    <dgm:cxn modelId="{9CB1A2F5-42E2-4941-B3AD-93F2D7F1A520}" type="presOf" srcId="{F50E82AE-D029-42FC-8FF9-EA4B81C6C482}" destId="{29C846C4-EC69-47C9-B2E9-2E63D92F8A4E}" srcOrd="0" destOrd="0" presId="urn:microsoft.com/office/officeart/2016/7/layout/RepeatingBendingProcessNew"/>
    <dgm:cxn modelId="{CA69ECFE-3C6E-4B87-A1F3-CA46DA7BD18F}" type="presOf" srcId="{C55B2FDD-C835-4CB3-937B-9BA7E16C7D0D}" destId="{18C92A58-E83A-474F-8B32-6297D86D0614}" srcOrd="0" destOrd="0" presId="urn:microsoft.com/office/officeart/2016/7/layout/RepeatingBendingProcessNew"/>
    <dgm:cxn modelId="{9648CD0A-BCC9-4702-8982-ED1696B9461B}" type="presParOf" srcId="{D4A0A211-1AF6-440D-8517-A08AA4BF3F39}" destId="{26B7E947-85AF-40D0-AFCD-63C94ECE3A7F}" srcOrd="0" destOrd="0" presId="urn:microsoft.com/office/officeart/2016/7/layout/RepeatingBendingProcessNew"/>
    <dgm:cxn modelId="{C8D64C8D-8A51-49C2-AA1B-D244EE79B3D4}" type="presParOf" srcId="{D4A0A211-1AF6-440D-8517-A08AA4BF3F39}" destId="{67C691A5-E646-4B72-9BDC-899E01BF230D}" srcOrd="1" destOrd="0" presId="urn:microsoft.com/office/officeart/2016/7/layout/RepeatingBendingProcessNew"/>
    <dgm:cxn modelId="{E1552AF2-A0DC-465D-A475-0987D4B60986}" type="presParOf" srcId="{67C691A5-E646-4B72-9BDC-899E01BF230D}" destId="{6CA3C23C-62B6-492C-8F0F-9AEFF687F46F}" srcOrd="0" destOrd="0" presId="urn:microsoft.com/office/officeart/2016/7/layout/RepeatingBendingProcessNew"/>
    <dgm:cxn modelId="{B44B3122-E7EE-4DA2-BDDC-8F9006DEEA03}" type="presParOf" srcId="{D4A0A211-1AF6-440D-8517-A08AA4BF3F39}" destId="{FFDC99CB-225E-4304-A877-FDAFA026E779}" srcOrd="2" destOrd="0" presId="urn:microsoft.com/office/officeart/2016/7/layout/RepeatingBendingProcessNew"/>
    <dgm:cxn modelId="{DC0BA372-E04D-48E7-A574-2BB48C18567C}" type="presParOf" srcId="{D4A0A211-1AF6-440D-8517-A08AA4BF3F39}" destId="{F461A865-1616-4A79-A4D3-DCEFCECD1BB1}" srcOrd="3" destOrd="0" presId="urn:microsoft.com/office/officeart/2016/7/layout/RepeatingBendingProcessNew"/>
    <dgm:cxn modelId="{0A9E76CD-1DCE-4CAB-BA46-D1F3FB1091B8}" type="presParOf" srcId="{F461A865-1616-4A79-A4D3-DCEFCECD1BB1}" destId="{A81F9A10-57AC-4F18-8434-419B949F1AB7}" srcOrd="0" destOrd="0" presId="urn:microsoft.com/office/officeart/2016/7/layout/RepeatingBendingProcessNew"/>
    <dgm:cxn modelId="{DDA7B264-3A65-438E-8F80-7A7223CDBFC4}" type="presParOf" srcId="{D4A0A211-1AF6-440D-8517-A08AA4BF3F39}" destId="{4623ADEF-6738-4F91-8734-8A75CA3B72D7}" srcOrd="4" destOrd="0" presId="urn:microsoft.com/office/officeart/2016/7/layout/RepeatingBendingProcessNew"/>
    <dgm:cxn modelId="{417649E6-6BB9-4955-B6C7-1CB5E79E5032}" type="presParOf" srcId="{D4A0A211-1AF6-440D-8517-A08AA4BF3F39}" destId="{29C846C4-EC69-47C9-B2E9-2E63D92F8A4E}" srcOrd="5" destOrd="0" presId="urn:microsoft.com/office/officeart/2016/7/layout/RepeatingBendingProcessNew"/>
    <dgm:cxn modelId="{4D315C8D-68BD-435D-99DA-300950E103D6}" type="presParOf" srcId="{29C846C4-EC69-47C9-B2E9-2E63D92F8A4E}" destId="{79F3B3B9-E1F4-40D2-8C55-FEAC619661A2}" srcOrd="0" destOrd="0" presId="urn:microsoft.com/office/officeart/2016/7/layout/RepeatingBendingProcessNew"/>
    <dgm:cxn modelId="{9F06F671-D41C-4728-9E7B-7D4B077E10BC}" type="presParOf" srcId="{D4A0A211-1AF6-440D-8517-A08AA4BF3F39}" destId="{949B8400-8BCA-4387-9B03-E845E4DA4AA9}" srcOrd="6" destOrd="0" presId="urn:microsoft.com/office/officeart/2016/7/layout/RepeatingBendingProcessNew"/>
    <dgm:cxn modelId="{B4CC1DA7-78DE-4F78-8818-4BDFECB37D62}" type="presParOf" srcId="{D4A0A211-1AF6-440D-8517-A08AA4BF3F39}" destId="{8B3172E5-3729-48CD-9253-66183B06DD8A}" srcOrd="7" destOrd="0" presId="urn:microsoft.com/office/officeart/2016/7/layout/RepeatingBendingProcessNew"/>
    <dgm:cxn modelId="{4C70AE08-B3DF-4C6A-9B23-EFB496096BF2}" type="presParOf" srcId="{8B3172E5-3729-48CD-9253-66183B06DD8A}" destId="{AB2655C5-FF87-4BB3-B628-18D6F41FF533}" srcOrd="0" destOrd="0" presId="urn:microsoft.com/office/officeart/2016/7/layout/RepeatingBendingProcessNew"/>
    <dgm:cxn modelId="{4ED9AE2B-C9FB-4599-B7BD-56936BC0316D}" type="presParOf" srcId="{D4A0A211-1AF6-440D-8517-A08AA4BF3F39}" destId="{B7D00F38-5150-4F00-9DD0-CCA190F0D607}" srcOrd="8" destOrd="0" presId="urn:microsoft.com/office/officeart/2016/7/layout/RepeatingBendingProcessNew"/>
    <dgm:cxn modelId="{07EB5387-14AF-4D28-82AC-41C8E11199A5}" type="presParOf" srcId="{D4A0A211-1AF6-440D-8517-A08AA4BF3F39}" destId="{BAC8C80C-EDB3-4C87-BF5D-565626D2D8C8}" srcOrd="9" destOrd="0" presId="urn:microsoft.com/office/officeart/2016/7/layout/RepeatingBendingProcessNew"/>
    <dgm:cxn modelId="{E71B8547-C842-426C-B61F-4C06EFA01318}" type="presParOf" srcId="{BAC8C80C-EDB3-4C87-BF5D-565626D2D8C8}" destId="{FF67AC18-8C3D-4956-93F3-740AA36613B8}" srcOrd="0" destOrd="0" presId="urn:microsoft.com/office/officeart/2016/7/layout/RepeatingBendingProcessNew"/>
    <dgm:cxn modelId="{A5F4243B-1702-4905-A836-061FBBCE748F}" type="presParOf" srcId="{D4A0A211-1AF6-440D-8517-A08AA4BF3F39}" destId="{2EFCBA5B-D4A4-4D5B-8C9F-9E6C3B80A2B8}" srcOrd="10" destOrd="0" presId="urn:microsoft.com/office/officeart/2016/7/layout/RepeatingBendingProcessNew"/>
    <dgm:cxn modelId="{9DE37D2A-0613-4181-BE10-817B6B6192DA}" type="presParOf" srcId="{D4A0A211-1AF6-440D-8517-A08AA4BF3F39}" destId="{D4A423D2-8700-407F-8F45-6B03BA9CF562}" srcOrd="11" destOrd="0" presId="urn:microsoft.com/office/officeart/2016/7/layout/RepeatingBendingProcessNew"/>
    <dgm:cxn modelId="{E90A5F1D-CD5E-48E5-BF06-1B43023FE6F5}" type="presParOf" srcId="{D4A423D2-8700-407F-8F45-6B03BA9CF562}" destId="{402828D9-99D2-4678-B21E-5471F7054D91}" srcOrd="0" destOrd="0" presId="urn:microsoft.com/office/officeart/2016/7/layout/RepeatingBendingProcessNew"/>
    <dgm:cxn modelId="{BE172473-0B86-4BE3-AD88-B5A998BE594E}" type="presParOf" srcId="{D4A0A211-1AF6-440D-8517-A08AA4BF3F39}" destId="{6660A539-C70A-44B3-9F65-4A2C512BA3F6}" srcOrd="12" destOrd="0" presId="urn:microsoft.com/office/officeart/2016/7/layout/RepeatingBendingProcessNew"/>
    <dgm:cxn modelId="{577764B0-E0B2-45F5-AB6A-0B58C01E5FCB}" type="presParOf" srcId="{D4A0A211-1AF6-440D-8517-A08AA4BF3F39}" destId="{18C92A58-E83A-474F-8B32-6297D86D0614}" srcOrd="13" destOrd="0" presId="urn:microsoft.com/office/officeart/2016/7/layout/RepeatingBendingProcessNew"/>
    <dgm:cxn modelId="{83C8CDCC-553C-4419-B390-6B1CE61179D1}" type="presParOf" srcId="{18C92A58-E83A-474F-8B32-6297D86D0614}" destId="{1387CC6F-A882-4B45-8A13-4AC1EFC3E6DA}" srcOrd="0" destOrd="0" presId="urn:microsoft.com/office/officeart/2016/7/layout/RepeatingBendingProcessNew"/>
    <dgm:cxn modelId="{B171F185-F29C-4C93-9289-0F514300FE2D}" type="presParOf" srcId="{D4A0A211-1AF6-440D-8517-A08AA4BF3F39}" destId="{987C679C-451F-48ED-B99B-95277C8EAF64}" srcOrd="1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5D81CF5-DC14-4289-A561-85D91D4BCCBA}" type="doc">
      <dgm:prSet loTypeId="urn:microsoft.com/office/officeart/2005/8/layout/hList6" loCatId="list" qsTypeId="urn:microsoft.com/office/officeart/2005/8/quickstyle/3d3" qsCatId="3D" csTypeId="urn:microsoft.com/office/officeart/2005/8/colors/colorful4" csCatId="colorful" phldr="1"/>
      <dgm:spPr/>
      <dgm:t>
        <a:bodyPr/>
        <a:lstStyle/>
        <a:p>
          <a:endParaRPr lang="en-US"/>
        </a:p>
      </dgm:t>
    </dgm:pt>
    <dgm:pt modelId="{33DDA680-AD79-460A-B2A5-4E9D593DABA3}">
      <dgm:prSet custT="1"/>
      <dgm:spPr>
        <a:solidFill>
          <a:schemeClr val="accent5"/>
        </a:solidFill>
      </dgm:spPr>
      <dgm:t>
        <a:bodyPr/>
        <a:lstStyle/>
        <a:p>
          <a:pPr>
            <a:lnSpc>
              <a:spcPct val="100000"/>
            </a:lnSpc>
          </a:pPr>
          <a:r>
            <a:rPr lang="es-MX" sz="1600" dirty="0">
              <a:solidFill>
                <a:schemeClr val="tx1"/>
              </a:solidFill>
            </a:rPr>
            <a:t>Una vez se tenga el paquete de documentos, el instructor debe elaborar un acta de proceso de certificación formato vigente GOR-F-084 ActaV02 y GOR-F-085V02 donde debe registrar de manera correcta el numero de acta y fecha seleccionada</a:t>
          </a:r>
          <a:r>
            <a:rPr lang="es-MX" sz="1600" dirty="0"/>
            <a:t>.</a:t>
          </a:r>
          <a:endParaRPr lang="en-US" sz="1600" dirty="0"/>
        </a:p>
      </dgm:t>
    </dgm:pt>
    <dgm:pt modelId="{FED94E6D-EA3F-4BB9-8CA5-5F42CB9B736E}" type="parTrans" cxnId="{F03A535A-D212-49B9-A514-7A7E913801B9}">
      <dgm:prSet/>
      <dgm:spPr/>
      <dgm:t>
        <a:bodyPr/>
        <a:lstStyle/>
        <a:p>
          <a:endParaRPr lang="en-US" sz="1400"/>
        </a:p>
      </dgm:t>
    </dgm:pt>
    <dgm:pt modelId="{9A99BDC3-8B39-4192-8A7D-594D1B24EBA5}" type="sibTrans" cxnId="{F03A535A-D212-49B9-A514-7A7E913801B9}">
      <dgm:prSet/>
      <dgm:spPr/>
      <dgm:t>
        <a:bodyPr/>
        <a:lstStyle/>
        <a:p>
          <a:endParaRPr lang="en-US" sz="1400"/>
        </a:p>
      </dgm:t>
    </dgm:pt>
    <dgm:pt modelId="{D4D19121-7AA0-44EB-B0BA-6332AA5E9207}">
      <dgm:prSet custT="1"/>
      <dgm:spPr>
        <a:solidFill>
          <a:srgbClr val="A1D6FD"/>
        </a:solidFill>
      </dgm:spPr>
      <dgm:t>
        <a:bodyPr/>
        <a:lstStyle/>
        <a:p>
          <a:pPr>
            <a:lnSpc>
              <a:spcPct val="100000"/>
            </a:lnSpc>
          </a:pPr>
          <a:r>
            <a:rPr lang="es-MX" sz="1600" dirty="0">
              <a:solidFill>
                <a:schemeClr val="tx1"/>
              </a:solidFill>
            </a:rPr>
            <a:t>En el acta se debe registrar listado de Aprendices a certificar</a:t>
          </a:r>
          <a:endParaRPr lang="en-US" sz="1600" dirty="0">
            <a:solidFill>
              <a:schemeClr val="tx1"/>
            </a:solidFill>
          </a:endParaRPr>
        </a:p>
      </dgm:t>
    </dgm:pt>
    <dgm:pt modelId="{EF185A0C-A8DD-4C47-9F94-4AF9CBA7C3F7}" type="parTrans" cxnId="{FDC21F24-18E2-42E4-AA56-21EFF8069225}">
      <dgm:prSet/>
      <dgm:spPr/>
      <dgm:t>
        <a:bodyPr/>
        <a:lstStyle/>
        <a:p>
          <a:endParaRPr lang="en-US" sz="1400"/>
        </a:p>
      </dgm:t>
    </dgm:pt>
    <dgm:pt modelId="{89241901-9044-4A6C-A662-C5CDFE216E40}" type="sibTrans" cxnId="{FDC21F24-18E2-42E4-AA56-21EFF8069225}">
      <dgm:prSet/>
      <dgm:spPr/>
      <dgm:t>
        <a:bodyPr/>
        <a:lstStyle/>
        <a:p>
          <a:endParaRPr lang="en-US" sz="1400"/>
        </a:p>
      </dgm:t>
    </dgm:pt>
    <dgm:pt modelId="{D17E92D9-9B42-433E-AA60-B339DEDA9EDF}">
      <dgm:prSet custT="1"/>
      <dgm:spPr/>
      <dgm:t>
        <a:bodyPr/>
        <a:lstStyle/>
        <a:p>
          <a:pPr>
            <a:lnSpc>
              <a:spcPct val="100000"/>
            </a:lnSpc>
          </a:pPr>
          <a:r>
            <a:rPr lang="es-MX" sz="1500" dirty="0">
              <a:solidFill>
                <a:schemeClr val="tx1"/>
              </a:solidFill>
            </a:rPr>
            <a:t>Se debe verificar el estado académico de los aprendices garantizando que no tienen RAPS pendientes por evaluar y que su estado es POR CERTIFICAR, no se pueden registrar en las actas aprendices en estado FORMACIÓN, CONDICIONADOS u otros</a:t>
          </a:r>
          <a:r>
            <a:rPr lang="es-MX" sz="1400" dirty="0"/>
            <a:t>.</a:t>
          </a:r>
          <a:endParaRPr lang="en-US" sz="1400" dirty="0"/>
        </a:p>
      </dgm:t>
    </dgm:pt>
    <dgm:pt modelId="{78C75C54-238F-4A4E-96DB-83A47F9AA6C5}" type="parTrans" cxnId="{4AF9B4B1-F5A7-4E2B-8185-0620AEBE5D15}">
      <dgm:prSet/>
      <dgm:spPr/>
      <dgm:t>
        <a:bodyPr/>
        <a:lstStyle/>
        <a:p>
          <a:endParaRPr lang="en-US" sz="1400"/>
        </a:p>
      </dgm:t>
    </dgm:pt>
    <dgm:pt modelId="{44FD13F7-1DB6-4E20-B5F9-8B1EB045EF5E}" type="sibTrans" cxnId="{4AF9B4B1-F5A7-4E2B-8185-0620AEBE5D15}">
      <dgm:prSet/>
      <dgm:spPr/>
      <dgm:t>
        <a:bodyPr/>
        <a:lstStyle/>
        <a:p>
          <a:endParaRPr lang="en-US" sz="1400"/>
        </a:p>
      </dgm:t>
    </dgm:pt>
    <dgm:pt modelId="{BCE196D7-3341-4C97-BAE9-D59505D7B95B}">
      <dgm:prSet custT="1"/>
      <dgm:spPr>
        <a:solidFill>
          <a:srgbClr val="92D050"/>
        </a:solidFill>
      </dgm:spPr>
      <dgm:t>
        <a:bodyPr/>
        <a:lstStyle/>
        <a:p>
          <a:pPr>
            <a:lnSpc>
              <a:spcPct val="100000"/>
            </a:lnSpc>
          </a:pPr>
          <a:r>
            <a:rPr lang="es-MX" sz="1600" dirty="0">
              <a:solidFill>
                <a:schemeClr val="tx1"/>
              </a:solidFill>
            </a:rPr>
            <a:t>Se debe registrar listado de Aprendices con y sin pruebas T&amp;T y demás novedades que apliquen.</a:t>
          </a:r>
          <a:endParaRPr lang="en-US" sz="1600" dirty="0">
            <a:solidFill>
              <a:schemeClr val="tx1"/>
            </a:solidFill>
          </a:endParaRPr>
        </a:p>
      </dgm:t>
    </dgm:pt>
    <dgm:pt modelId="{CA9357DF-D028-4E4F-9D27-C2AA2894213E}" type="parTrans" cxnId="{95B58B54-D5EE-47DE-886B-D03F99F9B196}">
      <dgm:prSet/>
      <dgm:spPr/>
      <dgm:t>
        <a:bodyPr/>
        <a:lstStyle/>
        <a:p>
          <a:endParaRPr lang="en-US" sz="1400"/>
        </a:p>
      </dgm:t>
    </dgm:pt>
    <dgm:pt modelId="{1276FB5C-8A14-4E5D-B7DB-FC0263B347EE}" type="sibTrans" cxnId="{95B58B54-D5EE-47DE-886B-D03F99F9B196}">
      <dgm:prSet/>
      <dgm:spPr/>
      <dgm:t>
        <a:bodyPr/>
        <a:lstStyle/>
        <a:p>
          <a:endParaRPr lang="en-US" sz="1400"/>
        </a:p>
      </dgm:t>
    </dgm:pt>
    <dgm:pt modelId="{DC872C77-7C5C-48E6-A38E-2F6546425EC5}" type="pres">
      <dgm:prSet presAssocID="{B5D81CF5-DC14-4289-A561-85D91D4BCCBA}" presName="Name0" presStyleCnt="0">
        <dgm:presLayoutVars>
          <dgm:dir/>
          <dgm:resizeHandles val="exact"/>
        </dgm:presLayoutVars>
      </dgm:prSet>
      <dgm:spPr/>
    </dgm:pt>
    <dgm:pt modelId="{E7A626B8-D756-4377-8240-66B7A1F25A1D}" type="pres">
      <dgm:prSet presAssocID="{33DDA680-AD79-460A-B2A5-4E9D593DABA3}" presName="node" presStyleLbl="node1" presStyleIdx="0" presStyleCnt="4">
        <dgm:presLayoutVars>
          <dgm:bulletEnabled val="1"/>
        </dgm:presLayoutVars>
      </dgm:prSet>
      <dgm:spPr/>
    </dgm:pt>
    <dgm:pt modelId="{56DE8329-59AF-44C1-A383-46C8276FF484}" type="pres">
      <dgm:prSet presAssocID="{9A99BDC3-8B39-4192-8A7D-594D1B24EBA5}" presName="sibTrans" presStyleCnt="0"/>
      <dgm:spPr/>
    </dgm:pt>
    <dgm:pt modelId="{D10D98E1-8297-4E91-AE21-3A0DD262A882}" type="pres">
      <dgm:prSet presAssocID="{D4D19121-7AA0-44EB-B0BA-6332AA5E9207}" presName="node" presStyleLbl="node1" presStyleIdx="1" presStyleCnt="4">
        <dgm:presLayoutVars>
          <dgm:bulletEnabled val="1"/>
        </dgm:presLayoutVars>
      </dgm:prSet>
      <dgm:spPr/>
    </dgm:pt>
    <dgm:pt modelId="{309C77F0-FBDE-45CC-BBF6-578D39E6BCB0}" type="pres">
      <dgm:prSet presAssocID="{89241901-9044-4A6C-A662-C5CDFE216E40}" presName="sibTrans" presStyleCnt="0"/>
      <dgm:spPr/>
    </dgm:pt>
    <dgm:pt modelId="{E5713AAA-FC89-4E47-87C4-9187FE77D796}" type="pres">
      <dgm:prSet presAssocID="{D17E92D9-9B42-433E-AA60-B339DEDA9EDF}" presName="node" presStyleLbl="node1" presStyleIdx="2" presStyleCnt="4">
        <dgm:presLayoutVars>
          <dgm:bulletEnabled val="1"/>
        </dgm:presLayoutVars>
      </dgm:prSet>
      <dgm:spPr/>
    </dgm:pt>
    <dgm:pt modelId="{4BB0A728-957E-4F7B-B7E1-BA6A6F86BBC4}" type="pres">
      <dgm:prSet presAssocID="{44FD13F7-1DB6-4E20-B5F9-8B1EB045EF5E}" presName="sibTrans" presStyleCnt="0"/>
      <dgm:spPr/>
    </dgm:pt>
    <dgm:pt modelId="{56B889BA-0B26-4301-B0DB-9D37872E0221}" type="pres">
      <dgm:prSet presAssocID="{BCE196D7-3341-4C97-BAE9-D59505D7B95B}" presName="node" presStyleLbl="node1" presStyleIdx="3" presStyleCnt="4">
        <dgm:presLayoutVars>
          <dgm:bulletEnabled val="1"/>
        </dgm:presLayoutVars>
      </dgm:prSet>
      <dgm:spPr/>
    </dgm:pt>
  </dgm:ptLst>
  <dgm:cxnLst>
    <dgm:cxn modelId="{FDC21F24-18E2-42E4-AA56-21EFF8069225}" srcId="{B5D81CF5-DC14-4289-A561-85D91D4BCCBA}" destId="{D4D19121-7AA0-44EB-B0BA-6332AA5E9207}" srcOrd="1" destOrd="0" parTransId="{EF185A0C-A8DD-4C47-9F94-4AF9CBA7C3F7}" sibTransId="{89241901-9044-4A6C-A662-C5CDFE216E40}"/>
    <dgm:cxn modelId="{95B58B54-D5EE-47DE-886B-D03F99F9B196}" srcId="{B5D81CF5-DC14-4289-A561-85D91D4BCCBA}" destId="{BCE196D7-3341-4C97-BAE9-D59505D7B95B}" srcOrd="3" destOrd="0" parTransId="{CA9357DF-D028-4E4F-9D27-C2AA2894213E}" sibTransId="{1276FB5C-8A14-4E5D-B7DB-FC0263B347EE}"/>
    <dgm:cxn modelId="{F03A535A-D212-49B9-A514-7A7E913801B9}" srcId="{B5D81CF5-DC14-4289-A561-85D91D4BCCBA}" destId="{33DDA680-AD79-460A-B2A5-4E9D593DABA3}" srcOrd="0" destOrd="0" parTransId="{FED94E6D-EA3F-4BB9-8CA5-5F42CB9B736E}" sibTransId="{9A99BDC3-8B39-4192-8A7D-594D1B24EBA5}"/>
    <dgm:cxn modelId="{906A1BA3-BF94-4482-8688-9113E4829540}" type="presOf" srcId="{D4D19121-7AA0-44EB-B0BA-6332AA5E9207}" destId="{D10D98E1-8297-4E91-AE21-3A0DD262A882}" srcOrd="0" destOrd="0" presId="urn:microsoft.com/office/officeart/2005/8/layout/hList6"/>
    <dgm:cxn modelId="{4AF9B4B1-F5A7-4E2B-8185-0620AEBE5D15}" srcId="{B5D81CF5-DC14-4289-A561-85D91D4BCCBA}" destId="{D17E92D9-9B42-433E-AA60-B339DEDA9EDF}" srcOrd="2" destOrd="0" parTransId="{78C75C54-238F-4A4E-96DB-83A47F9AA6C5}" sibTransId="{44FD13F7-1DB6-4E20-B5F9-8B1EB045EF5E}"/>
    <dgm:cxn modelId="{DDC2F4BA-DEA5-4E81-ADE1-9446AC474F15}" type="presOf" srcId="{B5D81CF5-DC14-4289-A561-85D91D4BCCBA}" destId="{DC872C77-7C5C-48E6-A38E-2F6546425EC5}" srcOrd="0" destOrd="0" presId="urn:microsoft.com/office/officeart/2005/8/layout/hList6"/>
    <dgm:cxn modelId="{3EA153DD-5D0E-4719-BFE2-92BACB9D7EB1}" type="presOf" srcId="{BCE196D7-3341-4C97-BAE9-D59505D7B95B}" destId="{56B889BA-0B26-4301-B0DB-9D37872E0221}" srcOrd="0" destOrd="0" presId="urn:microsoft.com/office/officeart/2005/8/layout/hList6"/>
    <dgm:cxn modelId="{1BAF9EEB-7F69-43FF-B5F0-5EEEACD01F71}" type="presOf" srcId="{33DDA680-AD79-460A-B2A5-4E9D593DABA3}" destId="{E7A626B8-D756-4377-8240-66B7A1F25A1D}" srcOrd="0" destOrd="0" presId="urn:microsoft.com/office/officeart/2005/8/layout/hList6"/>
    <dgm:cxn modelId="{BCE2DFF5-96B8-4AFD-9069-419E98DC6A9B}" type="presOf" srcId="{D17E92D9-9B42-433E-AA60-B339DEDA9EDF}" destId="{E5713AAA-FC89-4E47-87C4-9187FE77D796}" srcOrd="0" destOrd="0" presId="urn:microsoft.com/office/officeart/2005/8/layout/hList6"/>
    <dgm:cxn modelId="{3F234D81-AA94-4874-A78D-51FDA93FCD0B}" type="presParOf" srcId="{DC872C77-7C5C-48E6-A38E-2F6546425EC5}" destId="{E7A626B8-D756-4377-8240-66B7A1F25A1D}" srcOrd="0" destOrd="0" presId="urn:microsoft.com/office/officeart/2005/8/layout/hList6"/>
    <dgm:cxn modelId="{F74C02E5-0E69-4899-9F19-AA1E2A0DBC19}" type="presParOf" srcId="{DC872C77-7C5C-48E6-A38E-2F6546425EC5}" destId="{56DE8329-59AF-44C1-A383-46C8276FF484}" srcOrd="1" destOrd="0" presId="urn:microsoft.com/office/officeart/2005/8/layout/hList6"/>
    <dgm:cxn modelId="{7C296088-D59B-4510-A00C-2049D9CA8B72}" type="presParOf" srcId="{DC872C77-7C5C-48E6-A38E-2F6546425EC5}" destId="{D10D98E1-8297-4E91-AE21-3A0DD262A882}" srcOrd="2" destOrd="0" presId="urn:microsoft.com/office/officeart/2005/8/layout/hList6"/>
    <dgm:cxn modelId="{5B8B3E69-A920-454B-8CAD-48209EFC79ED}" type="presParOf" srcId="{DC872C77-7C5C-48E6-A38E-2F6546425EC5}" destId="{309C77F0-FBDE-45CC-BBF6-578D39E6BCB0}" srcOrd="3" destOrd="0" presId="urn:microsoft.com/office/officeart/2005/8/layout/hList6"/>
    <dgm:cxn modelId="{AD6869FF-520C-47EB-B44D-EC2DDA30946C}" type="presParOf" srcId="{DC872C77-7C5C-48E6-A38E-2F6546425EC5}" destId="{E5713AAA-FC89-4E47-87C4-9187FE77D796}" srcOrd="4" destOrd="0" presId="urn:microsoft.com/office/officeart/2005/8/layout/hList6"/>
    <dgm:cxn modelId="{A13EEB27-C09E-4522-91D9-8AB569DF3FA7}" type="presParOf" srcId="{DC872C77-7C5C-48E6-A38E-2F6546425EC5}" destId="{4BB0A728-957E-4F7B-B7E1-BA6A6F86BBC4}" srcOrd="5" destOrd="0" presId="urn:microsoft.com/office/officeart/2005/8/layout/hList6"/>
    <dgm:cxn modelId="{2848D42B-B215-4456-83F0-83D479A21029}" type="presParOf" srcId="{DC872C77-7C5C-48E6-A38E-2F6546425EC5}" destId="{56B889BA-0B26-4301-B0DB-9D37872E0221}" srcOrd="6"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E127B2-F709-4F90-B411-F05C21F3F3C1}">
      <dsp:nvSpPr>
        <dsp:cNvPr id="0" name=""/>
        <dsp:cNvSpPr/>
      </dsp:nvSpPr>
      <dsp:spPr>
        <a:xfrm>
          <a:off x="82841" y="175667"/>
          <a:ext cx="1519473" cy="1519473"/>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39406E-202C-4041-B44F-65ED2653DA53}">
      <dsp:nvSpPr>
        <dsp:cNvPr id="0" name=""/>
        <dsp:cNvSpPr/>
      </dsp:nvSpPr>
      <dsp:spPr>
        <a:xfrm>
          <a:off x="401930" y="494757"/>
          <a:ext cx="881294" cy="8812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758AD5-60C1-4583-AE48-71962DD22122}">
      <dsp:nvSpPr>
        <dsp:cNvPr id="0" name=""/>
        <dsp:cNvSpPr/>
      </dsp:nvSpPr>
      <dsp:spPr>
        <a:xfrm>
          <a:off x="1927916" y="175667"/>
          <a:ext cx="3581616" cy="1519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s-MX" sz="1600" kern="1200"/>
            <a:t>1. El instructor debe programar visita final de seguimiento con el Aprendiz y empresa </a:t>
          </a:r>
          <a:endParaRPr lang="en-US" sz="1600" kern="1200"/>
        </a:p>
      </dsp:txBody>
      <dsp:txXfrm>
        <a:off x="1927916" y="175667"/>
        <a:ext cx="3581616" cy="1519473"/>
      </dsp:txXfrm>
    </dsp:sp>
    <dsp:sp modelId="{65D667F2-8D47-4655-9619-5A9545785C99}">
      <dsp:nvSpPr>
        <dsp:cNvPr id="0" name=""/>
        <dsp:cNvSpPr/>
      </dsp:nvSpPr>
      <dsp:spPr>
        <a:xfrm>
          <a:off x="6133603" y="175667"/>
          <a:ext cx="1519473" cy="1519473"/>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C77729-12B2-4033-9296-651EF7606245}">
      <dsp:nvSpPr>
        <dsp:cNvPr id="0" name=""/>
        <dsp:cNvSpPr/>
      </dsp:nvSpPr>
      <dsp:spPr>
        <a:xfrm>
          <a:off x="6452692" y="494757"/>
          <a:ext cx="881294" cy="8812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F1CF36-EF96-4D33-88F2-98AC5FB58CC5}">
      <dsp:nvSpPr>
        <dsp:cNvPr id="0" name=""/>
        <dsp:cNvSpPr/>
      </dsp:nvSpPr>
      <dsp:spPr>
        <a:xfrm>
          <a:off x="7978678" y="175667"/>
          <a:ext cx="3581616" cy="1519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711200">
            <a:lnSpc>
              <a:spcPct val="100000"/>
            </a:lnSpc>
            <a:spcBef>
              <a:spcPct val="0"/>
            </a:spcBef>
            <a:spcAft>
              <a:spcPct val="35000"/>
            </a:spcAft>
            <a:buNone/>
          </a:pPr>
          <a:r>
            <a:rPr lang="es-MX" sz="1600" kern="1200" dirty="0"/>
            <a:t>2. En la visita se debe realizar la evaluación final en el formato GFPI-F-023 versión 05, respondiendo a cada una de las variables de los factores técnicos Actitudinales y Comportamentales.</a:t>
          </a:r>
          <a:endParaRPr lang="en-US" sz="1600" kern="1200" dirty="0"/>
        </a:p>
      </dsp:txBody>
      <dsp:txXfrm>
        <a:off x="7978678" y="175667"/>
        <a:ext cx="3581616" cy="1519473"/>
      </dsp:txXfrm>
    </dsp:sp>
    <dsp:sp modelId="{E9F3AD17-0E45-4FBE-9294-FC96ABCBA48F}">
      <dsp:nvSpPr>
        <dsp:cNvPr id="0" name=""/>
        <dsp:cNvSpPr/>
      </dsp:nvSpPr>
      <dsp:spPr>
        <a:xfrm>
          <a:off x="82841" y="2484680"/>
          <a:ext cx="1519473" cy="1519473"/>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6294D4-D89E-4E91-8C39-AF801656FF88}">
      <dsp:nvSpPr>
        <dsp:cNvPr id="0" name=""/>
        <dsp:cNvSpPr/>
      </dsp:nvSpPr>
      <dsp:spPr>
        <a:xfrm>
          <a:off x="401930" y="2803769"/>
          <a:ext cx="881294" cy="8812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81C66A-9F32-4AF3-A7DA-462872D0AFD9}">
      <dsp:nvSpPr>
        <dsp:cNvPr id="0" name=""/>
        <dsp:cNvSpPr/>
      </dsp:nvSpPr>
      <dsp:spPr>
        <a:xfrm>
          <a:off x="1927916" y="2484680"/>
          <a:ext cx="3581616" cy="1519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s-MX" sz="1600" kern="1200" dirty="0"/>
            <a:t>3. En el formato GFPI-F-023 versión 05 el jefe inmediato debe señalar en el espacio de juicio de evaluación si es </a:t>
          </a:r>
          <a:r>
            <a:rPr lang="es-MX" sz="1600" b="1" kern="1200" dirty="0"/>
            <a:t>APROBADO</a:t>
          </a:r>
          <a:r>
            <a:rPr lang="es-MX" sz="1600" kern="1200" dirty="0"/>
            <a:t> o </a:t>
          </a:r>
          <a:r>
            <a:rPr lang="es-MX" sz="1600" b="1" kern="1200" dirty="0"/>
            <a:t>NO APROBADO </a:t>
          </a:r>
          <a:r>
            <a:rPr lang="es-MX" sz="1600" b="0" kern="1200" dirty="0"/>
            <a:t>la etapa productiva</a:t>
          </a:r>
          <a:r>
            <a:rPr lang="es-MX" sz="1600" kern="1200" dirty="0"/>
            <a:t>.</a:t>
          </a:r>
          <a:endParaRPr lang="en-US" sz="1600" kern="1200" dirty="0"/>
        </a:p>
      </dsp:txBody>
      <dsp:txXfrm>
        <a:off x="1927916" y="2484680"/>
        <a:ext cx="3581616" cy="1519473"/>
      </dsp:txXfrm>
    </dsp:sp>
    <dsp:sp modelId="{64DA3FAB-A6F3-4FBB-9B4B-56EA71AB3B9B}">
      <dsp:nvSpPr>
        <dsp:cNvPr id="0" name=""/>
        <dsp:cNvSpPr/>
      </dsp:nvSpPr>
      <dsp:spPr>
        <a:xfrm>
          <a:off x="6133603" y="2484680"/>
          <a:ext cx="1519473" cy="1519473"/>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B3FA8D-9EE2-4FB1-98AA-61B31A9AC235}">
      <dsp:nvSpPr>
        <dsp:cNvPr id="0" name=""/>
        <dsp:cNvSpPr/>
      </dsp:nvSpPr>
      <dsp:spPr>
        <a:xfrm>
          <a:off x="6452692" y="2803769"/>
          <a:ext cx="881294" cy="8812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F46D47-150A-431A-8F89-B321C7CA727F}">
      <dsp:nvSpPr>
        <dsp:cNvPr id="0" name=""/>
        <dsp:cNvSpPr/>
      </dsp:nvSpPr>
      <dsp:spPr>
        <a:xfrm>
          <a:off x="7958710" y="2430252"/>
          <a:ext cx="3621551" cy="1654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711200">
            <a:lnSpc>
              <a:spcPct val="100000"/>
            </a:lnSpc>
            <a:spcBef>
              <a:spcPct val="0"/>
            </a:spcBef>
            <a:spcAft>
              <a:spcPct val="35000"/>
            </a:spcAft>
            <a:buNone/>
          </a:pPr>
          <a:r>
            <a:rPr lang="es-MX" sz="1600" kern="1200" dirty="0"/>
            <a:t>4. En esta visita final el instructor debe revisar nuevamente que el formato F023 este completo y bien diligenciado en su </a:t>
          </a:r>
          <a:r>
            <a:rPr lang="es-MX" sz="1600" b="1" kern="1200" dirty="0"/>
            <a:t>CONCERTACIÓN, EVALUACIÓN PARCIAL Y EVALUACIÓN FINAL</a:t>
          </a:r>
          <a:r>
            <a:rPr lang="es-MX" sz="1600" kern="1200" dirty="0"/>
            <a:t>, con fechas y firmas registradas como corresponde, una vez revisado y aprobado debe anexarlo al expediente del Aprendiz.</a:t>
          </a:r>
          <a:endParaRPr lang="en-US" sz="1600" kern="1200" dirty="0"/>
        </a:p>
      </dsp:txBody>
      <dsp:txXfrm>
        <a:off x="7958710" y="2430252"/>
        <a:ext cx="3621551" cy="16544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E127B2-F709-4F90-B411-F05C21F3F3C1}">
      <dsp:nvSpPr>
        <dsp:cNvPr id="0" name=""/>
        <dsp:cNvSpPr/>
      </dsp:nvSpPr>
      <dsp:spPr>
        <a:xfrm>
          <a:off x="406873" y="83899"/>
          <a:ext cx="1436321" cy="1436321"/>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39406E-202C-4041-B44F-65ED2653DA53}">
      <dsp:nvSpPr>
        <dsp:cNvPr id="0" name=""/>
        <dsp:cNvSpPr/>
      </dsp:nvSpPr>
      <dsp:spPr>
        <a:xfrm>
          <a:off x="720505" y="403617"/>
          <a:ext cx="809057" cy="796886"/>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758AD5-60C1-4583-AE48-71962DD22122}">
      <dsp:nvSpPr>
        <dsp:cNvPr id="0" name=""/>
        <dsp:cNvSpPr/>
      </dsp:nvSpPr>
      <dsp:spPr>
        <a:xfrm>
          <a:off x="1953054" y="26978"/>
          <a:ext cx="3385615" cy="1573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s-MX" sz="1600" kern="1200" dirty="0">
              <a:solidFill>
                <a:schemeClr val="tx1"/>
              </a:solidFill>
            </a:rPr>
            <a:t>5. Se debe realizar la revisión y validación de la ultima bitácora GFPI-F-147 V03, verificando su correcto diligenciamiento, con fechas acordes al </a:t>
          </a:r>
          <a:r>
            <a:rPr lang="es-MX" sz="1600" kern="1200" dirty="0"/>
            <a:t>formato F023 </a:t>
          </a:r>
          <a:r>
            <a:rPr lang="es-MX" sz="1600" kern="1200" dirty="0">
              <a:solidFill>
                <a:schemeClr val="tx1"/>
              </a:solidFill>
            </a:rPr>
            <a:t>y firmas registradas como corresponde.</a:t>
          </a:r>
          <a:endParaRPr lang="en-US" sz="1600" kern="1200" dirty="0"/>
        </a:p>
      </dsp:txBody>
      <dsp:txXfrm>
        <a:off x="1953054" y="26978"/>
        <a:ext cx="3385615" cy="1573921"/>
      </dsp:txXfrm>
    </dsp:sp>
    <dsp:sp modelId="{65D667F2-8D47-4655-9619-5A9545785C99}">
      <dsp:nvSpPr>
        <dsp:cNvPr id="0" name=""/>
        <dsp:cNvSpPr/>
      </dsp:nvSpPr>
      <dsp:spPr>
        <a:xfrm>
          <a:off x="6126510" y="83899"/>
          <a:ext cx="1436321" cy="1436321"/>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C77729-12B2-4033-9296-651EF7606245}">
      <dsp:nvSpPr>
        <dsp:cNvPr id="0" name=""/>
        <dsp:cNvSpPr/>
      </dsp:nvSpPr>
      <dsp:spPr>
        <a:xfrm>
          <a:off x="6431716" y="360839"/>
          <a:ext cx="825910" cy="882442"/>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16000" b="-1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F1CF36-EF96-4D33-88F2-98AC5FB58CC5}">
      <dsp:nvSpPr>
        <dsp:cNvPr id="0" name=""/>
        <dsp:cNvSpPr/>
      </dsp:nvSpPr>
      <dsp:spPr>
        <a:xfrm>
          <a:off x="7870615" y="326264"/>
          <a:ext cx="3385615" cy="1436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711200">
            <a:lnSpc>
              <a:spcPct val="100000"/>
            </a:lnSpc>
            <a:spcBef>
              <a:spcPct val="0"/>
            </a:spcBef>
            <a:spcAft>
              <a:spcPct val="35000"/>
            </a:spcAft>
            <a:buNone/>
          </a:pPr>
          <a:r>
            <a:rPr lang="es-MX" sz="1600" kern="1200" dirty="0">
              <a:solidFill>
                <a:schemeClr val="tx1"/>
              </a:solidFill>
            </a:rPr>
            <a:t>6. En la visita final el instructor debe revisar y garantizar que todas las bitácoras de la etapa productiva estén diligenciadas bajo criterios de completitud y calidad con fechas y firmas de acuerdo a la duración de la misma.</a:t>
          </a:r>
          <a:endParaRPr lang="en-US" sz="1600" kern="1200" dirty="0"/>
        </a:p>
      </dsp:txBody>
      <dsp:txXfrm>
        <a:off x="7870615" y="326264"/>
        <a:ext cx="3385615" cy="1436321"/>
      </dsp:txXfrm>
    </dsp:sp>
    <dsp:sp modelId="{E9F3AD17-0E45-4FBE-9294-FC96ABCBA48F}">
      <dsp:nvSpPr>
        <dsp:cNvPr id="0" name=""/>
        <dsp:cNvSpPr/>
      </dsp:nvSpPr>
      <dsp:spPr>
        <a:xfrm>
          <a:off x="406873" y="2553480"/>
          <a:ext cx="1436321" cy="1436321"/>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6294D4-D89E-4E91-8C39-AF801656FF88}">
      <dsp:nvSpPr>
        <dsp:cNvPr id="0" name=""/>
        <dsp:cNvSpPr/>
      </dsp:nvSpPr>
      <dsp:spPr>
        <a:xfrm>
          <a:off x="708500" y="2855107"/>
          <a:ext cx="833066" cy="833066"/>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2000" r="-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81C66A-9F32-4AF3-A7DA-462872D0AFD9}">
      <dsp:nvSpPr>
        <dsp:cNvPr id="0" name=""/>
        <dsp:cNvSpPr/>
      </dsp:nvSpPr>
      <dsp:spPr>
        <a:xfrm>
          <a:off x="2150977" y="2311065"/>
          <a:ext cx="3385615" cy="1921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s-MX" sz="1600" kern="1200" dirty="0"/>
            <a:t>7. Tenga en cuenta: </a:t>
          </a:r>
        </a:p>
        <a:p>
          <a:pPr marL="0" lvl="0" indent="0" algn="l" defTabSz="711200">
            <a:lnSpc>
              <a:spcPct val="100000"/>
            </a:lnSpc>
            <a:spcBef>
              <a:spcPct val="0"/>
            </a:spcBef>
            <a:spcAft>
              <a:spcPct val="35000"/>
            </a:spcAft>
            <a:buNone/>
          </a:pPr>
          <a:r>
            <a:rPr lang="es-CO" sz="1600" kern="1200" dirty="0">
              <a:solidFill>
                <a:schemeClr val="tx1"/>
              </a:solidFill>
            </a:rPr>
            <a:t>Práctica de 3 meses (6 bitácoras)</a:t>
          </a:r>
          <a:endParaRPr lang="es-MX" sz="1600" kern="1200" dirty="0"/>
        </a:p>
        <a:p>
          <a:pPr marL="0" lvl="0" indent="0" algn="l" defTabSz="711200">
            <a:lnSpc>
              <a:spcPct val="100000"/>
            </a:lnSpc>
            <a:spcBef>
              <a:spcPct val="0"/>
            </a:spcBef>
            <a:spcAft>
              <a:spcPct val="35000"/>
            </a:spcAft>
            <a:buNone/>
          </a:pPr>
          <a:r>
            <a:rPr lang="es-CO" sz="1600" kern="1200" dirty="0">
              <a:solidFill>
                <a:schemeClr val="tx1"/>
              </a:solidFill>
            </a:rPr>
            <a:t>Práctica de 6 meses (12 bitácoras)</a:t>
          </a:r>
        </a:p>
        <a:p>
          <a:pPr marL="0" lvl="0" indent="0" algn="l" defTabSz="711200">
            <a:lnSpc>
              <a:spcPct val="100000"/>
            </a:lnSpc>
            <a:spcBef>
              <a:spcPct val="0"/>
            </a:spcBef>
            <a:spcAft>
              <a:spcPct val="35000"/>
            </a:spcAft>
            <a:buNone/>
          </a:pPr>
          <a:r>
            <a:rPr lang="es-CO" sz="1600" kern="1200" dirty="0">
              <a:solidFill>
                <a:schemeClr val="tx1"/>
              </a:solidFill>
            </a:rPr>
            <a:t>Práctica de 9 meses (18 bitácoras)</a:t>
          </a:r>
        </a:p>
        <a:p>
          <a:pPr marL="0" lvl="0" indent="0" algn="l" defTabSz="711200">
            <a:lnSpc>
              <a:spcPct val="100000"/>
            </a:lnSpc>
            <a:spcBef>
              <a:spcPct val="0"/>
            </a:spcBef>
            <a:spcAft>
              <a:spcPct val="35000"/>
            </a:spcAft>
            <a:buNone/>
          </a:pPr>
          <a:r>
            <a:rPr lang="es-CO" sz="1600" kern="1200" dirty="0">
              <a:solidFill>
                <a:schemeClr val="tx1"/>
              </a:solidFill>
            </a:rPr>
            <a:t>Práctica de 12 meses (24 bitácoras) </a:t>
          </a:r>
          <a:endParaRPr lang="en-US" sz="1600" kern="1200" dirty="0"/>
        </a:p>
      </dsp:txBody>
      <dsp:txXfrm>
        <a:off x="2150977" y="2311065"/>
        <a:ext cx="3385615" cy="1921151"/>
      </dsp:txXfrm>
    </dsp:sp>
    <dsp:sp modelId="{64DA3FAB-A6F3-4FBB-9B4B-56EA71AB3B9B}">
      <dsp:nvSpPr>
        <dsp:cNvPr id="0" name=""/>
        <dsp:cNvSpPr/>
      </dsp:nvSpPr>
      <dsp:spPr>
        <a:xfrm>
          <a:off x="6126510" y="2553480"/>
          <a:ext cx="1436321" cy="1436321"/>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B3FA8D-9EE2-4FB1-98AA-61B31A9AC235}">
      <dsp:nvSpPr>
        <dsp:cNvPr id="0" name=""/>
        <dsp:cNvSpPr/>
      </dsp:nvSpPr>
      <dsp:spPr>
        <a:xfrm>
          <a:off x="6428138" y="2855107"/>
          <a:ext cx="833066" cy="833066"/>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F46D47-150A-431A-8F89-B321C7CA727F}">
      <dsp:nvSpPr>
        <dsp:cNvPr id="0" name=""/>
        <dsp:cNvSpPr/>
      </dsp:nvSpPr>
      <dsp:spPr>
        <a:xfrm>
          <a:off x="7870615" y="2553480"/>
          <a:ext cx="3385615" cy="1436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711200">
            <a:lnSpc>
              <a:spcPct val="100000"/>
            </a:lnSpc>
            <a:spcBef>
              <a:spcPct val="0"/>
            </a:spcBef>
            <a:spcAft>
              <a:spcPct val="35000"/>
            </a:spcAft>
            <a:buNone/>
          </a:pPr>
          <a:r>
            <a:rPr lang="es-MX" sz="1600" kern="1200" dirty="0">
              <a:solidFill>
                <a:schemeClr val="tx1"/>
              </a:solidFill>
            </a:rPr>
            <a:t>7. Las bitácoras deben ser revisadas en su totalidad, una vez revisadas aprobadas y validadas deben ser anexadas al expediente del Aprendiz.</a:t>
          </a:r>
          <a:endParaRPr lang="en-US" sz="1600" kern="1200" dirty="0"/>
        </a:p>
      </dsp:txBody>
      <dsp:txXfrm>
        <a:off x="7870615" y="2553480"/>
        <a:ext cx="3385615" cy="14363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C691A5-E646-4B72-9BDC-899E01BF230D}">
      <dsp:nvSpPr>
        <dsp:cNvPr id="0" name=""/>
        <dsp:cNvSpPr/>
      </dsp:nvSpPr>
      <dsp:spPr>
        <a:xfrm>
          <a:off x="2352909" y="592557"/>
          <a:ext cx="455767" cy="91440"/>
        </a:xfrm>
        <a:custGeom>
          <a:avLst/>
          <a:gdLst/>
          <a:ahLst/>
          <a:cxnLst/>
          <a:rect l="0" t="0" r="0" b="0"/>
          <a:pathLst>
            <a:path>
              <a:moveTo>
                <a:pt x="0" y="45720"/>
              </a:moveTo>
              <a:lnTo>
                <a:pt x="455767" y="45720"/>
              </a:lnTo>
            </a:path>
          </a:pathLst>
        </a:custGeom>
        <a:noFill/>
        <a:ln w="6350" cap="flat" cmpd="sng" algn="ctr">
          <a:solidFill>
            <a:schemeClr val="accent5">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2568633" y="635843"/>
        <a:ext cx="24318" cy="4868"/>
      </dsp:txXfrm>
    </dsp:sp>
    <dsp:sp modelId="{26B7E947-85AF-40D0-AFCD-63C94ECE3A7F}">
      <dsp:nvSpPr>
        <dsp:cNvPr id="0" name=""/>
        <dsp:cNvSpPr/>
      </dsp:nvSpPr>
      <dsp:spPr>
        <a:xfrm>
          <a:off x="240068" y="3885"/>
          <a:ext cx="2114640" cy="1268784"/>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3619" tIns="108767" rIns="103619" bIns="108767" numCol="1" spcCol="1270" anchor="ctr" anchorCtr="0">
          <a:noAutofit/>
        </a:bodyPr>
        <a:lstStyle/>
        <a:p>
          <a:pPr marL="0" lvl="0" indent="0" algn="ctr" defTabSz="711200">
            <a:lnSpc>
              <a:spcPct val="90000"/>
            </a:lnSpc>
            <a:spcBef>
              <a:spcPct val="0"/>
            </a:spcBef>
            <a:spcAft>
              <a:spcPct val="35000"/>
            </a:spcAft>
            <a:buNone/>
          </a:pPr>
          <a:r>
            <a:rPr lang="es-CO" sz="1600" b="1" kern="1200">
              <a:solidFill>
                <a:schemeClr val="tx1"/>
              </a:solidFill>
            </a:rPr>
            <a:t>1</a:t>
          </a:r>
          <a:r>
            <a:rPr lang="es-CO" sz="1600" kern="1200">
              <a:solidFill>
                <a:schemeClr val="tx1"/>
              </a:solidFill>
            </a:rPr>
            <a:t>. Fotocopia del documento de identidad vigente. </a:t>
          </a:r>
          <a:endParaRPr lang="en-US" sz="1600" kern="1200">
            <a:solidFill>
              <a:schemeClr val="tx1"/>
            </a:solidFill>
          </a:endParaRPr>
        </a:p>
      </dsp:txBody>
      <dsp:txXfrm>
        <a:off x="240068" y="3885"/>
        <a:ext cx="2114640" cy="1268784"/>
      </dsp:txXfrm>
    </dsp:sp>
    <dsp:sp modelId="{F461A865-1616-4A79-A4D3-DCEFCECD1BB1}">
      <dsp:nvSpPr>
        <dsp:cNvPr id="0" name=""/>
        <dsp:cNvSpPr/>
      </dsp:nvSpPr>
      <dsp:spPr>
        <a:xfrm>
          <a:off x="4953917" y="592557"/>
          <a:ext cx="455767" cy="91440"/>
        </a:xfrm>
        <a:custGeom>
          <a:avLst/>
          <a:gdLst/>
          <a:ahLst/>
          <a:cxnLst/>
          <a:rect l="0" t="0" r="0" b="0"/>
          <a:pathLst>
            <a:path>
              <a:moveTo>
                <a:pt x="0" y="45720"/>
              </a:moveTo>
              <a:lnTo>
                <a:pt x="455767" y="45720"/>
              </a:lnTo>
            </a:path>
          </a:pathLst>
        </a:custGeom>
        <a:noFill/>
        <a:ln w="6350" cap="flat" cmpd="sng" algn="ctr">
          <a:solidFill>
            <a:schemeClr val="accent5">
              <a:hueOff val="-1126424"/>
              <a:satOff val="-2903"/>
              <a:lumOff val="-1961"/>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5169641" y="635843"/>
        <a:ext cx="24318" cy="4868"/>
      </dsp:txXfrm>
    </dsp:sp>
    <dsp:sp modelId="{FFDC99CB-225E-4304-A877-FDAFA026E779}">
      <dsp:nvSpPr>
        <dsp:cNvPr id="0" name=""/>
        <dsp:cNvSpPr/>
      </dsp:nvSpPr>
      <dsp:spPr>
        <a:xfrm>
          <a:off x="2841076" y="3885"/>
          <a:ext cx="2114640" cy="1268784"/>
        </a:xfrm>
        <a:prstGeom prst="rect">
          <a:avLst/>
        </a:prstGeom>
        <a:solidFill>
          <a:schemeClr val="accent5">
            <a:hueOff val="-965506"/>
            <a:satOff val="-2488"/>
            <a:lumOff val="-168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3619" tIns="108767" rIns="103619" bIns="108767"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2. Fotografía carnet Sena destruido o carta donde indique su caso</a:t>
          </a:r>
          <a:endParaRPr lang="en-US" sz="1600" kern="1200" dirty="0">
            <a:solidFill>
              <a:schemeClr val="tx1"/>
            </a:solidFill>
          </a:endParaRPr>
        </a:p>
      </dsp:txBody>
      <dsp:txXfrm>
        <a:off x="2841076" y="3885"/>
        <a:ext cx="2114640" cy="1268784"/>
      </dsp:txXfrm>
    </dsp:sp>
    <dsp:sp modelId="{29C846C4-EC69-47C9-B2E9-2E63D92F8A4E}">
      <dsp:nvSpPr>
        <dsp:cNvPr id="0" name=""/>
        <dsp:cNvSpPr/>
      </dsp:nvSpPr>
      <dsp:spPr>
        <a:xfrm>
          <a:off x="1297389" y="1270869"/>
          <a:ext cx="5202015" cy="455767"/>
        </a:xfrm>
        <a:custGeom>
          <a:avLst/>
          <a:gdLst/>
          <a:ahLst/>
          <a:cxnLst/>
          <a:rect l="0" t="0" r="0" b="0"/>
          <a:pathLst>
            <a:path>
              <a:moveTo>
                <a:pt x="5202015" y="0"/>
              </a:moveTo>
              <a:lnTo>
                <a:pt x="5202015" y="244983"/>
              </a:lnTo>
              <a:lnTo>
                <a:pt x="0" y="244983"/>
              </a:lnTo>
              <a:lnTo>
                <a:pt x="0" y="455767"/>
              </a:lnTo>
            </a:path>
          </a:pathLst>
        </a:custGeom>
        <a:noFill/>
        <a:ln w="6350" cap="flat" cmpd="sng" algn="ctr">
          <a:solidFill>
            <a:schemeClr val="accent5">
              <a:hueOff val="-2252848"/>
              <a:satOff val="-5806"/>
              <a:lumOff val="-3922"/>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3767779" y="1496319"/>
        <a:ext cx="261235" cy="4868"/>
      </dsp:txXfrm>
    </dsp:sp>
    <dsp:sp modelId="{4623ADEF-6738-4F91-8734-8A75CA3B72D7}">
      <dsp:nvSpPr>
        <dsp:cNvPr id="0" name=""/>
        <dsp:cNvSpPr/>
      </dsp:nvSpPr>
      <dsp:spPr>
        <a:xfrm>
          <a:off x="5442084" y="3885"/>
          <a:ext cx="2114640" cy="1268784"/>
        </a:xfrm>
        <a:prstGeom prst="rect">
          <a:avLst/>
        </a:prstGeom>
        <a:solidFill>
          <a:schemeClr val="accent5">
            <a:hueOff val="-1931012"/>
            <a:satOff val="-4977"/>
            <a:lumOff val="-336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3619" tIns="108767" rIns="103619" bIns="108767"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3. Certificado de la Agencia Pública de empleo SENA. Con datos actualizados</a:t>
          </a:r>
          <a:endParaRPr lang="en-US" sz="1600" kern="1200" dirty="0">
            <a:solidFill>
              <a:schemeClr val="tx1"/>
            </a:solidFill>
          </a:endParaRPr>
        </a:p>
      </dsp:txBody>
      <dsp:txXfrm>
        <a:off x="5442084" y="3885"/>
        <a:ext cx="2114640" cy="1268784"/>
      </dsp:txXfrm>
    </dsp:sp>
    <dsp:sp modelId="{8B3172E5-3729-48CD-9253-66183B06DD8A}">
      <dsp:nvSpPr>
        <dsp:cNvPr id="0" name=""/>
        <dsp:cNvSpPr/>
      </dsp:nvSpPr>
      <dsp:spPr>
        <a:xfrm>
          <a:off x="2352909" y="2347709"/>
          <a:ext cx="455767" cy="91440"/>
        </a:xfrm>
        <a:custGeom>
          <a:avLst/>
          <a:gdLst/>
          <a:ahLst/>
          <a:cxnLst/>
          <a:rect l="0" t="0" r="0" b="0"/>
          <a:pathLst>
            <a:path>
              <a:moveTo>
                <a:pt x="0" y="45720"/>
              </a:moveTo>
              <a:lnTo>
                <a:pt x="244983" y="45720"/>
              </a:lnTo>
              <a:lnTo>
                <a:pt x="244983" y="82463"/>
              </a:lnTo>
              <a:lnTo>
                <a:pt x="455767" y="82463"/>
              </a:lnTo>
            </a:path>
          </a:pathLst>
        </a:custGeom>
        <a:noFill/>
        <a:ln w="6350" cap="flat" cmpd="sng" algn="ctr">
          <a:solidFill>
            <a:schemeClr val="accent5">
              <a:hueOff val="-3379271"/>
              <a:satOff val="-8710"/>
              <a:lumOff val="-5883"/>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2568599" y="2390995"/>
        <a:ext cx="24387" cy="4868"/>
      </dsp:txXfrm>
    </dsp:sp>
    <dsp:sp modelId="{949B8400-8BCA-4387-9B03-E845E4DA4AA9}">
      <dsp:nvSpPr>
        <dsp:cNvPr id="0" name=""/>
        <dsp:cNvSpPr/>
      </dsp:nvSpPr>
      <dsp:spPr>
        <a:xfrm>
          <a:off x="240068" y="1759037"/>
          <a:ext cx="2114640" cy="1268784"/>
        </a:xfrm>
        <a:prstGeom prst="rect">
          <a:avLst/>
        </a:prstGeom>
        <a:solidFill>
          <a:schemeClr val="accent5">
            <a:hueOff val="-2896518"/>
            <a:satOff val="-7465"/>
            <a:lumOff val="-504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3619" tIns="108767" rIns="103619" bIns="108767"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4. Pantallazo de actualización de datos SENA Sofía. </a:t>
          </a:r>
          <a:endParaRPr lang="en-US" sz="1600" kern="1200" dirty="0">
            <a:solidFill>
              <a:schemeClr val="tx1"/>
            </a:solidFill>
          </a:endParaRPr>
        </a:p>
      </dsp:txBody>
      <dsp:txXfrm>
        <a:off x="240068" y="1759037"/>
        <a:ext cx="2114640" cy="1268784"/>
      </dsp:txXfrm>
    </dsp:sp>
    <dsp:sp modelId="{BAC8C80C-EDB3-4C87-BF5D-565626D2D8C8}">
      <dsp:nvSpPr>
        <dsp:cNvPr id="0" name=""/>
        <dsp:cNvSpPr/>
      </dsp:nvSpPr>
      <dsp:spPr>
        <a:xfrm>
          <a:off x="4953917" y="2347709"/>
          <a:ext cx="455767" cy="91440"/>
        </a:xfrm>
        <a:custGeom>
          <a:avLst/>
          <a:gdLst/>
          <a:ahLst/>
          <a:cxnLst/>
          <a:rect l="0" t="0" r="0" b="0"/>
          <a:pathLst>
            <a:path>
              <a:moveTo>
                <a:pt x="0" y="82463"/>
              </a:moveTo>
              <a:lnTo>
                <a:pt x="244983" y="82463"/>
              </a:lnTo>
              <a:lnTo>
                <a:pt x="244983" y="45720"/>
              </a:lnTo>
              <a:lnTo>
                <a:pt x="455767" y="45720"/>
              </a:lnTo>
            </a:path>
          </a:pathLst>
        </a:custGeom>
        <a:noFill/>
        <a:ln w="6350" cap="flat" cmpd="sng" algn="ctr">
          <a:solidFill>
            <a:schemeClr val="accent5">
              <a:hueOff val="-4505695"/>
              <a:satOff val="-11613"/>
              <a:lumOff val="-7843"/>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5169607" y="2390995"/>
        <a:ext cx="24387" cy="4868"/>
      </dsp:txXfrm>
    </dsp:sp>
    <dsp:sp modelId="{B7D00F38-5150-4F00-9DD0-CCA190F0D607}">
      <dsp:nvSpPr>
        <dsp:cNvPr id="0" name=""/>
        <dsp:cNvSpPr/>
      </dsp:nvSpPr>
      <dsp:spPr>
        <a:xfrm>
          <a:off x="2841076" y="1795781"/>
          <a:ext cx="2114640" cy="1268784"/>
        </a:xfrm>
        <a:prstGeom prst="rect">
          <a:avLst/>
        </a:prstGeom>
        <a:solidFill>
          <a:schemeClr val="accent5">
            <a:hueOff val="-3862025"/>
            <a:satOff val="-9954"/>
            <a:lumOff val="-6723"/>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3619" tIns="108767" rIns="103619" bIns="108767"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5. Resultado de pruebas TYT o certificado de asistencia (Tecnólogos).</a:t>
          </a:r>
          <a:endParaRPr lang="en-US" sz="1600" kern="1200" dirty="0">
            <a:solidFill>
              <a:schemeClr val="tx1"/>
            </a:solidFill>
          </a:endParaRPr>
        </a:p>
      </dsp:txBody>
      <dsp:txXfrm>
        <a:off x="2841076" y="1795781"/>
        <a:ext cx="2114640" cy="1268784"/>
      </dsp:txXfrm>
    </dsp:sp>
    <dsp:sp modelId="{D4A423D2-8700-407F-8F45-6B03BA9CF562}">
      <dsp:nvSpPr>
        <dsp:cNvPr id="0" name=""/>
        <dsp:cNvSpPr/>
      </dsp:nvSpPr>
      <dsp:spPr>
        <a:xfrm>
          <a:off x="1297389" y="3026021"/>
          <a:ext cx="5202015" cy="455767"/>
        </a:xfrm>
        <a:custGeom>
          <a:avLst/>
          <a:gdLst/>
          <a:ahLst/>
          <a:cxnLst/>
          <a:rect l="0" t="0" r="0" b="0"/>
          <a:pathLst>
            <a:path>
              <a:moveTo>
                <a:pt x="5202015" y="0"/>
              </a:moveTo>
              <a:lnTo>
                <a:pt x="5202015" y="244983"/>
              </a:lnTo>
              <a:lnTo>
                <a:pt x="0" y="244983"/>
              </a:lnTo>
              <a:lnTo>
                <a:pt x="0" y="455767"/>
              </a:lnTo>
            </a:path>
          </a:pathLst>
        </a:custGeom>
        <a:noFill/>
        <a:ln w="6350" cap="flat" cmpd="sng" algn="ctr">
          <a:solidFill>
            <a:schemeClr val="accent5">
              <a:hueOff val="-5632119"/>
              <a:satOff val="-14516"/>
              <a:lumOff val="-9804"/>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3767779" y="3251471"/>
        <a:ext cx="261235" cy="4868"/>
      </dsp:txXfrm>
    </dsp:sp>
    <dsp:sp modelId="{2EFCBA5B-D4A4-4D5B-8C9F-9E6C3B80A2B8}">
      <dsp:nvSpPr>
        <dsp:cNvPr id="0" name=""/>
        <dsp:cNvSpPr/>
      </dsp:nvSpPr>
      <dsp:spPr>
        <a:xfrm>
          <a:off x="5442084" y="1759037"/>
          <a:ext cx="2114640" cy="1268784"/>
        </a:xfrm>
        <a:prstGeom prst="rect">
          <a:avLst/>
        </a:prstGeom>
        <a:solidFill>
          <a:schemeClr val="accent5">
            <a:hueOff val="-4827531"/>
            <a:satOff val="-12442"/>
            <a:lumOff val="-840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3619" tIns="108767" rIns="103619" bIns="108767"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6. Pantallazo correo aprobación alternativa etapa productiva, (para los aprendices de vínculo laboral)</a:t>
          </a:r>
          <a:r>
            <a:rPr lang="es-ES" sz="1600" kern="1200" dirty="0">
              <a:solidFill>
                <a:schemeClr val="tx1"/>
              </a:solidFill>
            </a:rPr>
            <a:t> </a:t>
          </a:r>
          <a:endParaRPr lang="en-US" sz="1600" kern="1200" dirty="0">
            <a:solidFill>
              <a:schemeClr val="tx1"/>
            </a:solidFill>
          </a:endParaRPr>
        </a:p>
      </dsp:txBody>
      <dsp:txXfrm>
        <a:off x="5442084" y="1759037"/>
        <a:ext cx="2114640" cy="1268784"/>
      </dsp:txXfrm>
    </dsp:sp>
    <dsp:sp modelId="{18C92A58-E83A-474F-8B32-6297D86D0614}">
      <dsp:nvSpPr>
        <dsp:cNvPr id="0" name=""/>
        <dsp:cNvSpPr/>
      </dsp:nvSpPr>
      <dsp:spPr>
        <a:xfrm>
          <a:off x="2352909" y="4102861"/>
          <a:ext cx="455767" cy="91440"/>
        </a:xfrm>
        <a:custGeom>
          <a:avLst/>
          <a:gdLst/>
          <a:ahLst/>
          <a:cxnLst/>
          <a:rect l="0" t="0" r="0" b="0"/>
          <a:pathLst>
            <a:path>
              <a:moveTo>
                <a:pt x="0" y="45720"/>
              </a:moveTo>
              <a:lnTo>
                <a:pt x="455767" y="45720"/>
              </a:lnTo>
            </a:path>
          </a:pathLst>
        </a:custGeom>
        <a:noFill/>
        <a:ln w="6350" cap="flat" cmpd="sng" algn="ctr">
          <a:solidFill>
            <a:schemeClr val="accent5">
              <a:hueOff val="-6758543"/>
              <a:satOff val="-17419"/>
              <a:lumOff val="-11765"/>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2568633" y="4146147"/>
        <a:ext cx="24318" cy="4868"/>
      </dsp:txXfrm>
    </dsp:sp>
    <dsp:sp modelId="{6660A539-C70A-44B3-9F65-4A2C512BA3F6}">
      <dsp:nvSpPr>
        <dsp:cNvPr id="0" name=""/>
        <dsp:cNvSpPr/>
      </dsp:nvSpPr>
      <dsp:spPr>
        <a:xfrm>
          <a:off x="240068" y="3514189"/>
          <a:ext cx="2114640" cy="1268784"/>
        </a:xfrm>
        <a:prstGeom prst="rect">
          <a:avLst/>
        </a:prstGeom>
        <a:solidFill>
          <a:schemeClr val="accent5">
            <a:hueOff val="-5793037"/>
            <a:satOff val="-14931"/>
            <a:lumOff val="-1008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3619" tIns="108767" rIns="103619" bIns="108767"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7. Certificación de la empresa con fechas de inicio y finalización etapa productiva.</a:t>
          </a:r>
          <a:endParaRPr lang="en-US" sz="1600" kern="1200" dirty="0">
            <a:solidFill>
              <a:schemeClr val="tx1"/>
            </a:solidFill>
          </a:endParaRPr>
        </a:p>
      </dsp:txBody>
      <dsp:txXfrm>
        <a:off x="240068" y="3514189"/>
        <a:ext cx="2114640" cy="1268784"/>
      </dsp:txXfrm>
    </dsp:sp>
    <dsp:sp modelId="{987C679C-451F-48ED-B99B-95277C8EAF64}">
      <dsp:nvSpPr>
        <dsp:cNvPr id="0" name=""/>
        <dsp:cNvSpPr/>
      </dsp:nvSpPr>
      <dsp:spPr>
        <a:xfrm>
          <a:off x="2841076" y="3514189"/>
          <a:ext cx="2114640" cy="1268784"/>
        </a:xfrm>
        <a:prstGeom prst="rect">
          <a:avLst/>
        </a:prstGeom>
        <a:solidFill>
          <a:schemeClr val="accent5">
            <a:hueOff val="-6758543"/>
            <a:satOff val="-17419"/>
            <a:lumOff val="-1176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3619" tIns="108767" rIns="103619" bIns="108767"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8. </a:t>
          </a:r>
          <a:r>
            <a:rPr lang="es-MX" sz="1600" kern="1200" dirty="0">
              <a:solidFill>
                <a:schemeClr val="tx1"/>
              </a:solidFill>
            </a:rPr>
            <a:t>Formatos F023 y </a:t>
          </a:r>
          <a:r>
            <a:rPr lang="es-MX" sz="1600" kern="1200" dirty="0" err="1">
              <a:solidFill>
                <a:schemeClr val="tx1"/>
              </a:solidFill>
            </a:rPr>
            <a:t>Bitacoras</a:t>
          </a:r>
          <a:r>
            <a:rPr lang="es-MX" sz="1600" kern="1200" dirty="0">
              <a:solidFill>
                <a:schemeClr val="tx1"/>
              </a:solidFill>
            </a:rPr>
            <a:t> de visitas</a:t>
          </a:r>
          <a:endParaRPr lang="en-US" sz="1600" kern="1200" dirty="0">
            <a:solidFill>
              <a:schemeClr val="tx1"/>
            </a:solidFill>
          </a:endParaRPr>
        </a:p>
      </dsp:txBody>
      <dsp:txXfrm>
        <a:off x="2841076" y="3514189"/>
        <a:ext cx="2114640" cy="12687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A626B8-D756-4377-8240-66B7A1F25A1D}">
      <dsp:nvSpPr>
        <dsp:cNvPr id="0" name=""/>
        <dsp:cNvSpPr/>
      </dsp:nvSpPr>
      <dsp:spPr>
        <a:xfrm rot="16200000">
          <a:off x="-1258943" y="1261203"/>
          <a:ext cx="4740524" cy="2218116"/>
        </a:xfrm>
        <a:prstGeom prst="flowChartManualOperation">
          <a:avLst/>
        </a:prstGeom>
        <a:solidFill>
          <a:schemeClr val="accent5"/>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0" tIns="0" rIns="101600" bIns="0" numCol="1" spcCol="1270" anchor="ctr" anchorCtr="0">
          <a:noAutofit/>
        </a:bodyPr>
        <a:lstStyle/>
        <a:p>
          <a:pPr marL="0" lvl="0" indent="0" algn="ctr" defTabSz="711200">
            <a:lnSpc>
              <a:spcPct val="100000"/>
            </a:lnSpc>
            <a:spcBef>
              <a:spcPct val="0"/>
            </a:spcBef>
            <a:spcAft>
              <a:spcPct val="35000"/>
            </a:spcAft>
            <a:buNone/>
          </a:pPr>
          <a:r>
            <a:rPr lang="es-MX" sz="1600" kern="1200" dirty="0">
              <a:solidFill>
                <a:schemeClr val="tx1"/>
              </a:solidFill>
            </a:rPr>
            <a:t>Una vez se tenga el paquete de documentos, el instructor debe elaborar un acta de proceso de certificación formato vigente GOR-F-084 ActaV02 y GOR-F-085V02 donde debe registrar de manera correcta el numero de acta y fecha seleccionada</a:t>
          </a:r>
          <a:r>
            <a:rPr lang="es-MX" sz="1600" kern="1200" dirty="0"/>
            <a:t>.</a:t>
          </a:r>
          <a:endParaRPr lang="en-US" sz="1600" kern="1200" dirty="0"/>
        </a:p>
      </dsp:txBody>
      <dsp:txXfrm rot="5400000">
        <a:off x="2261" y="948104"/>
        <a:ext cx="2218116" cy="2844314"/>
      </dsp:txXfrm>
    </dsp:sp>
    <dsp:sp modelId="{D10D98E1-8297-4E91-AE21-3A0DD262A882}">
      <dsp:nvSpPr>
        <dsp:cNvPr id="0" name=""/>
        <dsp:cNvSpPr/>
      </dsp:nvSpPr>
      <dsp:spPr>
        <a:xfrm rot="16200000">
          <a:off x="1125532" y="1261203"/>
          <a:ext cx="4740524" cy="2218116"/>
        </a:xfrm>
        <a:prstGeom prst="flowChartManualOperation">
          <a:avLst/>
        </a:prstGeom>
        <a:solidFill>
          <a:srgbClr val="A1D6FD"/>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0" tIns="0" rIns="101600" bIns="0" numCol="1" spcCol="1270" anchor="ctr" anchorCtr="0">
          <a:noAutofit/>
        </a:bodyPr>
        <a:lstStyle/>
        <a:p>
          <a:pPr marL="0" lvl="0" indent="0" algn="ctr" defTabSz="711200">
            <a:lnSpc>
              <a:spcPct val="100000"/>
            </a:lnSpc>
            <a:spcBef>
              <a:spcPct val="0"/>
            </a:spcBef>
            <a:spcAft>
              <a:spcPct val="35000"/>
            </a:spcAft>
            <a:buNone/>
          </a:pPr>
          <a:r>
            <a:rPr lang="es-MX" sz="1600" kern="1200" dirty="0">
              <a:solidFill>
                <a:schemeClr val="tx1"/>
              </a:solidFill>
            </a:rPr>
            <a:t>En el acta se debe registrar listado de Aprendices a certificar</a:t>
          </a:r>
          <a:endParaRPr lang="en-US" sz="1600" kern="1200" dirty="0">
            <a:solidFill>
              <a:schemeClr val="tx1"/>
            </a:solidFill>
          </a:endParaRPr>
        </a:p>
      </dsp:txBody>
      <dsp:txXfrm rot="5400000">
        <a:off x="2386736" y="948104"/>
        <a:ext cx="2218116" cy="2844314"/>
      </dsp:txXfrm>
    </dsp:sp>
    <dsp:sp modelId="{E5713AAA-FC89-4E47-87C4-9187FE77D796}">
      <dsp:nvSpPr>
        <dsp:cNvPr id="0" name=""/>
        <dsp:cNvSpPr/>
      </dsp:nvSpPr>
      <dsp:spPr>
        <a:xfrm rot="16200000">
          <a:off x="3510008" y="1261203"/>
          <a:ext cx="4740524" cy="2218116"/>
        </a:xfrm>
        <a:prstGeom prst="flowChartManualOperation">
          <a:avLst/>
        </a:prstGeom>
        <a:solidFill>
          <a:schemeClr val="accent4">
            <a:hueOff val="6533927"/>
            <a:satOff val="-27185"/>
            <a:lumOff val="640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250" tIns="0" rIns="95250" bIns="0" numCol="1" spcCol="1270" anchor="ctr" anchorCtr="0">
          <a:noAutofit/>
        </a:bodyPr>
        <a:lstStyle/>
        <a:p>
          <a:pPr marL="0" lvl="0" indent="0" algn="ctr" defTabSz="666750">
            <a:lnSpc>
              <a:spcPct val="100000"/>
            </a:lnSpc>
            <a:spcBef>
              <a:spcPct val="0"/>
            </a:spcBef>
            <a:spcAft>
              <a:spcPct val="35000"/>
            </a:spcAft>
            <a:buNone/>
          </a:pPr>
          <a:r>
            <a:rPr lang="es-MX" sz="1500" kern="1200" dirty="0">
              <a:solidFill>
                <a:schemeClr val="tx1"/>
              </a:solidFill>
            </a:rPr>
            <a:t>Se debe verificar el estado académico de los aprendices garantizando que no tienen RAPS pendientes por evaluar y que su estado es POR CERTIFICAR, no se pueden registrar en las actas aprendices en estado FORMACIÓN, CONDICIONADOS u otros</a:t>
          </a:r>
          <a:r>
            <a:rPr lang="es-MX" sz="1400" kern="1200" dirty="0"/>
            <a:t>.</a:t>
          </a:r>
          <a:endParaRPr lang="en-US" sz="1400" kern="1200" dirty="0"/>
        </a:p>
      </dsp:txBody>
      <dsp:txXfrm rot="5400000">
        <a:off x="4771212" y="948104"/>
        <a:ext cx="2218116" cy="2844314"/>
      </dsp:txXfrm>
    </dsp:sp>
    <dsp:sp modelId="{56B889BA-0B26-4301-B0DB-9D37872E0221}">
      <dsp:nvSpPr>
        <dsp:cNvPr id="0" name=""/>
        <dsp:cNvSpPr/>
      </dsp:nvSpPr>
      <dsp:spPr>
        <a:xfrm rot="16200000">
          <a:off x="5894484" y="1261203"/>
          <a:ext cx="4740524" cy="2218116"/>
        </a:xfrm>
        <a:prstGeom prst="flowChartManualOperation">
          <a:avLst/>
        </a:prstGeom>
        <a:solidFill>
          <a:srgbClr val="92D05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0" tIns="0" rIns="101600" bIns="0" numCol="1" spcCol="1270" anchor="ctr" anchorCtr="0">
          <a:noAutofit/>
        </a:bodyPr>
        <a:lstStyle/>
        <a:p>
          <a:pPr marL="0" lvl="0" indent="0" algn="ctr" defTabSz="711200">
            <a:lnSpc>
              <a:spcPct val="100000"/>
            </a:lnSpc>
            <a:spcBef>
              <a:spcPct val="0"/>
            </a:spcBef>
            <a:spcAft>
              <a:spcPct val="35000"/>
            </a:spcAft>
            <a:buNone/>
          </a:pPr>
          <a:r>
            <a:rPr lang="es-MX" sz="1600" kern="1200" dirty="0">
              <a:solidFill>
                <a:schemeClr val="tx1"/>
              </a:solidFill>
            </a:rPr>
            <a:t>Se debe registrar listado de Aprendices con y sin pruebas T&amp;T y demás novedades que apliquen.</a:t>
          </a:r>
          <a:endParaRPr lang="en-US" sz="1600" kern="1200" dirty="0">
            <a:solidFill>
              <a:schemeClr val="tx1"/>
            </a:solidFill>
          </a:endParaRPr>
        </a:p>
      </dsp:txBody>
      <dsp:txXfrm rot="5400000">
        <a:off x="7155688" y="948104"/>
        <a:ext cx="2218116" cy="284431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4/04/2025</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4/04/2025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4/04/2025</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4/04/2025</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4/04/2025</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4/04/2025</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4/04/2025</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4/04/2025</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4/04/2025</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4/04/2025</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4/04/2025</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4/04/2025</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4/04/2025</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4/04/2025</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4/04/2025</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sena4.sharepoint.com/:x:/r/sites/EtapaProductivaCSF2021/Documentos%20compartidos/ETAPA%20PRODUCTIVA%20PRESENCIAL/2025/06.%20CERTIFICACIONES/01.%20SEGUIMIENTO%20NUMERO%20DE%20ACTAS%20CERTIFICACION%202025.xlsx?d=w7cb91e7f2a064c40bba5c9ccfeabf4c2&amp;csf=1&amp;web=1&amp;e=uZNKIX" TargetMode="Externa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8" Type="http://schemas.openxmlformats.org/officeDocument/2006/relationships/hyperlink" Target="https://sena4.sharepoint.com/:w:/r/sites/EtapaProductivaCSF2021/Documentos%20compartidos/ETAPA%20PRODUCTIVA%20PRESENCIAL/2025/06.%20CERTIFICACIONES/FORMATOS/GOR-F-084%20ActaV02%20y%20GOR-F-085V02%20MODELO%20ACTA%20PROCESO%20DE%20CERTIFICACI%C3%92N.docx?d=w186497e4784743f1a260a059b56a3765&amp;csf=1&amp;web=1&amp;e=8GGraM" TargetMode="External"/><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hyperlink" Target="https://sena4.sharepoint.com/:f:/r/sites/EtapaProductivaCSF2021/Documentos%20compartidos/ETAPA%20PRODUCTIVA%20PRESENCIAL/2025/06.%20CERTIFICACIONES/FICHAS%20CERTIFICACION?csf=1&amp;web=1&amp;e=ZCBx8X" TargetMode="External"/><Relationship Id="rId4" Type="http://schemas.openxmlformats.org/officeDocument/2006/relationships/hyperlink" Target="https://sena4.sharepoint.com/:f:/r/sites/EtapaProductivaCSF2021/Documentos%20compartidos/ETAPA%20PRODUCTIVA%20PRESENCIAL/2025/06.%20CERTIFICACIONES?csf=1&amp;web=1&amp;e=e7joON"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79A02C6-2952-CB1B-3A71-0E7A8F4B49EE}"/>
              </a:ext>
            </a:extLst>
          </p:cNvPr>
          <p:cNvSpPr txBox="1"/>
          <p:nvPr/>
        </p:nvSpPr>
        <p:spPr>
          <a:xfrm>
            <a:off x="968027" y="1769127"/>
            <a:ext cx="9984883" cy="2800767"/>
          </a:xfrm>
          <a:prstGeom prst="rect">
            <a:avLst/>
          </a:prstGeom>
          <a:noFill/>
        </p:spPr>
        <p:txBody>
          <a:bodyPr wrap="square" rtlCol="0">
            <a:spAutoFit/>
          </a:bodyPr>
          <a:lstStyle/>
          <a:p>
            <a:pPr marL="0" marR="0" lvl="0" indent="0" algn="l" defTabSz="914400" rtl="0" eaLnBrk="1" fontAlgn="auto" latinLnBrk="0" hangingPunct="1">
              <a:spcBef>
                <a:spcPts val="0"/>
              </a:spcBef>
              <a:spcAft>
                <a:spcPts val="0"/>
              </a:spcAft>
              <a:buClrTx/>
              <a:buSzTx/>
              <a:buFontTx/>
              <a:buNone/>
              <a:tabLst/>
              <a:defRPr/>
            </a:pPr>
            <a:r>
              <a:rPr kumimoji="0" lang="es-ES" sz="5400" b="1" i="0" u="none" strike="noStrike" kern="1200" cap="none" spc="0" normalizeH="0" baseline="0" noProof="0" dirty="0">
                <a:ln>
                  <a:noFill/>
                </a:ln>
                <a:solidFill>
                  <a:prstClr val="black">
                    <a:lumMod val="75000"/>
                    <a:lumOff val="25000"/>
                  </a:prstClr>
                </a:solidFill>
                <a:effectLst/>
                <a:uLnTx/>
                <a:uFillTx/>
                <a:latin typeface="Work Sans Bold Roman" pitchFamily="2" charset="77"/>
                <a:ea typeface="+mn-ea"/>
                <a:cs typeface="+mn-cs"/>
              </a:rPr>
              <a:t>Procedimiento</a:t>
            </a:r>
          </a:p>
          <a:p>
            <a:pPr marL="0" marR="0" lvl="0" indent="0" algn="l" defTabSz="914400" rtl="0" eaLnBrk="1" fontAlgn="auto" latinLnBrk="0" hangingPunct="1">
              <a:spcBef>
                <a:spcPts val="0"/>
              </a:spcBef>
              <a:spcAft>
                <a:spcPts val="0"/>
              </a:spcAft>
              <a:buClrTx/>
              <a:buSzTx/>
              <a:buFontTx/>
              <a:buNone/>
              <a:tabLst/>
              <a:defRPr/>
            </a:pPr>
            <a:r>
              <a:rPr lang="es-ES" sz="5400" b="1" dirty="0">
                <a:solidFill>
                  <a:prstClr val="black">
                    <a:lumMod val="75000"/>
                    <a:lumOff val="25000"/>
                  </a:prstClr>
                </a:solidFill>
                <a:latin typeface="Work Sans Bold Roman" pitchFamily="2" charset="77"/>
              </a:rPr>
              <a:t>Momento 5 – apoyo certificación</a:t>
            </a:r>
          </a:p>
          <a:p>
            <a:pPr>
              <a:defRPr/>
            </a:pPr>
            <a:r>
              <a:rPr lang="es-ES" sz="2800" b="1" dirty="0">
                <a:solidFill>
                  <a:srgbClr val="38AA00"/>
                </a:solidFill>
                <a:latin typeface="Work Sans Light" pitchFamily="2" charset="77"/>
              </a:rPr>
              <a:t>Etapa Productiva Centro de Servicios Financieros</a:t>
            </a:r>
          </a:p>
          <a:p>
            <a:pPr marL="0" marR="0" lvl="0" indent="0" algn="l" defTabSz="914400" rtl="0" eaLnBrk="1" fontAlgn="auto" latinLnBrk="0" hangingPunct="1">
              <a:spcBef>
                <a:spcPts val="0"/>
              </a:spcBef>
              <a:spcAft>
                <a:spcPts val="0"/>
              </a:spcAft>
              <a:buClrTx/>
              <a:buSzTx/>
              <a:buFontTx/>
              <a:buNone/>
              <a:tabLst/>
              <a:defRPr/>
            </a:pPr>
            <a:endParaRPr kumimoji="0" lang="es-ES" sz="4000" b="1" i="0" u="none" strike="noStrike" kern="1200" cap="none" spc="0" normalizeH="0" baseline="0" noProof="0" dirty="0">
              <a:ln>
                <a:noFill/>
              </a:ln>
              <a:solidFill>
                <a:prstClr val="black">
                  <a:lumMod val="75000"/>
                  <a:lumOff val="25000"/>
                </a:prstClr>
              </a:solidFill>
              <a:effectLst/>
              <a:uLnTx/>
              <a:uFillTx/>
              <a:latin typeface="Work Sans Bold Roman" pitchFamily="2" charset="77"/>
              <a:ea typeface="+mn-ea"/>
              <a:cs typeface="+mn-cs"/>
            </a:endParaRPr>
          </a:p>
        </p:txBody>
      </p:sp>
    </p:spTree>
    <p:extLst>
      <p:ext uri="{BB962C8B-B14F-4D97-AF65-F5344CB8AC3E}">
        <p14:creationId xmlns:p14="http://schemas.microsoft.com/office/powerpoint/2010/main" val="3409726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B1CD077-96D9-0A19-8078-38C924DECCE0}"/>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46ADB070-AEFB-C753-D394-4216FA187D82}"/>
              </a:ext>
            </a:extLst>
          </p:cNvPr>
          <p:cNvSpPr/>
          <p:nvPr/>
        </p:nvSpPr>
        <p:spPr>
          <a:xfrm>
            <a:off x="1819181" y="859160"/>
            <a:ext cx="7585364" cy="1154629"/>
          </a:xfrm>
          <a:prstGeom prst="roundRect">
            <a:avLst>
              <a:gd name="adj" fmla="val 10000"/>
            </a:avLst>
          </a:prstGeom>
        </p:spPr>
        <p:style>
          <a:lnRef idx="2">
            <a:schemeClr val="accent6"/>
          </a:lnRef>
          <a:fillRef idx="1">
            <a:schemeClr val="lt1"/>
          </a:fillRef>
          <a:effectRef idx="0">
            <a:schemeClr val="accent6"/>
          </a:effectRef>
          <a:fontRef idx="minor">
            <a:schemeClr val="dk1"/>
          </a:fontRef>
        </p:style>
        <p:txBody>
          <a:bodyPr/>
          <a:lstStyle/>
          <a:p>
            <a:endParaRPr lang="es-CO"/>
          </a:p>
        </p:txBody>
      </p:sp>
      <p:sp>
        <p:nvSpPr>
          <p:cNvPr id="6" name="CuadroTexto 5">
            <a:extLst>
              <a:ext uri="{FF2B5EF4-FFF2-40B4-BE49-F238E27FC236}">
                <a16:creationId xmlns:a16="http://schemas.microsoft.com/office/drawing/2014/main" id="{8DF9406E-94CF-9501-623D-0258624BCE22}"/>
              </a:ext>
            </a:extLst>
          </p:cNvPr>
          <p:cNvSpPr txBox="1"/>
          <p:nvPr/>
        </p:nvSpPr>
        <p:spPr>
          <a:xfrm>
            <a:off x="964875" y="1081226"/>
            <a:ext cx="9293976" cy="932563"/>
          </a:xfrm>
          <a:prstGeom prst="rect">
            <a:avLst/>
          </a:prstGeom>
          <a:noFill/>
        </p:spPr>
        <p:txBody>
          <a:bodyPr wrap="square">
            <a:spAutoFit/>
          </a:bodyPr>
          <a:lstStyle/>
          <a:p>
            <a:pPr marL="228600" lvl="1" indent="-228600" algn="ctr" defTabSz="1155700">
              <a:lnSpc>
                <a:spcPct val="90000"/>
              </a:lnSpc>
              <a:spcBef>
                <a:spcPct val="0"/>
              </a:spcBef>
              <a:spcAft>
                <a:spcPct val="15000"/>
              </a:spcAft>
              <a:buChar char="•"/>
            </a:pPr>
            <a:r>
              <a:rPr lang="es-CO" sz="2800" kern="1200" dirty="0">
                <a:solidFill>
                  <a:schemeClr val="tx1"/>
                </a:solidFill>
              </a:rPr>
              <a:t>Programación Visita al 100% de los aprendices</a:t>
            </a:r>
          </a:p>
          <a:p>
            <a:pPr marL="228600" lvl="1" indent="-228600" algn="ctr" defTabSz="1155700">
              <a:lnSpc>
                <a:spcPct val="90000"/>
              </a:lnSpc>
              <a:spcBef>
                <a:spcPct val="0"/>
              </a:spcBef>
              <a:spcAft>
                <a:spcPct val="15000"/>
              </a:spcAft>
              <a:buChar char="•"/>
            </a:pPr>
            <a:r>
              <a:rPr lang="es-CO" sz="2800" kern="1200" dirty="0">
                <a:solidFill>
                  <a:schemeClr val="tx1"/>
                </a:solidFill>
              </a:rPr>
              <a:t>Recepción de formato GFPI-F-023</a:t>
            </a:r>
          </a:p>
        </p:txBody>
      </p:sp>
      <p:grpSp>
        <p:nvGrpSpPr>
          <p:cNvPr id="4" name="Grupo 3">
            <a:extLst>
              <a:ext uri="{FF2B5EF4-FFF2-40B4-BE49-F238E27FC236}">
                <a16:creationId xmlns:a16="http://schemas.microsoft.com/office/drawing/2014/main" id="{3A1FA1B9-7B15-0FFE-0B99-425CC93777C2}"/>
              </a:ext>
            </a:extLst>
          </p:cNvPr>
          <p:cNvGrpSpPr/>
          <p:nvPr/>
        </p:nvGrpSpPr>
        <p:grpSpPr>
          <a:xfrm>
            <a:off x="2130137" y="259401"/>
            <a:ext cx="7429500" cy="809914"/>
            <a:chOff x="-97158" y="168613"/>
            <a:chExt cx="3966433" cy="1212509"/>
          </a:xfrm>
        </p:grpSpPr>
        <p:sp>
          <p:nvSpPr>
            <p:cNvPr id="7" name="Rectángulo: esquinas redondeadas 6">
              <a:extLst>
                <a:ext uri="{FF2B5EF4-FFF2-40B4-BE49-F238E27FC236}">
                  <a16:creationId xmlns:a16="http://schemas.microsoft.com/office/drawing/2014/main" id="{21016475-8ACE-7D08-96C4-813FEDB92A74}"/>
                </a:ext>
              </a:extLst>
            </p:cNvPr>
            <p:cNvSpPr/>
            <p:nvPr/>
          </p:nvSpPr>
          <p:spPr>
            <a:xfrm>
              <a:off x="3108" y="168613"/>
              <a:ext cx="3453774" cy="1212509"/>
            </a:xfrm>
            <a:prstGeom prst="roundRect">
              <a:avLst>
                <a:gd name="adj" fmla="val 10000"/>
              </a:avLst>
            </a:prstGeom>
          </p:spPr>
          <p:style>
            <a:lnRef idx="1">
              <a:schemeClr val="accent6"/>
            </a:lnRef>
            <a:fillRef idx="2">
              <a:schemeClr val="accent6"/>
            </a:fillRef>
            <a:effectRef idx="1">
              <a:schemeClr val="accent6"/>
            </a:effectRef>
            <a:fontRef idx="minor">
              <a:schemeClr val="dk1"/>
            </a:fontRef>
          </p:style>
          <p:txBody>
            <a:bodyPr/>
            <a:lstStyle/>
            <a:p>
              <a:endParaRPr lang="es-ES" dirty="0"/>
            </a:p>
          </p:txBody>
        </p:sp>
        <p:sp>
          <p:nvSpPr>
            <p:cNvPr id="8" name="Rectángulo: esquinas redondeadas 4">
              <a:extLst>
                <a:ext uri="{FF2B5EF4-FFF2-40B4-BE49-F238E27FC236}">
                  <a16:creationId xmlns:a16="http://schemas.microsoft.com/office/drawing/2014/main" id="{3D39A656-2704-5E09-C23E-5CB7CBD3F803}"/>
                </a:ext>
              </a:extLst>
            </p:cNvPr>
            <p:cNvSpPr txBox="1"/>
            <p:nvPr/>
          </p:nvSpPr>
          <p:spPr>
            <a:xfrm>
              <a:off x="-97158" y="168613"/>
              <a:ext cx="3966433" cy="9879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ctr" defTabSz="1155700">
                <a:lnSpc>
                  <a:spcPct val="90000"/>
                </a:lnSpc>
                <a:spcBef>
                  <a:spcPct val="0"/>
                </a:spcBef>
                <a:spcAft>
                  <a:spcPct val="35000"/>
                </a:spcAft>
                <a:buNone/>
              </a:pPr>
              <a:r>
                <a:rPr lang="es-CO" sz="2800" b="1" kern="1200" dirty="0"/>
                <a:t>Paso 1 – Visita Final</a:t>
              </a:r>
            </a:p>
          </p:txBody>
        </p:sp>
      </p:grpSp>
      <p:graphicFrame>
        <p:nvGraphicFramePr>
          <p:cNvPr id="13" name="CuadroTexto 8">
            <a:extLst>
              <a:ext uri="{FF2B5EF4-FFF2-40B4-BE49-F238E27FC236}">
                <a16:creationId xmlns:a16="http://schemas.microsoft.com/office/drawing/2014/main" id="{246C75E1-CE9F-C7DE-EAFF-301608F42BDA}"/>
              </a:ext>
            </a:extLst>
          </p:cNvPr>
          <p:cNvGraphicFramePr/>
          <p:nvPr>
            <p:extLst>
              <p:ext uri="{D42A27DB-BD31-4B8C-83A1-F6EECF244321}">
                <p14:modId xmlns:p14="http://schemas.microsoft.com/office/powerpoint/2010/main" val="84215912"/>
              </p:ext>
            </p:extLst>
          </p:nvPr>
        </p:nvGraphicFramePr>
        <p:xfrm>
          <a:off x="182532" y="1906619"/>
          <a:ext cx="11663104" cy="42473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CuadroTexto 1">
            <a:extLst>
              <a:ext uri="{FF2B5EF4-FFF2-40B4-BE49-F238E27FC236}">
                <a16:creationId xmlns:a16="http://schemas.microsoft.com/office/drawing/2014/main" id="{D322C854-CA5B-38DD-1F4E-C1EB13AC6018}"/>
              </a:ext>
            </a:extLst>
          </p:cNvPr>
          <p:cNvSpPr txBox="1"/>
          <p:nvPr/>
        </p:nvSpPr>
        <p:spPr>
          <a:xfrm>
            <a:off x="4013008" y="6201586"/>
            <a:ext cx="4601055" cy="584775"/>
          </a:xfrm>
          <a:prstGeom prst="rect">
            <a:avLst/>
          </a:prstGeom>
          <a:noFill/>
        </p:spPr>
        <p:txBody>
          <a:bodyPr wrap="square" rtlCol="0">
            <a:spAutoFit/>
          </a:bodyPr>
          <a:lstStyle/>
          <a:p>
            <a:pPr algn="ctr"/>
            <a:r>
              <a:rPr lang="es-MX" sz="1600" b="1" dirty="0">
                <a:solidFill>
                  <a:srgbClr val="FF0000"/>
                </a:solidFill>
                <a:latin typeface="Calibri" panose="020F0502020204030204"/>
              </a:rPr>
              <a:t>El Instructor y  el Aprendiz deben conservar una copia del formato F023 completamente diligenciado</a:t>
            </a:r>
            <a:endParaRPr lang="es-CO" sz="1600" b="1" dirty="0">
              <a:solidFill>
                <a:srgbClr val="FF0000"/>
              </a:solidFill>
              <a:latin typeface="Calibri" panose="020F0502020204030204"/>
            </a:endParaRPr>
          </a:p>
        </p:txBody>
      </p:sp>
      <p:pic>
        <p:nvPicPr>
          <p:cNvPr id="1026" name="Picture 2" descr="ilustraciones, imágenes clip art, dibujos animados e iconos de stock de icono creativo de media bombilla de medio cerebro que representa las ideas, la creatividad, el conocimiento, la tecnología y la mente humana. resolver problemas concepto ilustración de línea delgada - bombillo idea">
            <a:extLst>
              <a:ext uri="{FF2B5EF4-FFF2-40B4-BE49-F238E27FC236}">
                <a16:creationId xmlns:a16="http://schemas.microsoft.com/office/drawing/2014/main" id="{F267A65B-4EAB-90C6-0B5E-A71DA96A631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3144" t="19809" r="22846" b="22193"/>
          <a:stretch/>
        </p:blipFill>
        <p:spPr bwMode="auto">
          <a:xfrm>
            <a:off x="3273136" y="5897246"/>
            <a:ext cx="827982" cy="889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4115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B1CD077-96D9-0A19-8078-38C924DECCE0}"/>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46ADB070-AEFB-C753-D394-4216FA187D82}"/>
              </a:ext>
            </a:extLst>
          </p:cNvPr>
          <p:cNvSpPr/>
          <p:nvPr/>
        </p:nvSpPr>
        <p:spPr>
          <a:xfrm>
            <a:off x="1819181" y="859160"/>
            <a:ext cx="7585364" cy="1154629"/>
          </a:xfrm>
          <a:prstGeom prst="roundRect">
            <a:avLst>
              <a:gd name="adj" fmla="val 10000"/>
            </a:avLst>
          </a:prstGeom>
        </p:spPr>
        <p:style>
          <a:lnRef idx="2">
            <a:schemeClr val="accent6"/>
          </a:lnRef>
          <a:fillRef idx="1">
            <a:schemeClr val="lt1"/>
          </a:fillRef>
          <a:effectRef idx="0">
            <a:schemeClr val="accent6"/>
          </a:effectRef>
          <a:fontRef idx="minor">
            <a:schemeClr val="dk1"/>
          </a:fontRef>
        </p:style>
        <p:txBody>
          <a:bodyPr/>
          <a:lstStyle/>
          <a:p>
            <a:endParaRPr lang="es-CO"/>
          </a:p>
        </p:txBody>
      </p:sp>
      <p:sp>
        <p:nvSpPr>
          <p:cNvPr id="6" name="CuadroTexto 5">
            <a:extLst>
              <a:ext uri="{FF2B5EF4-FFF2-40B4-BE49-F238E27FC236}">
                <a16:creationId xmlns:a16="http://schemas.microsoft.com/office/drawing/2014/main" id="{8DF9406E-94CF-9501-623D-0258624BCE22}"/>
              </a:ext>
            </a:extLst>
          </p:cNvPr>
          <p:cNvSpPr txBox="1"/>
          <p:nvPr/>
        </p:nvSpPr>
        <p:spPr>
          <a:xfrm>
            <a:off x="964875" y="1081226"/>
            <a:ext cx="9293976" cy="932563"/>
          </a:xfrm>
          <a:prstGeom prst="rect">
            <a:avLst/>
          </a:prstGeom>
          <a:noFill/>
        </p:spPr>
        <p:txBody>
          <a:bodyPr wrap="square">
            <a:spAutoFit/>
          </a:bodyPr>
          <a:lstStyle/>
          <a:p>
            <a:pPr marL="228600" lvl="1" indent="-228600" algn="ctr" defTabSz="1155700">
              <a:lnSpc>
                <a:spcPct val="90000"/>
              </a:lnSpc>
              <a:spcBef>
                <a:spcPct val="0"/>
              </a:spcBef>
              <a:spcAft>
                <a:spcPct val="15000"/>
              </a:spcAft>
              <a:buChar char="•"/>
            </a:pPr>
            <a:r>
              <a:rPr lang="es-CO" sz="2800" kern="1200" dirty="0">
                <a:solidFill>
                  <a:schemeClr val="tx1"/>
                </a:solidFill>
              </a:rPr>
              <a:t>Programación Visita al 100% de los aprendices</a:t>
            </a:r>
          </a:p>
          <a:p>
            <a:pPr marL="228600" lvl="1" indent="-228600" algn="ctr" defTabSz="1155700">
              <a:lnSpc>
                <a:spcPct val="90000"/>
              </a:lnSpc>
              <a:spcBef>
                <a:spcPct val="0"/>
              </a:spcBef>
              <a:spcAft>
                <a:spcPct val="15000"/>
              </a:spcAft>
              <a:buChar char="•"/>
            </a:pPr>
            <a:r>
              <a:rPr lang="es-CO" sz="2800" kern="1200" dirty="0">
                <a:solidFill>
                  <a:schemeClr val="tx1"/>
                </a:solidFill>
              </a:rPr>
              <a:t>Recepción de formato GFPI-F-023</a:t>
            </a:r>
          </a:p>
        </p:txBody>
      </p:sp>
      <p:grpSp>
        <p:nvGrpSpPr>
          <p:cNvPr id="4" name="Grupo 3">
            <a:extLst>
              <a:ext uri="{FF2B5EF4-FFF2-40B4-BE49-F238E27FC236}">
                <a16:creationId xmlns:a16="http://schemas.microsoft.com/office/drawing/2014/main" id="{3A1FA1B9-7B15-0FFE-0B99-425CC93777C2}"/>
              </a:ext>
            </a:extLst>
          </p:cNvPr>
          <p:cNvGrpSpPr/>
          <p:nvPr/>
        </p:nvGrpSpPr>
        <p:grpSpPr>
          <a:xfrm>
            <a:off x="2130137" y="259401"/>
            <a:ext cx="7429500" cy="809914"/>
            <a:chOff x="-97158" y="168613"/>
            <a:chExt cx="3966433" cy="1212509"/>
          </a:xfrm>
        </p:grpSpPr>
        <p:sp>
          <p:nvSpPr>
            <p:cNvPr id="7" name="Rectángulo: esquinas redondeadas 6">
              <a:extLst>
                <a:ext uri="{FF2B5EF4-FFF2-40B4-BE49-F238E27FC236}">
                  <a16:creationId xmlns:a16="http://schemas.microsoft.com/office/drawing/2014/main" id="{21016475-8ACE-7D08-96C4-813FEDB92A74}"/>
                </a:ext>
              </a:extLst>
            </p:cNvPr>
            <p:cNvSpPr/>
            <p:nvPr/>
          </p:nvSpPr>
          <p:spPr>
            <a:xfrm>
              <a:off x="3108" y="168613"/>
              <a:ext cx="3453774" cy="1212509"/>
            </a:xfrm>
            <a:prstGeom prst="roundRect">
              <a:avLst>
                <a:gd name="adj" fmla="val 10000"/>
              </a:avLst>
            </a:prstGeom>
          </p:spPr>
          <p:style>
            <a:lnRef idx="1">
              <a:schemeClr val="accent6"/>
            </a:lnRef>
            <a:fillRef idx="2">
              <a:schemeClr val="accent6"/>
            </a:fillRef>
            <a:effectRef idx="1">
              <a:schemeClr val="accent6"/>
            </a:effectRef>
            <a:fontRef idx="minor">
              <a:schemeClr val="dk1"/>
            </a:fontRef>
          </p:style>
          <p:txBody>
            <a:bodyPr/>
            <a:lstStyle/>
            <a:p>
              <a:endParaRPr lang="es-ES" dirty="0"/>
            </a:p>
          </p:txBody>
        </p:sp>
        <p:sp>
          <p:nvSpPr>
            <p:cNvPr id="8" name="Rectángulo: esquinas redondeadas 4">
              <a:extLst>
                <a:ext uri="{FF2B5EF4-FFF2-40B4-BE49-F238E27FC236}">
                  <a16:creationId xmlns:a16="http://schemas.microsoft.com/office/drawing/2014/main" id="{3D39A656-2704-5E09-C23E-5CB7CBD3F803}"/>
                </a:ext>
              </a:extLst>
            </p:cNvPr>
            <p:cNvSpPr txBox="1"/>
            <p:nvPr/>
          </p:nvSpPr>
          <p:spPr>
            <a:xfrm>
              <a:off x="-97158" y="168613"/>
              <a:ext cx="3966433" cy="9879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ctr" defTabSz="1155700">
                <a:lnSpc>
                  <a:spcPct val="90000"/>
                </a:lnSpc>
                <a:spcBef>
                  <a:spcPct val="0"/>
                </a:spcBef>
                <a:spcAft>
                  <a:spcPct val="35000"/>
                </a:spcAft>
                <a:buNone/>
              </a:pPr>
              <a:r>
                <a:rPr lang="es-CO" sz="2800" b="1" kern="1200" dirty="0"/>
                <a:t>Paso 1 – Visita Final</a:t>
              </a:r>
            </a:p>
          </p:txBody>
        </p:sp>
      </p:grpSp>
      <p:graphicFrame>
        <p:nvGraphicFramePr>
          <p:cNvPr id="13" name="CuadroTexto 8">
            <a:extLst>
              <a:ext uri="{FF2B5EF4-FFF2-40B4-BE49-F238E27FC236}">
                <a16:creationId xmlns:a16="http://schemas.microsoft.com/office/drawing/2014/main" id="{246C75E1-CE9F-C7DE-EAFF-301608F42BDA}"/>
              </a:ext>
            </a:extLst>
          </p:cNvPr>
          <p:cNvGraphicFramePr/>
          <p:nvPr>
            <p:extLst>
              <p:ext uri="{D42A27DB-BD31-4B8C-83A1-F6EECF244321}">
                <p14:modId xmlns:p14="http://schemas.microsoft.com/office/powerpoint/2010/main" val="3275673832"/>
              </p:ext>
            </p:extLst>
          </p:nvPr>
        </p:nvGraphicFramePr>
        <p:xfrm>
          <a:off x="182532" y="1906619"/>
          <a:ext cx="11663104" cy="42473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CuadroTexto 1">
            <a:extLst>
              <a:ext uri="{FF2B5EF4-FFF2-40B4-BE49-F238E27FC236}">
                <a16:creationId xmlns:a16="http://schemas.microsoft.com/office/drawing/2014/main" id="{D322C854-CA5B-38DD-1F4E-C1EB13AC6018}"/>
              </a:ext>
            </a:extLst>
          </p:cNvPr>
          <p:cNvSpPr txBox="1"/>
          <p:nvPr/>
        </p:nvSpPr>
        <p:spPr>
          <a:xfrm>
            <a:off x="4013008" y="6201586"/>
            <a:ext cx="4601055" cy="584775"/>
          </a:xfrm>
          <a:prstGeom prst="rect">
            <a:avLst/>
          </a:prstGeom>
          <a:noFill/>
        </p:spPr>
        <p:txBody>
          <a:bodyPr wrap="square" rtlCol="0">
            <a:spAutoFit/>
          </a:bodyPr>
          <a:lstStyle/>
          <a:p>
            <a:pPr algn="ctr"/>
            <a:r>
              <a:rPr lang="es-MX" sz="1600" b="1" dirty="0">
                <a:solidFill>
                  <a:srgbClr val="FF0000"/>
                </a:solidFill>
              </a:rPr>
              <a:t>El Instructor y  el Aprendiz deben conservar una copia de las bitácoras completamente diligenciadas</a:t>
            </a:r>
            <a:endParaRPr lang="es-CO" sz="1600" b="1" dirty="0">
              <a:solidFill>
                <a:srgbClr val="FF0000"/>
              </a:solidFill>
            </a:endParaRPr>
          </a:p>
        </p:txBody>
      </p:sp>
      <p:pic>
        <p:nvPicPr>
          <p:cNvPr id="1026" name="Picture 2" descr="ilustraciones, imágenes clip art, dibujos animados e iconos de stock de icono creativo de media bombilla de medio cerebro que representa las ideas, la creatividad, el conocimiento, la tecnología y la mente humana. resolver problemas concepto ilustración de línea delgada - bombillo idea">
            <a:extLst>
              <a:ext uri="{FF2B5EF4-FFF2-40B4-BE49-F238E27FC236}">
                <a16:creationId xmlns:a16="http://schemas.microsoft.com/office/drawing/2014/main" id="{F267A65B-4EAB-90C6-0B5E-A71DA96A631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3144" t="19809" r="22846" b="22193"/>
          <a:stretch/>
        </p:blipFill>
        <p:spPr bwMode="auto">
          <a:xfrm>
            <a:off x="3273136" y="5897246"/>
            <a:ext cx="827982" cy="889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7979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F587437-7539-DF40-06DA-A440BC508C44}"/>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3F57B7BA-47EB-515B-E8EE-268B6CB0862B}"/>
              </a:ext>
            </a:extLst>
          </p:cNvPr>
          <p:cNvSpPr/>
          <p:nvPr/>
        </p:nvSpPr>
        <p:spPr>
          <a:xfrm>
            <a:off x="1685059" y="227527"/>
            <a:ext cx="8821882" cy="2289858"/>
          </a:xfrm>
          <a:prstGeom prst="roundRect">
            <a:avLst>
              <a:gd name="adj" fmla="val 10000"/>
            </a:avLst>
          </a:prstGeom>
          <a:ln>
            <a:solidFill>
              <a:schemeClr val="accent6"/>
            </a:solidFill>
          </a:ln>
        </p:spPr>
        <p:style>
          <a:lnRef idx="2">
            <a:schemeClr val="accent6"/>
          </a:lnRef>
          <a:fillRef idx="1">
            <a:schemeClr val="lt1"/>
          </a:fillRef>
          <a:effectRef idx="0">
            <a:schemeClr val="accent6"/>
          </a:effectRef>
          <a:fontRef idx="minor">
            <a:schemeClr val="dk1"/>
          </a:fontRef>
        </p:style>
        <p:txBody>
          <a:bodyPr/>
          <a:lstStyle/>
          <a:p>
            <a:endParaRPr lang="es-CO"/>
          </a:p>
        </p:txBody>
      </p:sp>
      <p:sp>
        <p:nvSpPr>
          <p:cNvPr id="6" name="CuadroTexto 5">
            <a:extLst>
              <a:ext uri="{FF2B5EF4-FFF2-40B4-BE49-F238E27FC236}">
                <a16:creationId xmlns:a16="http://schemas.microsoft.com/office/drawing/2014/main" id="{F32BA7E8-72CE-E207-C615-BAEA96FDA09D}"/>
              </a:ext>
            </a:extLst>
          </p:cNvPr>
          <p:cNvSpPr txBox="1"/>
          <p:nvPr/>
        </p:nvSpPr>
        <p:spPr>
          <a:xfrm>
            <a:off x="1260764" y="227527"/>
            <a:ext cx="10172700" cy="2289858"/>
          </a:xfrm>
          <a:prstGeom prst="rect">
            <a:avLst/>
          </a:prstGeom>
          <a:noFill/>
        </p:spPr>
        <p:txBody>
          <a:bodyPr wrap="square">
            <a:spAutoFit/>
          </a:bodyPr>
          <a:lstStyle/>
          <a:p>
            <a:pPr marL="0" lvl="1" algn="ctr" defTabSz="1155700">
              <a:lnSpc>
                <a:spcPct val="90000"/>
              </a:lnSpc>
              <a:spcBef>
                <a:spcPct val="0"/>
              </a:spcBef>
              <a:spcAft>
                <a:spcPct val="15000"/>
              </a:spcAft>
            </a:pPr>
            <a:r>
              <a:rPr lang="es-MX" sz="2800" b="1" kern="1200" dirty="0"/>
              <a:t>GUIA DESARROLLO DE ETAPA PRODUCTIVA </a:t>
            </a:r>
          </a:p>
          <a:p>
            <a:pPr marL="0" lvl="1" algn="ctr" defTabSz="1155700">
              <a:lnSpc>
                <a:spcPct val="90000"/>
              </a:lnSpc>
              <a:spcBef>
                <a:spcPct val="0"/>
              </a:spcBef>
              <a:spcAft>
                <a:spcPct val="15000"/>
              </a:spcAft>
            </a:pPr>
            <a:r>
              <a:rPr lang="es-MX" sz="2800" b="1" kern="1200" dirty="0"/>
              <a:t>EN EL PROCESO FORMATIVO </a:t>
            </a:r>
          </a:p>
          <a:p>
            <a:pPr marL="0" lvl="1" algn="ctr" defTabSz="1155700">
              <a:lnSpc>
                <a:spcPct val="90000"/>
              </a:lnSpc>
              <a:spcBef>
                <a:spcPct val="0"/>
              </a:spcBef>
              <a:spcAft>
                <a:spcPct val="15000"/>
              </a:spcAft>
            </a:pPr>
            <a:r>
              <a:rPr lang="es-MX" sz="2800" b="1" kern="1200" dirty="0"/>
              <a:t>GFPI-G-040 Versión: 01</a:t>
            </a:r>
          </a:p>
          <a:p>
            <a:pPr marL="0" lvl="1" algn="ctr" defTabSz="1155700">
              <a:lnSpc>
                <a:spcPct val="90000"/>
              </a:lnSpc>
              <a:spcBef>
                <a:spcPct val="0"/>
              </a:spcBef>
              <a:spcAft>
                <a:spcPct val="15000"/>
              </a:spcAft>
            </a:pPr>
            <a:r>
              <a:rPr lang="es-MX" sz="2800" b="1" dirty="0"/>
              <a:t>Numeral 9.4.3 evaluación de la etapa productiva y </a:t>
            </a:r>
          </a:p>
          <a:p>
            <a:pPr marL="0" lvl="1" algn="ctr" defTabSz="1155700">
              <a:lnSpc>
                <a:spcPct val="90000"/>
              </a:lnSpc>
              <a:spcBef>
                <a:spcPct val="0"/>
              </a:spcBef>
              <a:spcAft>
                <a:spcPct val="15000"/>
              </a:spcAft>
            </a:pPr>
            <a:r>
              <a:rPr lang="es-MX" sz="2800" b="1" dirty="0"/>
              <a:t>9.5. Finalización de la Etapa Productiva</a:t>
            </a:r>
            <a:r>
              <a:rPr lang="es-MX" sz="2800" b="1" kern="1200" dirty="0"/>
              <a:t> </a:t>
            </a:r>
          </a:p>
        </p:txBody>
      </p:sp>
      <p:sp>
        <p:nvSpPr>
          <p:cNvPr id="2" name="CuadroTexto 1">
            <a:extLst>
              <a:ext uri="{FF2B5EF4-FFF2-40B4-BE49-F238E27FC236}">
                <a16:creationId xmlns:a16="http://schemas.microsoft.com/office/drawing/2014/main" id="{19DED4E5-009E-A53E-8523-D44CD6EC7060}"/>
              </a:ext>
            </a:extLst>
          </p:cNvPr>
          <p:cNvSpPr txBox="1"/>
          <p:nvPr/>
        </p:nvSpPr>
        <p:spPr>
          <a:xfrm>
            <a:off x="145473" y="2808331"/>
            <a:ext cx="5237018" cy="3231654"/>
          </a:xfrm>
          <a:prstGeom prst="rect">
            <a:avLst/>
          </a:prstGeom>
          <a:solidFill>
            <a:schemeClr val="accent6">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es-MX" sz="1700" dirty="0"/>
              <a:t>c. En aquellos casos que el aprendiz haya cumplido con las actividades o funciones acordadas en el Formato (GFPI-F-023) punto 2. Planeación Etapa Productiva acordes con el programa de formación adelantado y en su seguimiento se refleje valoración satisfactoria con las evidencias solicitadas por el instructor y la evaluación sea aprobada, </a:t>
            </a:r>
            <a:r>
              <a:rPr lang="es-MX" sz="1700" b="1" dirty="0">
                <a:solidFill>
                  <a:srgbClr val="FF0000"/>
                </a:solidFill>
              </a:rPr>
              <a:t>el respectivo juicio será registrado por el instructor de seguimiento asignado al seguimiento en el sistema de gestión académico administrativo con el fin de habilitar al aprendiz para continuar su proceso de certificación</a:t>
            </a:r>
            <a:r>
              <a:rPr lang="es-MX" sz="1700" dirty="0"/>
              <a:t> bajo los parámetros allí establecidos y los requisitos exigidos. </a:t>
            </a:r>
            <a:endParaRPr lang="es-CO" sz="1700" dirty="0"/>
          </a:p>
        </p:txBody>
      </p:sp>
      <p:sp>
        <p:nvSpPr>
          <p:cNvPr id="3" name="CuadroTexto 2">
            <a:extLst>
              <a:ext uri="{FF2B5EF4-FFF2-40B4-BE49-F238E27FC236}">
                <a16:creationId xmlns:a16="http://schemas.microsoft.com/office/drawing/2014/main" id="{DD6D2F97-6623-7015-B3D6-F64F74F579C1}"/>
              </a:ext>
            </a:extLst>
          </p:cNvPr>
          <p:cNvSpPr txBox="1"/>
          <p:nvPr/>
        </p:nvSpPr>
        <p:spPr>
          <a:xfrm>
            <a:off x="6556664" y="2636568"/>
            <a:ext cx="5489863" cy="4016484"/>
          </a:xfrm>
          <a:prstGeom prst="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algn="just"/>
            <a:r>
              <a:rPr lang="es-MX" sz="1700" b="1" dirty="0">
                <a:solidFill>
                  <a:schemeClr val="tx1"/>
                </a:solidFill>
              </a:rPr>
              <a:t>La emisión de los juicios para establecer el logro del resultado de aprendizaje se realiza </a:t>
            </a:r>
            <a:r>
              <a:rPr lang="es-MX" sz="1700" b="1" dirty="0">
                <a:solidFill>
                  <a:srgbClr val="FF0000"/>
                </a:solidFill>
              </a:rPr>
              <a:t>con base en la valoración de las evidencias de aprendizaje</a:t>
            </a:r>
            <a:r>
              <a:rPr lang="es-MX" sz="1700" dirty="0"/>
              <a:t>. </a:t>
            </a:r>
            <a:r>
              <a:rPr lang="es-MX" sz="1700" b="1" dirty="0">
                <a:solidFill>
                  <a:schemeClr val="tx1"/>
                </a:solidFill>
              </a:rPr>
              <a:t>Esta actividad debe ser registrada en sistema de gestión académico administrativo, </a:t>
            </a:r>
            <a:r>
              <a:rPr lang="es-MX" sz="1700" b="1" dirty="0">
                <a:solidFill>
                  <a:srgbClr val="FF0000"/>
                </a:solidFill>
              </a:rPr>
              <a:t>máximo ocho días después de alcanzado el resultado de aprendizaje.</a:t>
            </a:r>
            <a:r>
              <a:rPr lang="es-MX" sz="1700" dirty="0"/>
              <a:t> </a:t>
            </a:r>
            <a:r>
              <a:rPr lang="es-MX" sz="1700" b="1" dirty="0"/>
              <a:t>Los coordinadores académicos </a:t>
            </a:r>
            <a:r>
              <a:rPr lang="es-MX" sz="1700" b="1" dirty="0">
                <a:solidFill>
                  <a:srgbClr val="FF0000"/>
                </a:solidFill>
              </a:rPr>
              <a:t>deben garantizar que sus instructores registren el 100% </a:t>
            </a:r>
            <a:r>
              <a:rPr lang="es-MX" sz="1700" b="1" dirty="0"/>
              <a:t>de los juicios evaluativos de los resultados de aprendizaje de cada aprendiz </a:t>
            </a:r>
            <a:r>
              <a:rPr lang="es-MX" sz="1700" b="1" dirty="0">
                <a:solidFill>
                  <a:srgbClr val="FF0000"/>
                </a:solidFill>
              </a:rPr>
              <a:t>en el aplicativo de gestión académico-administrativo correspondiente a su etapa productiva</a:t>
            </a:r>
            <a:r>
              <a:rPr lang="es-MX" sz="1700" dirty="0"/>
              <a:t>. Al finalizar el proceso de ejecución de la etapa productiva, se inicia con el proceso de certificación de formación profesional integral establecido por el SENA mediante la Guía para la Certificación Académica identificada con Código GFPI-G-018 en la plataforma CompromISO.</a:t>
            </a:r>
            <a:endParaRPr lang="es-CO" sz="1700" dirty="0"/>
          </a:p>
        </p:txBody>
      </p:sp>
      <p:sp>
        <p:nvSpPr>
          <p:cNvPr id="10" name="Flecha: hacia abajo 9">
            <a:extLst>
              <a:ext uri="{FF2B5EF4-FFF2-40B4-BE49-F238E27FC236}">
                <a16:creationId xmlns:a16="http://schemas.microsoft.com/office/drawing/2014/main" id="{DEE9DC02-3372-9779-1448-D955158B8D4D}"/>
              </a:ext>
            </a:extLst>
          </p:cNvPr>
          <p:cNvSpPr/>
          <p:nvPr/>
        </p:nvSpPr>
        <p:spPr>
          <a:xfrm rot="16200000">
            <a:off x="5759163" y="3686173"/>
            <a:ext cx="431223" cy="955966"/>
          </a:xfrm>
          <a:prstGeom prst="downArrow">
            <a:avLst>
              <a:gd name="adj1" fmla="val 50000"/>
              <a:gd name="adj2" fmla="val 58219"/>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506246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D2214F6C-002A-F8BB-9FAB-99A9F28F395C}"/>
              </a:ext>
            </a:extLst>
          </p:cNvPr>
          <p:cNvSpPr/>
          <p:nvPr/>
        </p:nvSpPr>
        <p:spPr>
          <a:xfrm>
            <a:off x="1991591" y="698490"/>
            <a:ext cx="8208818" cy="901529"/>
          </a:xfrm>
          <a:prstGeom prst="roundRect">
            <a:avLst>
              <a:gd name="adj" fmla="val 10000"/>
            </a:avLst>
          </a:prstGeom>
          <a:ln>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a:lstStyle/>
          <a:p>
            <a:endParaRPr lang="es-CO"/>
          </a:p>
        </p:txBody>
      </p:sp>
      <p:sp>
        <p:nvSpPr>
          <p:cNvPr id="6" name="CuadroTexto 5">
            <a:extLst>
              <a:ext uri="{FF2B5EF4-FFF2-40B4-BE49-F238E27FC236}">
                <a16:creationId xmlns:a16="http://schemas.microsoft.com/office/drawing/2014/main" id="{D8AD641E-40A1-A537-DB32-11C642B7B9D5}"/>
              </a:ext>
            </a:extLst>
          </p:cNvPr>
          <p:cNvSpPr txBox="1"/>
          <p:nvPr/>
        </p:nvSpPr>
        <p:spPr>
          <a:xfrm>
            <a:off x="1430317" y="1028273"/>
            <a:ext cx="9293976" cy="480131"/>
          </a:xfrm>
          <a:prstGeom prst="rect">
            <a:avLst/>
          </a:prstGeom>
          <a:noFill/>
        </p:spPr>
        <p:txBody>
          <a:bodyPr wrap="square">
            <a:spAutoFit/>
          </a:bodyPr>
          <a:lstStyle/>
          <a:p>
            <a:pPr marL="228600" lvl="1" indent="-228600" algn="ctr" defTabSz="1155700">
              <a:lnSpc>
                <a:spcPct val="90000"/>
              </a:lnSpc>
              <a:spcBef>
                <a:spcPct val="0"/>
              </a:spcBef>
              <a:spcAft>
                <a:spcPct val="15000"/>
              </a:spcAft>
              <a:buChar char="•"/>
            </a:pPr>
            <a:r>
              <a:rPr lang="es-CO" sz="2800" kern="1200" dirty="0">
                <a:solidFill>
                  <a:schemeClr val="tx1"/>
                </a:solidFill>
              </a:rPr>
              <a:t>Evaluación resultado de Aprendizaje ETAPA PRACTICA</a:t>
            </a:r>
          </a:p>
        </p:txBody>
      </p:sp>
      <p:grpSp>
        <p:nvGrpSpPr>
          <p:cNvPr id="7" name="Grupo 6">
            <a:extLst>
              <a:ext uri="{FF2B5EF4-FFF2-40B4-BE49-F238E27FC236}">
                <a16:creationId xmlns:a16="http://schemas.microsoft.com/office/drawing/2014/main" id="{49B9BEF0-BB60-3B0A-DFCD-2B6C4E2D9E7F}"/>
              </a:ext>
            </a:extLst>
          </p:cNvPr>
          <p:cNvGrpSpPr/>
          <p:nvPr/>
        </p:nvGrpSpPr>
        <p:grpSpPr>
          <a:xfrm>
            <a:off x="2467841" y="98936"/>
            <a:ext cx="7429500" cy="809914"/>
            <a:chOff x="-197012" y="168613"/>
            <a:chExt cx="3966433" cy="1212509"/>
          </a:xfrm>
        </p:grpSpPr>
        <p:sp>
          <p:nvSpPr>
            <p:cNvPr id="8" name="Rectángulo: esquinas redondeadas 7">
              <a:extLst>
                <a:ext uri="{FF2B5EF4-FFF2-40B4-BE49-F238E27FC236}">
                  <a16:creationId xmlns:a16="http://schemas.microsoft.com/office/drawing/2014/main" id="{4E45C726-8239-96F3-41ED-4B0740B23A9C}"/>
                </a:ext>
              </a:extLst>
            </p:cNvPr>
            <p:cNvSpPr/>
            <p:nvPr/>
          </p:nvSpPr>
          <p:spPr>
            <a:xfrm>
              <a:off x="3108" y="168613"/>
              <a:ext cx="3453774" cy="1212509"/>
            </a:xfrm>
            <a:prstGeom prst="roundRect">
              <a:avLst>
                <a:gd name="adj" fmla="val 10000"/>
              </a:avLst>
            </a:prstGeom>
          </p:spPr>
          <p:style>
            <a:lnRef idx="1">
              <a:schemeClr val="accent4"/>
            </a:lnRef>
            <a:fillRef idx="2">
              <a:schemeClr val="accent4"/>
            </a:fillRef>
            <a:effectRef idx="1">
              <a:schemeClr val="accent4"/>
            </a:effectRef>
            <a:fontRef idx="minor">
              <a:schemeClr val="dk1"/>
            </a:fontRef>
          </p:style>
          <p:txBody>
            <a:bodyPr/>
            <a:lstStyle/>
            <a:p>
              <a:endParaRPr lang="es-ES" dirty="0"/>
            </a:p>
          </p:txBody>
        </p:sp>
        <p:sp>
          <p:nvSpPr>
            <p:cNvPr id="9" name="Rectángulo: esquinas redondeadas 4">
              <a:extLst>
                <a:ext uri="{FF2B5EF4-FFF2-40B4-BE49-F238E27FC236}">
                  <a16:creationId xmlns:a16="http://schemas.microsoft.com/office/drawing/2014/main" id="{F212E677-5E92-26E7-1818-9CE0A2A9837D}"/>
                </a:ext>
              </a:extLst>
            </p:cNvPr>
            <p:cNvSpPr txBox="1"/>
            <p:nvPr/>
          </p:nvSpPr>
          <p:spPr>
            <a:xfrm>
              <a:off x="-197012" y="168613"/>
              <a:ext cx="3966433" cy="9879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ctr" defTabSz="1155700">
                <a:lnSpc>
                  <a:spcPct val="90000"/>
                </a:lnSpc>
                <a:spcBef>
                  <a:spcPct val="0"/>
                </a:spcBef>
                <a:spcAft>
                  <a:spcPct val="35000"/>
                </a:spcAft>
                <a:buNone/>
              </a:pPr>
              <a:r>
                <a:rPr lang="es-CO" sz="2800" b="1" kern="1200" dirty="0"/>
                <a:t>Paso 2 – registro de Juicio de evaluación</a:t>
              </a:r>
            </a:p>
          </p:txBody>
        </p:sp>
      </p:grpSp>
      <p:sp>
        <p:nvSpPr>
          <p:cNvPr id="10" name="CuadroTexto 9">
            <a:extLst>
              <a:ext uri="{FF2B5EF4-FFF2-40B4-BE49-F238E27FC236}">
                <a16:creationId xmlns:a16="http://schemas.microsoft.com/office/drawing/2014/main" id="{43F50E66-BF18-B37F-33E2-21F91C8EB7EF}"/>
              </a:ext>
            </a:extLst>
          </p:cNvPr>
          <p:cNvSpPr txBox="1"/>
          <p:nvPr/>
        </p:nvSpPr>
        <p:spPr>
          <a:xfrm>
            <a:off x="399284" y="2112072"/>
            <a:ext cx="6877108" cy="3721019"/>
          </a:xfrm>
          <a:prstGeom prst="rect">
            <a:avLst/>
          </a:prstGeom>
        </p:spPr>
        <p:style>
          <a:lnRef idx="1">
            <a:schemeClr val="accent4"/>
          </a:lnRef>
          <a:fillRef idx="1002">
            <a:schemeClr val="lt2"/>
          </a:fillRef>
          <a:effectRef idx="1">
            <a:schemeClr val="accent4"/>
          </a:effectRef>
          <a:fontRef idx="minor">
            <a:schemeClr val="dk1"/>
          </a:fontRef>
        </p:style>
        <p:txBody>
          <a:bodyPr wrap="square" rtlCol="0">
            <a:spAutoFit/>
          </a:bodyPr>
          <a:lstStyle/>
          <a:p>
            <a:pPr marL="0" lvl="1" algn="just" defTabSz="1155700">
              <a:lnSpc>
                <a:spcPct val="90000"/>
              </a:lnSpc>
              <a:spcBef>
                <a:spcPct val="0"/>
              </a:spcBef>
              <a:spcAft>
                <a:spcPct val="15000"/>
              </a:spcAft>
            </a:pPr>
            <a:r>
              <a:rPr lang="es-MX" dirty="0">
                <a:solidFill>
                  <a:prstClr val="black"/>
                </a:solidFill>
                <a:latin typeface="Calibri" panose="020F0502020204030204"/>
              </a:rPr>
              <a:t>De acuerdo con  la </a:t>
            </a:r>
            <a:r>
              <a:rPr lang="es-MX" sz="1800" b="1" kern="1200" dirty="0"/>
              <a:t>GUIA DESARROLLO DE ETAPA PRODUCTIVA </a:t>
            </a:r>
          </a:p>
          <a:p>
            <a:pPr marL="0" lvl="1" algn="just" defTabSz="1155700">
              <a:lnSpc>
                <a:spcPct val="90000"/>
              </a:lnSpc>
              <a:spcBef>
                <a:spcPct val="0"/>
              </a:spcBef>
              <a:spcAft>
                <a:spcPct val="15000"/>
              </a:spcAft>
            </a:pPr>
            <a:r>
              <a:rPr lang="es-MX" sz="1800" b="1" kern="1200" dirty="0"/>
              <a:t>EN EL PROCESO FORMATIVO GFPI-G-040 Versión: 01.</a:t>
            </a:r>
          </a:p>
          <a:p>
            <a:pPr algn="just"/>
            <a:r>
              <a:rPr lang="es-MX" dirty="0">
                <a:solidFill>
                  <a:prstClr val="black"/>
                </a:solidFill>
                <a:latin typeface="Calibri" panose="020F0502020204030204"/>
              </a:rPr>
              <a:t>Culminada la etapa productiva de manera satisfactoria el instructor debe recibir, verificar y validar en su totalidad los formato GFPI-F-F023 y  formato GFPI-F-147 Bitácoras, una vez haga esta revisión, </a:t>
            </a:r>
            <a:r>
              <a:rPr lang="es-MX" b="1" dirty="0">
                <a:solidFill>
                  <a:prstClr val="black"/>
                </a:solidFill>
                <a:latin typeface="Calibri" panose="020F0502020204030204"/>
              </a:rPr>
              <a:t>el instructor de manera </a:t>
            </a:r>
            <a:r>
              <a:rPr lang="es-MX" b="1" dirty="0">
                <a:solidFill>
                  <a:srgbClr val="FF0000"/>
                </a:solidFill>
                <a:latin typeface="Calibri" panose="020F0502020204030204"/>
              </a:rPr>
              <a:t>inmediata y </a:t>
            </a:r>
            <a:r>
              <a:rPr lang="es-MX" sz="1800" b="1" dirty="0">
                <a:solidFill>
                  <a:srgbClr val="FF0000"/>
                </a:solidFill>
              </a:rPr>
              <a:t>máximo ocho días después de alcanzado el resultado de aprendizaje </a:t>
            </a:r>
            <a:r>
              <a:rPr lang="es-MX" b="1" dirty="0">
                <a:solidFill>
                  <a:prstClr val="black"/>
                </a:solidFill>
                <a:latin typeface="Calibri" panose="020F0502020204030204"/>
              </a:rPr>
              <a:t>debe ingresar a la plataforma SENA Sofia Plus, con su usuario y contraseña y proceder a evaluar el resultado de Aprendizaje correspondiente a la etapa practica </a:t>
            </a:r>
            <a:r>
              <a:rPr lang="es-MX" b="1" i="1" dirty="0">
                <a:solidFill>
                  <a:prstClr val="black"/>
                </a:solidFill>
                <a:latin typeface="Calibri" panose="020F0502020204030204"/>
              </a:rPr>
              <a:t>277665 - APLICAR EN LA RESOLUCIÓN DE PROBLEMAS REALES DEL SECTOR PRODUCTIVO, LOS CONOCIMIENTOS, HABILIDADES Y DESTREZAS PERTINENTES A LAS COMPETENCIAS DEL PROGRAMA DE FORMACIÓN ASUMIENDO ESTRATEGIAS Y METODOLOGÍAS DE AUTOGESTIÓN.</a:t>
            </a:r>
            <a:endParaRPr lang="es-CO" b="1" i="1" dirty="0">
              <a:solidFill>
                <a:prstClr val="black"/>
              </a:solidFill>
              <a:latin typeface="Calibri" panose="020F0502020204030204"/>
            </a:endParaRPr>
          </a:p>
        </p:txBody>
      </p:sp>
      <p:sp>
        <p:nvSpPr>
          <p:cNvPr id="11" name="CuadroTexto 10">
            <a:extLst>
              <a:ext uri="{FF2B5EF4-FFF2-40B4-BE49-F238E27FC236}">
                <a16:creationId xmlns:a16="http://schemas.microsoft.com/office/drawing/2014/main" id="{6F3AE6DA-1D5E-1752-219A-219DD2ECB559}"/>
              </a:ext>
            </a:extLst>
          </p:cNvPr>
          <p:cNvSpPr txBox="1"/>
          <p:nvPr/>
        </p:nvSpPr>
        <p:spPr>
          <a:xfrm>
            <a:off x="1804169" y="5752705"/>
            <a:ext cx="7836220" cy="954107"/>
          </a:xfrm>
          <a:prstGeom prst="rect">
            <a:avLst/>
          </a:prstGeom>
          <a:noFill/>
        </p:spPr>
        <p:txBody>
          <a:bodyPr wrap="square" rtlCol="0">
            <a:spAutoFit/>
          </a:bodyPr>
          <a:lstStyle/>
          <a:p>
            <a:pPr algn="ctr"/>
            <a:r>
              <a:rPr lang="es-MX" sz="2800" dirty="0">
                <a:solidFill>
                  <a:prstClr val="black"/>
                </a:solidFill>
                <a:latin typeface="Calibri" panose="020F0502020204030204"/>
              </a:rPr>
              <a:t>Cuando se evalúa  este RAP el aprendiz  cambia de estado </a:t>
            </a:r>
            <a:r>
              <a:rPr lang="es-MX" sz="2800" b="1" dirty="0">
                <a:solidFill>
                  <a:prstClr val="black"/>
                </a:solidFill>
                <a:latin typeface="Calibri" panose="020F0502020204030204"/>
              </a:rPr>
              <a:t>FORMACIÓN</a:t>
            </a:r>
            <a:r>
              <a:rPr lang="es-MX" sz="2800" dirty="0">
                <a:solidFill>
                  <a:prstClr val="black"/>
                </a:solidFill>
                <a:latin typeface="Calibri" panose="020F0502020204030204"/>
              </a:rPr>
              <a:t> a </a:t>
            </a:r>
            <a:r>
              <a:rPr lang="es-MX" sz="2800" b="1" dirty="0">
                <a:solidFill>
                  <a:prstClr val="black"/>
                </a:solidFill>
                <a:latin typeface="Calibri" panose="020F0502020204030204"/>
              </a:rPr>
              <a:t>POR CERTIFICAR</a:t>
            </a:r>
            <a:endParaRPr lang="es-CO" sz="2800" b="1" dirty="0">
              <a:solidFill>
                <a:prstClr val="black"/>
              </a:solidFill>
              <a:latin typeface="Calibri" panose="020F0502020204030204"/>
            </a:endParaRPr>
          </a:p>
        </p:txBody>
      </p:sp>
      <p:pic>
        <p:nvPicPr>
          <p:cNvPr id="3" name="Imagen 2"/>
          <p:cNvPicPr>
            <a:picLocks noChangeAspect="1"/>
          </p:cNvPicPr>
          <p:nvPr/>
        </p:nvPicPr>
        <p:blipFill rotWithShape="1">
          <a:blip r:embed="rId3"/>
          <a:srcRect l="12803" t="30868" r="16708" b="34657"/>
          <a:stretch/>
        </p:blipFill>
        <p:spPr>
          <a:xfrm>
            <a:off x="7424096" y="1869425"/>
            <a:ext cx="4049486" cy="1011916"/>
          </a:xfrm>
          <a:prstGeom prst="rect">
            <a:avLst/>
          </a:prstGeom>
        </p:spPr>
      </p:pic>
      <p:pic>
        <p:nvPicPr>
          <p:cNvPr id="4" name="Imagen 3"/>
          <p:cNvPicPr>
            <a:picLocks noChangeAspect="1"/>
          </p:cNvPicPr>
          <p:nvPr/>
        </p:nvPicPr>
        <p:blipFill rotWithShape="1">
          <a:blip r:embed="rId4"/>
          <a:srcRect t="9344" r="30860" b="31654"/>
          <a:stretch/>
        </p:blipFill>
        <p:spPr>
          <a:xfrm>
            <a:off x="7489410" y="2839176"/>
            <a:ext cx="4005903" cy="2716916"/>
          </a:xfrm>
          <a:prstGeom prst="rect">
            <a:avLst/>
          </a:prstGeom>
        </p:spPr>
      </p:pic>
    </p:spTree>
    <p:extLst>
      <p:ext uri="{BB962C8B-B14F-4D97-AF65-F5344CB8AC3E}">
        <p14:creationId xmlns:p14="http://schemas.microsoft.com/office/powerpoint/2010/main" val="1971142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2FAD74B-FED2-E282-D3A7-08DD2EC47B5D}"/>
            </a:ext>
          </a:extLst>
        </p:cNvPr>
        <p:cNvGrpSpPr/>
        <p:nvPr/>
      </p:nvGrpSpPr>
      <p:grpSpPr>
        <a:xfrm>
          <a:off x="0" y="0"/>
          <a:ext cx="0" cy="0"/>
          <a:chOff x="0" y="0"/>
          <a:chExt cx="0" cy="0"/>
        </a:xfrm>
      </p:grpSpPr>
      <p:sp>
        <p:nvSpPr>
          <p:cNvPr id="17" name="Elipse 16">
            <a:extLst>
              <a:ext uri="{FF2B5EF4-FFF2-40B4-BE49-F238E27FC236}">
                <a16:creationId xmlns:a16="http://schemas.microsoft.com/office/drawing/2014/main" id="{8B292458-B1AD-0F93-A8C0-631E4FCE4495}"/>
              </a:ext>
            </a:extLst>
          </p:cNvPr>
          <p:cNvSpPr/>
          <p:nvPr/>
        </p:nvSpPr>
        <p:spPr>
          <a:xfrm>
            <a:off x="488373" y="5143500"/>
            <a:ext cx="3138054" cy="1472159"/>
          </a:xfrm>
          <a:prstGeom prst="ellipse">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s-CO"/>
          </a:p>
        </p:txBody>
      </p:sp>
      <p:sp>
        <p:nvSpPr>
          <p:cNvPr id="16" name="Elipse 15">
            <a:extLst>
              <a:ext uri="{FF2B5EF4-FFF2-40B4-BE49-F238E27FC236}">
                <a16:creationId xmlns:a16="http://schemas.microsoft.com/office/drawing/2014/main" id="{AF253034-9694-4F61-3454-F9E27B9C3229}"/>
              </a:ext>
            </a:extLst>
          </p:cNvPr>
          <p:cNvSpPr/>
          <p:nvPr/>
        </p:nvSpPr>
        <p:spPr>
          <a:xfrm>
            <a:off x="93518" y="2234636"/>
            <a:ext cx="3889565" cy="2047009"/>
          </a:xfrm>
          <a:prstGeom prst="ellipse">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s-CO"/>
          </a:p>
        </p:txBody>
      </p:sp>
      <p:sp>
        <p:nvSpPr>
          <p:cNvPr id="5" name="Rectángulo: esquinas redondeadas 4">
            <a:extLst>
              <a:ext uri="{FF2B5EF4-FFF2-40B4-BE49-F238E27FC236}">
                <a16:creationId xmlns:a16="http://schemas.microsoft.com/office/drawing/2014/main" id="{6B819DD9-7CBA-505B-A8DF-83DDB4A016FF}"/>
              </a:ext>
            </a:extLst>
          </p:cNvPr>
          <p:cNvSpPr/>
          <p:nvPr/>
        </p:nvSpPr>
        <p:spPr>
          <a:xfrm>
            <a:off x="1859973" y="676032"/>
            <a:ext cx="8115300" cy="1048859"/>
          </a:xfrm>
          <a:prstGeom prst="roundRect">
            <a:avLst>
              <a:gd name="adj" fmla="val 10000"/>
            </a:avLst>
          </a:prstGeom>
        </p:spPr>
        <p:style>
          <a:lnRef idx="2">
            <a:schemeClr val="accent6"/>
          </a:lnRef>
          <a:fillRef idx="1">
            <a:schemeClr val="lt1"/>
          </a:fillRef>
          <a:effectRef idx="0">
            <a:schemeClr val="accent6"/>
          </a:effectRef>
          <a:fontRef idx="minor">
            <a:schemeClr val="dk1"/>
          </a:fontRef>
        </p:style>
        <p:txBody>
          <a:bodyPr/>
          <a:lstStyle/>
          <a:p>
            <a:endParaRPr lang="es-CO"/>
          </a:p>
        </p:txBody>
      </p:sp>
      <p:sp>
        <p:nvSpPr>
          <p:cNvPr id="6" name="CuadroTexto 5">
            <a:extLst>
              <a:ext uri="{FF2B5EF4-FFF2-40B4-BE49-F238E27FC236}">
                <a16:creationId xmlns:a16="http://schemas.microsoft.com/office/drawing/2014/main" id="{FA9BB74C-6C28-70F8-2495-D0A5A3FDC85B}"/>
              </a:ext>
            </a:extLst>
          </p:cNvPr>
          <p:cNvSpPr txBox="1"/>
          <p:nvPr/>
        </p:nvSpPr>
        <p:spPr>
          <a:xfrm>
            <a:off x="1322069" y="1000844"/>
            <a:ext cx="9293976" cy="480131"/>
          </a:xfrm>
          <a:prstGeom prst="rect">
            <a:avLst/>
          </a:prstGeom>
          <a:noFill/>
        </p:spPr>
        <p:txBody>
          <a:bodyPr wrap="square">
            <a:spAutoFit/>
          </a:bodyPr>
          <a:lstStyle/>
          <a:p>
            <a:pPr marL="228600" lvl="1" indent="-228600" algn="ctr" defTabSz="1155700">
              <a:lnSpc>
                <a:spcPct val="90000"/>
              </a:lnSpc>
              <a:spcBef>
                <a:spcPct val="0"/>
              </a:spcBef>
              <a:spcAft>
                <a:spcPct val="15000"/>
              </a:spcAft>
              <a:buChar char="•"/>
            </a:pPr>
            <a:r>
              <a:rPr lang="es-CO" sz="2800" kern="1200" dirty="0">
                <a:solidFill>
                  <a:schemeClr val="tx1"/>
                </a:solidFill>
              </a:rPr>
              <a:t>Recepción documentos administrativos</a:t>
            </a:r>
          </a:p>
        </p:txBody>
      </p:sp>
      <p:grpSp>
        <p:nvGrpSpPr>
          <p:cNvPr id="2" name="Grupo 1">
            <a:extLst>
              <a:ext uri="{FF2B5EF4-FFF2-40B4-BE49-F238E27FC236}">
                <a16:creationId xmlns:a16="http://schemas.microsoft.com/office/drawing/2014/main" id="{42D20C5C-D40C-F810-AE90-2124603CC59C}"/>
              </a:ext>
            </a:extLst>
          </p:cNvPr>
          <p:cNvGrpSpPr/>
          <p:nvPr/>
        </p:nvGrpSpPr>
        <p:grpSpPr>
          <a:xfrm>
            <a:off x="1575955" y="133015"/>
            <a:ext cx="9040090" cy="809914"/>
            <a:chOff x="-224494" y="168613"/>
            <a:chExt cx="4074609" cy="1212509"/>
          </a:xfrm>
        </p:grpSpPr>
        <p:sp>
          <p:nvSpPr>
            <p:cNvPr id="3" name="Rectángulo: esquinas redondeadas 2">
              <a:extLst>
                <a:ext uri="{FF2B5EF4-FFF2-40B4-BE49-F238E27FC236}">
                  <a16:creationId xmlns:a16="http://schemas.microsoft.com/office/drawing/2014/main" id="{C804D454-A60A-20D3-AB06-AE0FAA51CA14}"/>
                </a:ext>
              </a:extLst>
            </p:cNvPr>
            <p:cNvSpPr/>
            <p:nvPr/>
          </p:nvSpPr>
          <p:spPr>
            <a:xfrm>
              <a:off x="3108" y="168613"/>
              <a:ext cx="3453774" cy="1212509"/>
            </a:xfrm>
            <a:prstGeom prst="roundRect">
              <a:avLst>
                <a:gd name="adj" fmla="val 10000"/>
              </a:avLst>
            </a:prstGeom>
          </p:spPr>
          <p:style>
            <a:lnRef idx="1">
              <a:schemeClr val="accent5"/>
            </a:lnRef>
            <a:fillRef idx="2">
              <a:schemeClr val="accent5"/>
            </a:fillRef>
            <a:effectRef idx="1">
              <a:schemeClr val="accent5"/>
            </a:effectRef>
            <a:fontRef idx="minor">
              <a:schemeClr val="dk1"/>
            </a:fontRef>
          </p:style>
          <p:txBody>
            <a:bodyPr/>
            <a:lstStyle/>
            <a:p>
              <a:endParaRPr lang="es-ES" dirty="0"/>
            </a:p>
          </p:txBody>
        </p:sp>
        <p:sp>
          <p:nvSpPr>
            <p:cNvPr id="4" name="Rectángulo: esquinas redondeadas 4">
              <a:extLst>
                <a:ext uri="{FF2B5EF4-FFF2-40B4-BE49-F238E27FC236}">
                  <a16:creationId xmlns:a16="http://schemas.microsoft.com/office/drawing/2014/main" id="{B47765A2-08C3-9BAC-8E24-4C88A19897B3}"/>
                </a:ext>
              </a:extLst>
            </p:cNvPr>
            <p:cNvSpPr txBox="1"/>
            <p:nvPr/>
          </p:nvSpPr>
          <p:spPr>
            <a:xfrm>
              <a:off x="-224494" y="226924"/>
              <a:ext cx="4074609" cy="9879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ctr" defTabSz="1155700">
                <a:lnSpc>
                  <a:spcPct val="90000"/>
                </a:lnSpc>
                <a:spcBef>
                  <a:spcPct val="0"/>
                </a:spcBef>
                <a:spcAft>
                  <a:spcPct val="35000"/>
                </a:spcAft>
                <a:buNone/>
              </a:pPr>
              <a:r>
                <a:rPr lang="es-CO" sz="2800" b="1" kern="1200" dirty="0"/>
                <a:t>Paso </a:t>
              </a:r>
              <a:r>
                <a:rPr lang="es-CO" sz="2800" b="1" dirty="0"/>
                <a:t>3</a:t>
              </a:r>
              <a:r>
                <a:rPr lang="es-CO" sz="2800" b="1" kern="1200" dirty="0"/>
                <a:t> – proceso administrativo </a:t>
              </a:r>
            </a:p>
          </p:txBody>
        </p:sp>
      </p:grpSp>
      <p:graphicFrame>
        <p:nvGraphicFramePr>
          <p:cNvPr id="10" name="CuadroTexto 6">
            <a:extLst>
              <a:ext uri="{FF2B5EF4-FFF2-40B4-BE49-F238E27FC236}">
                <a16:creationId xmlns:a16="http://schemas.microsoft.com/office/drawing/2014/main" id="{6D55985A-EA78-5BFF-B75C-0B5C3B6450C3}"/>
              </a:ext>
            </a:extLst>
          </p:cNvPr>
          <p:cNvGraphicFramePr/>
          <p:nvPr>
            <p:extLst>
              <p:ext uri="{D42A27DB-BD31-4B8C-83A1-F6EECF244321}">
                <p14:modId xmlns:p14="http://schemas.microsoft.com/office/powerpoint/2010/main" val="2062831383"/>
              </p:ext>
            </p:extLst>
          </p:nvPr>
        </p:nvGraphicFramePr>
        <p:xfrm>
          <a:off x="4088674" y="1828800"/>
          <a:ext cx="7796794" cy="47868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uadroTexto 7">
            <a:extLst>
              <a:ext uri="{FF2B5EF4-FFF2-40B4-BE49-F238E27FC236}">
                <a16:creationId xmlns:a16="http://schemas.microsoft.com/office/drawing/2014/main" id="{01531F66-491B-267F-95A0-545DF90050B7}"/>
              </a:ext>
            </a:extLst>
          </p:cNvPr>
          <p:cNvSpPr txBox="1"/>
          <p:nvPr/>
        </p:nvSpPr>
        <p:spPr>
          <a:xfrm>
            <a:off x="178759" y="2718662"/>
            <a:ext cx="3804324" cy="1677382"/>
          </a:xfrm>
          <a:prstGeom prst="rect">
            <a:avLst/>
          </a:prstGeom>
          <a:noFill/>
        </p:spPr>
        <p:txBody>
          <a:bodyPr wrap="square" rtlCol="0">
            <a:spAutoFit/>
          </a:bodyPr>
          <a:lstStyle/>
          <a:p>
            <a:pPr algn="ctr"/>
            <a:r>
              <a:rPr lang="es-MX" sz="1700" dirty="0"/>
              <a:t>Una vez el Aprendiz se encuentre en estado </a:t>
            </a:r>
            <a:r>
              <a:rPr lang="es-MX" sz="1700" b="1" dirty="0"/>
              <a:t>POR CERTIFICAR</a:t>
            </a:r>
            <a:r>
              <a:rPr lang="es-MX" sz="1700" dirty="0"/>
              <a:t>, se debe solicitar los documentos administrativos para dar inicio y apoyo al proceso de Certificación.</a:t>
            </a:r>
            <a:endParaRPr lang="en-US" sz="1700" dirty="0"/>
          </a:p>
          <a:p>
            <a:endParaRPr lang="es-CO" dirty="0"/>
          </a:p>
        </p:txBody>
      </p:sp>
      <p:sp>
        <p:nvSpPr>
          <p:cNvPr id="15" name="CuadroTexto 14">
            <a:extLst>
              <a:ext uri="{FF2B5EF4-FFF2-40B4-BE49-F238E27FC236}">
                <a16:creationId xmlns:a16="http://schemas.microsoft.com/office/drawing/2014/main" id="{44EBA921-4258-CCF4-AA30-0ACCDFC6289F}"/>
              </a:ext>
            </a:extLst>
          </p:cNvPr>
          <p:cNvSpPr txBox="1"/>
          <p:nvPr/>
        </p:nvSpPr>
        <p:spPr>
          <a:xfrm>
            <a:off x="735298" y="5373366"/>
            <a:ext cx="2606004" cy="1523494"/>
          </a:xfrm>
          <a:prstGeom prst="rect">
            <a:avLst/>
          </a:prstGeom>
          <a:noFill/>
        </p:spPr>
        <p:txBody>
          <a:bodyPr wrap="square" rtlCol="0">
            <a:spAutoFit/>
          </a:bodyPr>
          <a:lstStyle/>
          <a:p>
            <a:pPr algn="ctr"/>
            <a:r>
              <a:rPr lang="es-MX" sz="1500" b="1" dirty="0">
                <a:solidFill>
                  <a:srgbClr val="FF0000"/>
                </a:solidFill>
              </a:rPr>
              <a:t>Estos documentos se deben recibir durante los ocho (8) días máximo para la evaluación del RAP de Etapa Practica</a:t>
            </a:r>
            <a:endParaRPr lang="en-US" sz="1500" b="1" dirty="0">
              <a:solidFill>
                <a:srgbClr val="FF0000"/>
              </a:solidFill>
            </a:endParaRPr>
          </a:p>
          <a:p>
            <a:endParaRPr lang="es-CO" dirty="0"/>
          </a:p>
        </p:txBody>
      </p:sp>
      <p:sp>
        <p:nvSpPr>
          <p:cNvPr id="18" name="Flecha: hacia abajo 17">
            <a:extLst>
              <a:ext uri="{FF2B5EF4-FFF2-40B4-BE49-F238E27FC236}">
                <a16:creationId xmlns:a16="http://schemas.microsoft.com/office/drawing/2014/main" id="{3D2929D2-8213-127E-646E-67A69D5701E6}"/>
              </a:ext>
            </a:extLst>
          </p:cNvPr>
          <p:cNvSpPr/>
          <p:nvPr/>
        </p:nvSpPr>
        <p:spPr>
          <a:xfrm>
            <a:off x="1859973" y="4495827"/>
            <a:ext cx="374072" cy="533274"/>
          </a:xfrm>
          <a:prstGeom prst="downArrow">
            <a:avLst>
              <a:gd name="adj1" fmla="val 50000"/>
              <a:gd name="adj2" fmla="val 58219"/>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3760674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B7B0C02F-C913-1E77-75D0-098D1D412382}"/>
              </a:ext>
            </a:extLst>
          </p:cNvPr>
          <p:cNvSpPr/>
          <p:nvPr/>
        </p:nvSpPr>
        <p:spPr>
          <a:xfrm>
            <a:off x="1239982" y="676032"/>
            <a:ext cx="9119753" cy="1240491"/>
          </a:xfrm>
          <a:prstGeom prst="roundRect">
            <a:avLst>
              <a:gd name="adj" fmla="val 10000"/>
            </a:avLst>
          </a:prstGeom>
          <a:ln>
            <a:solidFill>
              <a:srgbClr val="C00000"/>
            </a:solidFill>
          </a:ln>
        </p:spPr>
        <p:style>
          <a:lnRef idx="2">
            <a:schemeClr val="accent6"/>
          </a:lnRef>
          <a:fillRef idx="1">
            <a:schemeClr val="lt1"/>
          </a:fillRef>
          <a:effectRef idx="0">
            <a:schemeClr val="accent6"/>
          </a:effectRef>
          <a:fontRef idx="minor">
            <a:schemeClr val="dk1"/>
          </a:fontRef>
        </p:style>
        <p:txBody>
          <a:bodyPr/>
          <a:lstStyle/>
          <a:p>
            <a:endParaRPr lang="es-CO"/>
          </a:p>
        </p:txBody>
      </p:sp>
      <p:grpSp>
        <p:nvGrpSpPr>
          <p:cNvPr id="4" name="Grupo 3">
            <a:extLst>
              <a:ext uri="{FF2B5EF4-FFF2-40B4-BE49-F238E27FC236}">
                <a16:creationId xmlns:a16="http://schemas.microsoft.com/office/drawing/2014/main" id="{1CB9A38D-808D-C0A2-9C98-039ECE8BAFF8}"/>
              </a:ext>
            </a:extLst>
          </p:cNvPr>
          <p:cNvGrpSpPr/>
          <p:nvPr/>
        </p:nvGrpSpPr>
        <p:grpSpPr>
          <a:xfrm>
            <a:off x="1575955" y="133015"/>
            <a:ext cx="9040090" cy="809914"/>
            <a:chOff x="-224494" y="168613"/>
            <a:chExt cx="4074609" cy="1212509"/>
          </a:xfrm>
        </p:grpSpPr>
        <p:sp>
          <p:nvSpPr>
            <p:cNvPr id="5" name="Rectángulo: esquinas redondeadas 4">
              <a:extLst>
                <a:ext uri="{FF2B5EF4-FFF2-40B4-BE49-F238E27FC236}">
                  <a16:creationId xmlns:a16="http://schemas.microsoft.com/office/drawing/2014/main" id="{A0F0C7AF-D555-CC73-B893-6AC1AAC0D188}"/>
                </a:ext>
              </a:extLst>
            </p:cNvPr>
            <p:cNvSpPr/>
            <p:nvPr/>
          </p:nvSpPr>
          <p:spPr>
            <a:xfrm>
              <a:off x="3108" y="168613"/>
              <a:ext cx="3453774" cy="1212509"/>
            </a:xfrm>
            <a:prstGeom prst="roundRect">
              <a:avLst>
                <a:gd name="adj" fmla="val 10000"/>
              </a:avLst>
            </a:prstGeom>
          </p:spPr>
          <p:style>
            <a:lnRef idx="1">
              <a:schemeClr val="accent2"/>
            </a:lnRef>
            <a:fillRef idx="2">
              <a:schemeClr val="accent2"/>
            </a:fillRef>
            <a:effectRef idx="1">
              <a:schemeClr val="accent2"/>
            </a:effectRef>
            <a:fontRef idx="minor">
              <a:schemeClr val="dk1"/>
            </a:fontRef>
          </p:style>
          <p:txBody>
            <a:bodyPr/>
            <a:lstStyle/>
            <a:p>
              <a:endParaRPr lang="es-ES" dirty="0"/>
            </a:p>
          </p:txBody>
        </p:sp>
        <p:sp>
          <p:nvSpPr>
            <p:cNvPr id="6" name="Rectángulo: esquinas redondeadas 4">
              <a:extLst>
                <a:ext uri="{FF2B5EF4-FFF2-40B4-BE49-F238E27FC236}">
                  <a16:creationId xmlns:a16="http://schemas.microsoft.com/office/drawing/2014/main" id="{59713B95-AB46-0BFC-F92F-41170122FD85}"/>
                </a:ext>
              </a:extLst>
            </p:cNvPr>
            <p:cNvSpPr txBox="1"/>
            <p:nvPr/>
          </p:nvSpPr>
          <p:spPr>
            <a:xfrm>
              <a:off x="-224494" y="226924"/>
              <a:ext cx="4074609" cy="9879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ctr" defTabSz="1155700">
                <a:lnSpc>
                  <a:spcPct val="90000"/>
                </a:lnSpc>
                <a:spcBef>
                  <a:spcPct val="0"/>
                </a:spcBef>
                <a:spcAft>
                  <a:spcPct val="35000"/>
                </a:spcAft>
                <a:buNone/>
              </a:pPr>
              <a:r>
                <a:rPr lang="es-CO" sz="2800" b="1" kern="1200" dirty="0"/>
                <a:t>Paso 4 – Expediente y SharePoint</a:t>
              </a:r>
            </a:p>
          </p:txBody>
        </p:sp>
      </p:grpSp>
      <p:sp>
        <p:nvSpPr>
          <p:cNvPr id="8" name="CuadroTexto 7">
            <a:extLst>
              <a:ext uri="{FF2B5EF4-FFF2-40B4-BE49-F238E27FC236}">
                <a16:creationId xmlns:a16="http://schemas.microsoft.com/office/drawing/2014/main" id="{6ADBA0ED-158E-1BCA-17C4-B7D360EB498B}"/>
              </a:ext>
            </a:extLst>
          </p:cNvPr>
          <p:cNvSpPr txBox="1"/>
          <p:nvPr/>
        </p:nvSpPr>
        <p:spPr>
          <a:xfrm>
            <a:off x="1239981" y="1002427"/>
            <a:ext cx="9119754" cy="1837426"/>
          </a:xfrm>
          <a:prstGeom prst="rect">
            <a:avLst/>
          </a:prstGeom>
          <a:noFill/>
        </p:spPr>
        <p:txBody>
          <a:bodyPr wrap="square">
            <a:spAutoFit/>
          </a:bodyPr>
          <a:lstStyle/>
          <a:p>
            <a:pPr marL="228600" lvl="1" indent="-228600" algn="ctr" defTabSz="1155700">
              <a:lnSpc>
                <a:spcPct val="90000"/>
              </a:lnSpc>
              <a:spcBef>
                <a:spcPct val="0"/>
              </a:spcBef>
              <a:spcAft>
                <a:spcPct val="15000"/>
              </a:spcAft>
              <a:buChar char="•"/>
            </a:pPr>
            <a:r>
              <a:rPr lang="es-CO" sz="2800" kern="1200" dirty="0">
                <a:solidFill>
                  <a:schemeClr val="tx1"/>
                </a:solidFill>
              </a:rPr>
              <a:t>Unificar documentos de EP y documentos administrativos</a:t>
            </a:r>
          </a:p>
          <a:p>
            <a:pPr marL="228600" lvl="1" indent="-228600" algn="ctr" defTabSz="1155700">
              <a:lnSpc>
                <a:spcPct val="90000"/>
              </a:lnSpc>
              <a:spcBef>
                <a:spcPct val="0"/>
              </a:spcBef>
              <a:spcAft>
                <a:spcPct val="15000"/>
              </a:spcAft>
              <a:buChar char="•"/>
            </a:pPr>
            <a:r>
              <a:rPr lang="es-CO" sz="2800" dirty="0"/>
              <a:t>Inicio apoyo proceso de certificación</a:t>
            </a:r>
            <a:endParaRPr lang="es-CO" sz="2800" kern="1200" dirty="0">
              <a:solidFill>
                <a:schemeClr val="tx1"/>
              </a:solidFill>
            </a:endParaRPr>
          </a:p>
          <a:p>
            <a:pPr marL="228600" lvl="1" indent="-228600" algn="ctr" defTabSz="1155700">
              <a:lnSpc>
                <a:spcPct val="90000"/>
              </a:lnSpc>
              <a:spcBef>
                <a:spcPct val="0"/>
              </a:spcBef>
              <a:spcAft>
                <a:spcPct val="15000"/>
              </a:spcAft>
              <a:buChar char="•"/>
            </a:pPr>
            <a:endParaRPr lang="es-CO" sz="2800" kern="1200" dirty="0">
              <a:solidFill>
                <a:schemeClr val="tx1"/>
              </a:solidFill>
            </a:endParaRPr>
          </a:p>
          <a:p>
            <a:pPr marL="0" lvl="1" algn="ctr" defTabSz="1155700">
              <a:lnSpc>
                <a:spcPct val="90000"/>
              </a:lnSpc>
              <a:spcBef>
                <a:spcPct val="0"/>
              </a:spcBef>
              <a:spcAft>
                <a:spcPct val="15000"/>
              </a:spcAft>
            </a:pPr>
            <a:endParaRPr lang="es-CO" sz="2800" kern="1200" dirty="0">
              <a:solidFill>
                <a:schemeClr val="tx1"/>
              </a:solidFill>
            </a:endParaRPr>
          </a:p>
        </p:txBody>
      </p:sp>
      <p:sp>
        <p:nvSpPr>
          <p:cNvPr id="9" name="CuadroTexto 8">
            <a:extLst>
              <a:ext uri="{FF2B5EF4-FFF2-40B4-BE49-F238E27FC236}">
                <a16:creationId xmlns:a16="http://schemas.microsoft.com/office/drawing/2014/main" id="{818DE461-9717-076E-8E8B-F019B2C11D17}"/>
              </a:ext>
            </a:extLst>
          </p:cNvPr>
          <p:cNvSpPr txBox="1"/>
          <p:nvPr/>
        </p:nvSpPr>
        <p:spPr>
          <a:xfrm>
            <a:off x="285747" y="2420590"/>
            <a:ext cx="5366905" cy="3539430"/>
          </a:xfrm>
          <a:prstGeom prst="rect">
            <a:avLst/>
          </a:prstGeom>
          <a:noFill/>
        </p:spPr>
        <p:txBody>
          <a:bodyPr wrap="square" rtlCol="0">
            <a:spAutoFit/>
          </a:bodyPr>
          <a:lstStyle/>
          <a:p>
            <a:pPr algn="just"/>
            <a:r>
              <a:rPr lang="es-MX" sz="1600" dirty="0"/>
              <a:t>El instructor debe unificar los documentos de Etapa productiva (F023 y Bitácoras) con los documentos administrativos mencionados anteriormente y nombrar el archivo </a:t>
            </a:r>
            <a:r>
              <a:rPr lang="es-MX" sz="1600" dirty="0">
                <a:solidFill>
                  <a:srgbClr val="FF0000"/>
                </a:solidFill>
              </a:rPr>
              <a:t>numeroacta2025_CC_1001191767_2341382</a:t>
            </a:r>
          </a:p>
          <a:p>
            <a:pPr algn="just"/>
            <a:endParaRPr lang="es-MX" sz="1600" dirty="0"/>
          </a:p>
          <a:p>
            <a:pPr algn="just"/>
            <a:r>
              <a:rPr lang="es-MX" sz="1600" dirty="0"/>
              <a:t>El instructor debe entrar al SharePoint de la coordinación, abrir la carpeta </a:t>
            </a:r>
            <a:r>
              <a:rPr lang="es-MX" sz="1600" b="1" dirty="0"/>
              <a:t>06. CERTIFICACIÓN</a:t>
            </a:r>
            <a:r>
              <a:rPr lang="es-MX" sz="1600" dirty="0"/>
              <a:t>, ingresar al archivo 01. SEGUIMIENTO NUMERO DE ACTAS, seleccionar el consecutivo correspondiente registrando la fecha y demás información que corresponde.</a:t>
            </a:r>
          </a:p>
          <a:p>
            <a:pPr algn="just"/>
            <a:endParaRPr lang="es-MX" sz="1600" dirty="0"/>
          </a:p>
          <a:p>
            <a:pPr algn="just"/>
            <a:r>
              <a:rPr lang="es-MX" sz="1600" dirty="0"/>
              <a:t>En el mismo archivo 01. SEGUIMIENTO NUMERO DE ACTAS debe ir a la hoja DETALLES DE APRENDICES y registrar la información correcta y completa</a:t>
            </a:r>
            <a:endParaRPr lang="es-CO" sz="1600" dirty="0"/>
          </a:p>
        </p:txBody>
      </p:sp>
      <p:sp>
        <p:nvSpPr>
          <p:cNvPr id="10" name="Rectangle 1">
            <a:extLst>
              <a:ext uri="{FF2B5EF4-FFF2-40B4-BE49-F238E27FC236}">
                <a16:creationId xmlns:a16="http://schemas.microsoft.com/office/drawing/2014/main" id="{13AF009E-25FA-FBD5-CC03-7CBDDC78A2CE}"/>
              </a:ext>
            </a:extLst>
          </p:cNvPr>
          <p:cNvSpPr>
            <a:spLocks noChangeArrowheads="1"/>
          </p:cNvSpPr>
          <p:nvPr/>
        </p:nvSpPr>
        <p:spPr bwMode="auto">
          <a:xfrm>
            <a:off x="171950" y="6156310"/>
            <a:ext cx="660292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400" b="0" i="0" u="none" strike="noStrike" cap="none" normalizeH="0" baseline="0" dirty="0">
                <a:ln>
                  <a:noFill/>
                </a:ln>
                <a:solidFill>
                  <a:schemeClr val="tx1"/>
                </a:solidFill>
                <a:effectLst/>
                <a:latin typeface="Arial" panose="020B0604020202020204" pitchFamily="34" charset="0"/>
                <a:hlinkClick r:id="rId3"/>
              </a:rPr>
              <a:t>01. SEGUIMIENTO NUMERO DE ACTAS CERTIFICACION 2025.xlsx</a:t>
            </a:r>
            <a:endParaRPr kumimoji="0" lang="es-CO" altLang="es-CO" sz="1400" b="0" i="0" u="none" strike="noStrike" cap="none" normalizeH="0" baseline="0" dirty="0">
              <a:ln>
                <a:noFill/>
              </a:ln>
              <a:solidFill>
                <a:schemeClr val="tx1"/>
              </a:solidFill>
              <a:effectLst/>
              <a:latin typeface="Arial" panose="020B0604020202020204" pitchFamily="34" charset="0"/>
            </a:endParaRPr>
          </a:p>
        </p:txBody>
      </p:sp>
      <p:pic>
        <p:nvPicPr>
          <p:cNvPr id="6151" name="Picture 7" descr="Talk conversation and speaking dialogue concept">
            <a:extLst>
              <a:ext uri="{FF2B5EF4-FFF2-40B4-BE49-F238E27FC236}">
                <a16:creationId xmlns:a16="http://schemas.microsoft.com/office/drawing/2014/main" id="{464C2A58-F28B-8F18-4429-7CA356101A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0750" y="2105360"/>
            <a:ext cx="5829300" cy="4619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8058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D5F30AF-7B5A-B4A1-9199-A00D083458C5}"/>
            </a:ext>
          </a:extLst>
        </p:cNvPr>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C2F3B48D-2D0E-91FC-0E32-C65DA6C26027}"/>
              </a:ext>
            </a:extLst>
          </p:cNvPr>
          <p:cNvSpPr/>
          <p:nvPr/>
        </p:nvSpPr>
        <p:spPr>
          <a:xfrm>
            <a:off x="1239982" y="414772"/>
            <a:ext cx="9119753" cy="1132937"/>
          </a:xfrm>
          <a:prstGeom prst="roundRect">
            <a:avLst>
              <a:gd name="adj" fmla="val 10000"/>
            </a:avLst>
          </a:prstGeom>
          <a:ln>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a:lstStyle/>
          <a:p>
            <a:endParaRPr lang="es-CO"/>
          </a:p>
        </p:txBody>
      </p:sp>
      <p:grpSp>
        <p:nvGrpSpPr>
          <p:cNvPr id="4" name="Grupo 3">
            <a:extLst>
              <a:ext uri="{FF2B5EF4-FFF2-40B4-BE49-F238E27FC236}">
                <a16:creationId xmlns:a16="http://schemas.microsoft.com/office/drawing/2014/main" id="{43B939CF-803B-3670-C876-A3DC851F583F}"/>
              </a:ext>
            </a:extLst>
          </p:cNvPr>
          <p:cNvGrpSpPr/>
          <p:nvPr/>
        </p:nvGrpSpPr>
        <p:grpSpPr>
          <a:xfrm>
            <a:off x="1575955" y="93588"/>
            <a:ext cx="9040090" cy="659931"/>
            <a:chOff x="-224494" y="168255"/>
            <a:chExt cx="4074609" cy="987971"/>
          </a:xfrm>
        </p:grpSpPr>
        <p:sp>
          <p:nvSpPr>
            <p:cNvPr id="5" name="Rectángulo: esquinas redondeadas 4">
              <a:extLst>
                <a:ext uri="{FF2B5EF4-FFF2-40B4-BE49-F238E27FC236}">
                  <a16:creationId xmlns:a16="http://schemas.microsoft.com/office/drawing/2014/main" id="{3AAA6A7B-FBAE-5C2D-BA54-AA7B25E7BD6F}"/>
                </a:ext>
              </a:extLst>
            </p:cNvPr>
            <p:cNvSpPr/>
            <p:nvPr/>
          </p:nvSpPr>
          <p:spPr>
            <a:xfrm>
              <a:off x="3108" y="168613"/>
              <a:ext cx="3453774" cy="909389"/>
            </a:xfrm>
            <a:prstGeom prst="roundRect">
              <a:avLst>
                <a:gd name="adj" fmla="val 10000"/>
              </a:avLst>
            </a:prstGeom>
            <a:solidFill>
              <a:schemeClr val="bg2">
                <a:lumMod val="9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a:lstStyle/>
            <a:p>
              <a:endParaRPr lang="es-ES" dirty="0"/>
            </a:p>
          </p:txBody>
        </p:sp>
        <p:sp>
          <p:nvSpPr>
            <p:cNvPr id="6" name="Rectángulo: esquinas redondeadas 4">
              <a:extLst>
                <a:ext uri="{FF2B5EF4-FFF2-40B4-BE49-F238E27FC236}">
                  <a16:creationId xmlns:a16="http://schemas.microsoft.com/office/drawing/2014/main" id="{74085B5D-BCD6-885B-CFB8-D55FFEAAEE3B}"/>
                </a:ext>
              </a:extLst>
            </p:cNvPr>
            <p:cNvSpPr txBox="1"/>
            <p:nvPr/>
          </p:nvSpPr>
          <p:spPr>
            <a:xfrm>
              <a:off x="-224494" y="168255"/>
              <a:ext cx="4074609" cy="98797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ctr" defTabSz="1155700">
                <a:lnSpc>
                  <a:spcPct val="90000"/>
                </a:lnSpc>
                <a:spcBef>
                  <a:spcPct val="0"/>
                </a:spcBef>
                <a:spcAft>
                  <a:spcPct val="35000"/>
                </a:spcAft>
                <a:buNone/>
              </a:pPr>
              <a:r>
                <a:rPr lang="es-CO" sz="2800" b="1" kern="1200" dirty="0"/>
                <a:t>Paso 5 – Elaboración Acta</a:t>
              </a:r>
            </a:p>
          </p:txBody>
        </p:sp>
      </p:grpSp>
      <p:sp>
        <p:nvSpPr>
          <p:cNvPr id="8" name="CuadroTexto 7">
            <a:extLst>
              <a:ext uri="{FF2B5EF4-FFF2-40B4-BE49-F238E27FC236}">
                <a16:creationId xmlns:a16="http://schemas.microsoft.com/office/drawing/2014/main" id="{D39DCF49-A6E2-5BF6-57E3-5E853DF4FB63}"/>
              </a:ext>
            </a:extLst>
          </p:cNvPr>
          <p:cNvSpPr txBox="1"/>
          <p:nvPr/>
        </p:nvSpPr>
        <p:spPr>
          <a:xfrm>
            <a:off x="1239981" y="728103"/>
            <a:ext cx="9119754" cy="1740476"/>
          </a:xfrm>
          <a:prstGeom prst="rect">
            <a:avLst/>
          </a:prstGeom>
          <a:noFill/>
        </p:spPr>
        <p:txBody>
          <a:bodyPr wrap="square">
            <a:spAutoFit/>
          </a:bodyPr>
          <a:lstStyle/>
          <a:p>
            <a:pPr marL="228600" lvl="1" indent="-228600" algn="ctr" defTabSz="1155700">
              <a:lnSpc>
                <a:spcPct val="90000"/>
              </a:lnSpc>
              <a:spcBef>
                <a:spcPct val="0"/>
              </a:spcBef>
              <a:spcAft>
                <a:spcPct val="15000"/>
              </a:spcAft>
              <a:buChar char="•"/>
            </a:pPr>
            <a:r>
              <a:rPr lang="es-CO" sz="2500" kern="1200" dirty="0">
                <a:solidFill>
                  <a:schemeClr val="tx1"/>
                </a:solidFill>
              </a:rPr>
              <a:t>Elaboración de acta formato </a:t>
            </a:r>
          </a:p>
          <a:p>
            <a:pPr marL="0" lvl="1" algn="ctr" defTabSz="1155700">
              <a:lnSpc>
                <a:spcPct val="90000"/>
              </a:lnSpc>
              <a:spcBef>
                <a:spcPct val="0"/>
              </a:spcBef>
              <a:spcAft>
                <a:spcPct val="15000"/>
              </a:spcAft>
            </a:pPr>
            <a:r>
              <a:rPr lang="es-MX" sz="2500" kern="1200" dirty="0">
                <a:solidFill>
                  <a:schemeClr val="tx1"/>
                </a:solidFill>
              </a:rPr>
              <a:t>GOR-F-084 ActaV02 y GOR-F-085V02</a:t>
            </a:r>
            <a:endParaRPr lang="es-CO" sz="2500" kern="1200" dirty="0">
              <a:solidFill>
                <a:schemeClr val="tx1"/>
              </a:solidFill>
            </a:endParaRPr>
          </a:p>
          <a:p>
            <a:pPr marL="228600" lvl="1" indent="-228600" algn="ctr" defTabSz="1155700">
              <a:lnSpc>
                <a:spcPct val="90000"/>
              </a:lnSpc>
              <a:spcBef>
                <a:spcPct val="0"/>
              </a:spcBef>
              <a:spcAft>
                <a:spcPct val="15000"/>
              </a:spcAft>
              <a:buChar char="•"/>
            </a:pPr>
            <a:endParaRPr lang="es-CO" sz="2800" kern="1200" dirty="0">
              <a:solidFill>
                <a:schemeClr val="tx1"/>
              </a:solidFill>
            </a:endParaRPr>
          </a:p>
          <a:p>
            <a:pPr marL="0" lvl="1" algn="ctr" defTabSz="1155700">
              <a:lnSpc>
                <a:spcPct val="90000"/>
              </a:lnSpc>
              <a:spcBef>
                <a:spcPct val="0"/>
              </a:spcBef>
              <a:spcAft>
                <a:spcPct val="15000"/>
              </a:spcAft>
            </a:pPr>
            <a:endParaRPr lang="es-CO" sz="2800" kern="1200" dirty="0">
              <a:solidFill>
                <a:schemeClr val="tx1"/>
              </a:solidFill>
            </a:endParaRPr>
          </a:p>
        </p:txBody>
      </p:sp>
      <p:graphicFrame>
        <p:nvGraphicFramePr>
          <p:cNvPr id="7177" name="CuadroTexto 8">
            <a:extLst>
              <a:ext uri="{FF2B5EF4-FFF2-40B4-BE49-F238E27FC236}">
                <a16:creationId xmlns:a16="http://schemas.microsoft.com/office/drawing/2014/main" id="{10D4B9C8-217B-0393-6210-23153FB869F5}"/>
              </a:ext>
            </a:extLst>
          </p:cNvPr>
          <p:cNvGraphicFramePr/>
          <p:nvPr>
            <p:extLst>
              <p:ext uri="{D42A27DB-BD31-4B8C-83A1-F6EECF244321}">
                <p14:modId xmlns:p14="http://schemas.microsoft.com/office/powerpoint/2010/main" val="99289690"/>
              </p:ext>
            </p:extLst>
          </p:nvPr>
        </p:nvGraphicFramePr>
        <p:xfrm>
          <a:off x="1239980" y="1632857"/>
          <a:ext cx="9376065" cy="4740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tangle 8">
            <a:extLst>
              <a:ext uri="{FF2B5EF4-FFF2-40B4-BE49-F238E27FC236}">
                <a16:creationId xmlns:a16="http://schemas.microsoft.com/office/drawing/2014/main" id="{F5832C22-065D-B5AB-ECFB-5780D4ABD3AF}"/>
              </a:ext>
            </a:extLst>
          </p:cNvPr>
          <p:cNvSpPr>
            <a:spLocks noChangeArrowheads="1"/>
          </p:cNvSpPr>
          <p:nvPr/>
        </p:nvSpPr>
        <p:spPr bwMode="auto">
          <a:xfrm>
            <a:off x="2331027" y="6422371"/>
            <a:ext cx="1219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400" b="0" i="0" u="none" strike="noStrike" cap="none" normalizeH="0" baseline="0" dirty="0">
                <a:ln>
                  <a:noFill/>
                </a:ln>
                <a:solidFill>
                  <a:schemeClr val="tx1"/>
                </a:solidFill>
                <a:effectLst/>
                <a:latin typeface="Arial" panose="020B0604020202020204" pitchFamily="34" charset="0"/>
                <a:hlinkClick r:id="rId8"/>
              </a:rPr>
              <a:t>GOR-F-084 ActaV02 y GOR-F-085V02 MODELO ACTA PROCESO DE CERTIFICACIÒN.docx</a:t>
            </a:r>
            <a:endParaRPr kumimoji="0" lang="es-CO" altLang="es-CO"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86798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7BDE56F-D7F5-EF43-3745-962DBD368635}"/>
            </a:ext>
          </a:extLst>
        </p:cNvPr>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3298A815-FA70-4458-5845-EA6A902E577F}"/>
              </a:ext>
            </a:extLst>
          </p:cNvPr>
          <p:cNvSpPr/>
          <p:nvPr/>
        </p:nvSpPr>
        <p:spPr>
          <a:xfrm>
            <a:off x="1745673" y="676033"/>
            <a:ext cx="8365406" cy="851432"/>
          </a:xfrm>
          <a:prstGeom prst="roundRect">
            <a:avLst>
              <a:gd name="adj" fmla="val 10000"/>
            </a:avLst>
          </a:prstGeom>
          <a:ln>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a:lstStyle/>
          <a:p>
            <a:endParaRPr lang="es-CO"/>
          </a:p>
        </p:txBody>
      </p:sp>
      <p:grpSp>
        <p:nvGrpSpPr>
          <p:cNvPr id="4" name="Grupo 3">
            <a:extLst>
              <a:ext uri="{FF2B5EF4-FFF2-40B4-BE49-F238E27FC236}">
                <a16:creationId xmlns:a16="http://schemas.microsoft.com/office/drawing/2014/main" id="{306863E7-3283-6041-8026-050FC68367CF}"/>
              </a:ext>
            </a:extLst>
          </p:cNvPr>
          <p:cNvGrpSpPr/>
          <p:nvPr/>
        </p:nvGrpSpPr>
        <p:grpSpPr>
          <a:xfrm>
            <a:off x="1575955" y="133015"/>
            <a:ext cx="9040090" cy="809914"/>
            <a:chOff x="-224494" y="168613"/>
            <a:chExt cx="4074609" cy="1212509"/>
          </a:xfrm>
        </p:grpSpPr>
        <p:sp>
          <p:nvSpPr>
            <p:cNvPr id="5" name="Rectángulo: esquinas redondeadas 4">
              <a:extLst>
                <a:ext uri="{FF2B5EF4-FFF2-40B4-BE49-F238E27FC236}">
                  <a16:creationId xmlns:a16="http://schemas.microsoft.com/office/drawing/2014/main" id="{334B5400-DC1A-1309-0685-EB8D24285A5E}"/>
                </a:ext>
              </a:extLst>
            </p:cNvPr>
            <p:cNvSpPr/>
            <p:nvPr/>
          </p:nvSpPr>
          <p:spPr>
            <a:xfrm>
              <a:off x="3108" y="168613"/>
              <a:ext cx="3453774" cy="1212509"/>
            </a:xfrm>
            <a:prstGeom prst="roundRect">
              <a:avLst>
                <a:gd name="adj" fmla="val 10000"/>
              </a:avLst>
            </a:prstGeom>
            <a:solidFill>
              <a:schemeClr val="accent2">
                <a:lumMod val="40000"/>
                <a:lumOff val="6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a:lstStyle/>
            <a:p>
              <a:endParaRPr lang="es-ES" dirty="0"/>
            </a:p>
          </p:txBody>
        </p:sp>
        <p:sp>
          <p:nvSpPr>
            <p:cNvPr id="6" name="Rectángulo: esquinas redondeadas 4">
              <a:extLst>
                <a:ext uri="{FF2B5EF4-FFF2-40B4-BE49-F238E27FC236}">
                  <a16:creationId xmlns:a16="http://schemas.microsoft.com/office/drawing/2014/main" id="{3807F1D4-4B77-602E-23A8-434A79FE76BD}"/>
                </a:ext>
              </a:extLst>
            </p:cNvPr>
            <p:cNvSpPr txBox="1"/>
            <p:nvPr/>
          </p:nvSpPr>
          <p:spPr>
            <a:xfrm>
              <a:off x="-224494" y="226924"/>
              <a:ext cx="4074609" cy="9879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ctr" defTabSz="1155700">
                <a:lnSpc>
                  <a:spcPct val="90000"/>
                </a:lnSpc>
                <a:spcBef>
                  <a:spcPct val="0"/>
                </a:spcBef>
                <a:spcAft>
                  <a:spcPct val="35000"/>
                </a:spcAft>
                <a:buNone/>
              </a:pPr>
              <a:r>
                <a:rPr lang="es-CO" sz="2800" b="1" kern="1200" dirty="0"/>
                <a:t>Paso 6 – SharePoint</a:t>
              </a:r>
            </a:p>
          </p:txBody>
        </p:sp>
      </p:grpSp>
      <p:sp>
        <p:nvSpPr>
          <p:cNvPr id="8" name="CuadroTexto 7">
            <a:extLst>
              <a:ext uri="{FF2B5EF4-FFF2-40B4-BE49-F238E27FC236}">
                <a16:creationId xmlns:a16="http://schemas.microsoft.com/office/drawing/2014/main" id="{1257E6E7-FAB7-61F2-D5D8-44A62961A1F0}"/>
              </a:ext>
            </a:extLst>
          </p:cNvPr>
          <p:cNvSpPr txBox="1"/>
          <p:nvPr/>
        </p:nvSpPr>
        <p:spPr>
          <a:xfrm>
            <a:off x="1239981" y="1002427"/>
            <a:ext cx="9119754" cy="1384995"/>
          </a:xfrm>
          <a:prstGeom prst="rect">
            <a:avLst/>
          </a:prstGeom>
          <a:noFill/>
        </p:spPr>
        <p:txBody>
          <a:bodyPr wrap="square">
            <a:spAutoFit/>
          </a:bodyPr>
          <a:lstStyle/>
          <a:p>
            <a:pPr marL="228600" lvl="1" indent="-228600" algn="ctr" defTabSz="1155700">
              <a:lnSpc>
                <a:spcPct val="90000"/>
              </a:lnSpc>
              <a:spcBef>
                <a:spcPct val="0"/>
              </a:spcBef>
              <a:spcAft>
                <a:spcPct val="15000"/>
              </a:spcAft>
              <a:buChar char="•"/>
            </a:pPr>
            <a:r>
              <a:rPr lang="es-MX" sz="2800" kern="1200" dirty="0">
                <a:solidFill>
                  <a:schemeClr val="tx1"/>
                </a:solidFill>
              </a:rPr>
              <a:t>Cargue Documentos</a:t>
            </a:r>
            <a:endParaRPr lang="es-CO" sz="2800" kern="1200" dirty="0">
              <a:solidFill>
                <a:schemeClr val="tx1"/>
              </a:solidFill>
            </a:endParaRPr>
          </a:p>
          <a:p>
            <a:pPr marL="228600" lvl="1" indent="-228600" algn="ctr" defTabSz="1155700">
              <a:lnSpc>
                <a:spcPct val="90000"/>
              </a:lnSpc>
              <a:spcBef>
                <a:spcPct val="0"/>
              </a:spcBef>
              <a:spcAft>
                <a:spcPct val="15000"/>
              </a:spcAft>
              <a:buChar char="•"/>
            </a:pPr>
            <a:endParaRPr lang="es-CO" sz="2800" kern="1200" dirty="0">
              <a:solidFill>
                <a:schemeClr val="tx1"/>
              </a:solidFill>
            </a:endParaRPr>
          </a:p>
          <a:p>
            <a:pPr marL="0" lvl="1" algn="ctr" defTabSz="1155700">
              <a:lnSpc>
                <a:spcPct val="90000"/>
              </a:lnSpc>
              <a:spcBef>
                <a:spcPct val="0"/>
              </a:spcBef>
              <a:spcAft>
                <a:spcPct val="15000"/>
              </a:spcAft>
            </a:pPr>
            <a:endParaRPr lang="es-CO" sz="2800" kern="1200" dirty="0">
              <a:solidFill>
                <a:schemeClr val="tx1"/>
              </a:solidFill>
            </a:endParaRPr>
          </a:p>
        </p:txBody>
      </p:sp>
      <p:sp>
        <p:nvSpPr>
          <p:cNvPr id="9" name="CuadroTexto 8">
            <a:extLst>
              <a:ext uri="{FF2B5EF4-FFF2-40B4-BE49-F238E27FC236}">
                <a16:creationId xmlns:a16="http://schemas.microsoft.com/office/drawing/2014/main" id="{194DF48F-C715-70FA-0C51-E87BBBF909E8}"/>
              </a:ext>
            </a:extLst>
          </p:cNvPr>
          <p:cNvSpPr txBox="1"/>
          <p:nvPr/>
        </p:nvSpPr>
        <p:spPr>
          <a:xfrm>
            <a:off x="213101" y="2315608"/>
            <a:ext cx="6457953" cy="3170099"/>
          </a:xfrm>
          <a:prstGeom prst="rect">
            <a:avLst/>
          </a:prstGeom>
          <a:solidFill>
            <a:srgbClr val="FFF5EA"/>
          </a:solidFill>
          <a:ln w="38100">
            <a:solidFill>
              <a:srgbClr val="FF6C00"/>
            </a:solidFill>
          </a:ln>
          <a:effectLst>
            <a:softEdge rad="12700"/>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s-MX" sz="2000" dirty="0"/>
              <a:t>El instructor procede a cargar en el SharePoint los documentos completos y el acta elaborada.</a:t>
            </a:r>
          </a:p>
          <a:p>
            <a:pPr algn="just"/>
            <a:endParaRPr lang="es-MX" sz="2000" dirty="0"/>
          </a:p>
          <a:p>
            <a:pPr algn="just"/>
            <a:r>
              <a:rPr lang="es-MX" sz="2000" dirty="0"/>
              <a:t>Estos documentos los debe cargar siguiendo la ruta:</a:t>
            </a:r>
          </a:p>
          <a:p>
            <a:pPr algn="just"/>
            <a:r>
              <a:rPr lang="es-MX" sz="2000" dirty="0"/>
              <a:t>Ingresar a la carpeta 06. CERTIFICACIONES – FICHAS CERTIFICACIÓN – cada instructor debe crear una carpeta con el numero de la ficha – luego crea una carpeta marcada con la fecha del acta y procede a cargar los documentos marcados como se muestra en la imagen.</a:t>
            </a:r>
          </a:p>
          <a:p>
            <a:pPr algn="just"/>
            <a:endParaRPr lang="es-CO" sz="2000" dirty="0"/>
          </a:p>
        </p:txBody>
      </p:sp>
      <p:pic>
        <p:nvPicPr>
          <p:cNvPr id="10" name="Imagen 9">
            <a:extLst>
              <a:ext uri="{FF2B5EF4-FFF2-40B4-BE49-F238E27FC236}">
                <a16:creationId xmlns:a16="http://schemas.microsoft.com/office/drawing/2014/main" id="{CCEA5AD4-95F4-6335-7EA6-265493DAD1E8}"/>
              </a:ext>
            </a:extLst>
          </p:cNvPr>
          <p:cNvPicPr>
            <a:picLocks noChangeAspect="1"/>
          </p:cNvPicPr>
          <p:nvPr/>
        </p:nvPicPr>
        <p:blipFill>
          <a:blip r:embed="rId3"/>
          <a:stretch>
            <a:fillRect/>
          </a:stretch>
        </p:blipFill>
        <p:spPr>
          <a:xfrm>
            <a:off x="7173682" y="3310751"/>
            <a:ext cx="4904513" cy="1323439"/>
          </a:xfrm>
          <a:prstGeom prst="rect">
            <a:avLst/>
          </a:prstGeom>
        </p:spPr>
      </p:pic>
      <p:sp>
        <p:nvSpPr>
          <p:cNvPr id="11" name="CuadroTexto 10">
            <a:extLst>
              <a:ext uri="{FF2B5EF4-FFF2-40B4-BE49-F238E27FC236}">
                <a16:creationId xmlns:a16="http://schemas.microsoft.com/office/drawing/2014/main" id="{F74B5CF1-9DC8-DC8C-07C1-B80FF10AC3D4}"/>
              </a:ext>
            </a:extLst>
          </p:cNvPr>
          <p:cNvSpPr txBox="1"/>
          <p:nvPr/>
        </p:nvSpPr>
        <p:spPr>
          <a:xfrm>
            <a:off x="9078585" y="2584404"/>
            <a:ext cx="665018" cy="369332"/>
          </a:xfrm>
          <a:prstGeom prst="rect">
            <a:avLst/>
          </a:prstGeom>
          <a:noFill/>
        </p:spPr>
        <p:txBody>
          <a:bodyPr wrap="square" rtlCol="0">
            <a:spAutoFit/>
          </a:bodyPr>
          <a:lstStyle/>
          <a:p>
            <a:r>
              <a:rPr lang="es-MX" dirty="0"/>
              <a:t>ACTA</a:t>
            </a:r>
            <a:endParaRPr lang="es-CO" dirty="0"/>
          </a:p>
        </p:txBody>
      </p:sp>
      <p:sp>
        <p:nvSpPr>
          <p:cNvPr id="12" name="CuadroTexto 11">
            <a:extLst>
              <a:ext uri="{FF2B5EF4-FFF2-40B4-BE49-F238E27FC236}">
                <a16:creationId xmlns:a16="http://schemas.microsoft.com/office/drawing/2014/main" id="{3175EC7E-3786-1B09-9A55-4AE8F97B6E85}"/>
              </a:ext>
            </a:extLst>
          </p:cNvPr>
          <p:cNvSpPr txBox="1"/>
          <p:nvPr/>
        </p:nvSpPr>
        <p:spPr>
          <a:xfrm>
            <a:off x="8407978" y="5209242"/>
            <a:ext cx="2022762" cy="646331"/>
          </a:xfrm>
          <a:prstGeom prst="rect">
            <a:avLst/>
          </a:prstGeom>
          <a:noFill/>
        </p:spPr>
        <p:txBody>
          <a:bodyPr wrap="square" rtlCol="0">
            <a:spAutoFit/>
          </a:bodyPr>
          <a:lstStyle/>
          <a:p>
            <a:pPr algn="ctr"/>
            <a:r>
              <a:rPr lang="es-MX" dirty="0"/>
              <a:t>EXPEDIENTE APRENDIZ</a:t>
            </a:r>
            <a:endParaRPr lang="es-CO" dirty="0"/>
          </a:p>
        </p:txBody>
      </p:sp>
      <p:sp>
        <p:nvSpPr>
          <p:cNvPr id="13" name="Flecha: hacia abajo 12">
            <a:extLst>
              <a:ext uri="{FF2B5EF4-FFF2-40B4-BE49-F238E27FC236}">
                <a16:creationId xmlns:a16="http://schemas.microsoft.com/office/drawing/2014/main" id="{BF7588CF-2756-FD62-F896-D1F315FE6312}"/>
              </a:ext>
            </a:extLst>
          </p:cNvPr>
          <p:cNvSpPr/>
          <p:nvPr/>
        </p:nvSpPr>
        <p:spPr>
          <a:xfrm rot="10800000">
            <a:off x="9289473" y="2953736"/>
            <a:ext cx="259772" cy="357015"/>
          </a:xfrm>
          <a:prstGeom prst="downArrow">
            <a:avLst/>
          </a:prstGeom>
          <a:solidFill>
            <a:schemeClr val="accent4">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Flecha: hacia abajo 13">
            <a:extLst>
              <a:ext uri="{FF2B5EF4-FFF2-40B4-BE49-F238E27FC236}">
                <a16:creationId xmlns:a16="http://schemas.microsoft.com/office/drawing/2014/main" id="{BF0C1F90-6011-189F-8030-B4332FB65E86}"/>
              </a:ext>
            </a:extLst>
          </p:cNvPr>
          <p:cNvSpPr/>
          <p:nvPr/>
        </p:nvSpPr>
        <p:spPr>
          <a:xfrm>
            <a:off x="9281208" y="4743208"/>
            <a:ext cx="259772" cy="357015"/>
          </a:xfrm>
          <a:prstGeom prst="downArrow">
            <a:avLst/>
          </a:prstGeom>
          <a:solidFill>
            <a:schemeClr val="accent4">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5" name="Rectangle 1">
            <a:extLst>
              <a:ext uri="{FF2B5EF4-FFF2-40B4-BE49-F238E27FC236}">
                <a16:creationId xmlns:a16="http://schemas.microsoft.com/office/drawing/2014/main" id="{CC7FE789-6850-951C-8623-18BA1A47CE59}"/>
              </a:ext>
            </a:extLst>
          </p:cNvPr>
          <p:cNvSpPr>
            <a:spLocks noChangeArrowheads="1"/>
          </p:cNvSpPr>
          <p:nvPr/>
        </p:nvSpPr>
        <p:spPr bwMode="auto">
          <a:xfrm>
            <a:off x="2080922" y="5649171"/>
            <a:ext cx="25404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800" b="0" i="0" u="none" strike="noStrike" cap="none" normalizeH="0" baseline="0" dirty="0">
                <a:ln>
                  <a:noFill/>
                </a:ln>
                <a:solidFill>
                  <a:schemeClr val="tx1"/>
                </a:solidFill>
                <a:effectLst/>
                <a:latin typeface="Arial" panose="020B0604020202020204" pitchFamily="34" charset="0"/>
                <a:hlinkClick r:id="rId4"/>
              </a:rPr>
              <a:t>06. </a:t>
            </a:r>
            <a:r>
              <a:rPr kumimoji="0" lang="es-CO" altLang="es-CO" sz="1600" b="0" i="0" u="none" strike="noStrike" cap="none" normalizeH="0" baseline="0" dirty="0">
                <a:ln>
                  <a:noFill/>
                </a:ln>
                <a:solidFill>
                  <a:schemeClr val="tx1"/>
                </a:solidFill>
                <a:effectLst/>
                <a:latin typeface="Arial" panose="020B0604020202020204" pitchFamily="34" charset="0"/>
                <a:hlinkClick r:id="rId4"/>
              </a:rPr>
              <a:t>CERTIFICACIONES</a:t>
            </a: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
        <p:nvSpPr>
          <p:cNvPr id="16" name="Rectangle 2">
            <a:extLst>
              <a:ext uri="{FF2B5EF4-FFF2-40B4-BE49-F238E27FC236}">
                <a16:creationId xmlns:a16="http://schemas.microsoft.com/office/drawing/2014/main" id="{114A4BFD-FC59-211A-61C1-3F2F46BD890E}"/>
              </a:ext>
            </a:extLst>
          </p:cNvPr>
          <p:cNvSpPr>
            <a:spLocks noChangeArrowheads="1"/>
          </p:cNvSpPr>
          <p:nvPr/>
        </p:nvSpPr>
        <p:spPr bwMode="auto">
          <a:xfrm>
            <a:off x="2080922" y="6181967"/>
            <a:ext cx="28833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800" b="0" i="0" u="none" strike="noStrike" cap="none" normalizeH="0" baseline="0" dirty="0">
                <a:ln>
                  <a:noFill/>
                </a:ln>
                <a:solidFill>
                  <a:schemeClr val="tx1"/>
                </a:solidFill>
                <a:effectLst/>
                <a:latin typeface="Arial" panose="020B0604020202020204" pitchFamily="34" charset="0"/>
                <a:hlinkClick r:id="rId5"/>
              </a:rPr>
              <a:t>FICHAS </a:t>
            </a:r>
            <a:r>
              <a:rPr kumimoji="0" lang="es-CO" altLang="es-CO" sz="1600" b="0" i="0" u="none" strike="noStrike" cap="none" normalizeH="0" baseline="0" dirty="0">
                <a:ln>
                  <a:noFill/>
                </a:ln>
                <a:solidFill>
                  <a:schemeClr val="tx1"/>
                </a:solidFill>
                <a:effectLst/>
                <a:latin typeface="Arial" panose="020B0604020202020204" pitchFamily="34" charset="0"/>
                <a:hlinkClick r:id="rId5"/>
              </a:rPr>
              <a:t>CERTIFICACION</a:t>
            </a: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7488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62668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41dd0a9e-964d-48c8-9389-7445c2a187f7" xsi:nil="true"/>
    <lcf76f155ced4ddcb4097134ff3c332f xmlns="edbb1c21-1b45-407e-8894-c97732534993">
      <Terms xmlns="http://schemas.microsoft.com/office/infopath/2007/PartnerControls"/>
    </lcf76f155ced4ddcb4097134ff3c332f>
    <_Flow_SignoffStatus xmlns="edbb1c21-1b45-407e-8894-c97732534993" xsi:nil="true"/>
    <_ip_UnifiedCompliancePolicyProperties xmlns="http://schemas.microsoft.com/sharepoint/v3" xsi:nil="true"/>
    <FechayHora xmlns="edbb1c21-1b45-407e-8894-c97732534993" xsi:nil="true"/>
    <_x0031_010005470 xmlns="edbb1c21-1b45-407e-8894-c97732534993">
      <UserInfo>
        <DisplayName/>
        <AccountId xsi:nil="true"/>
        <AccountType/>
      </UserInfo>
    </_x0031_010005470>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80239B14884FBB46AB47CE62E6B5D997" ma:contentTypeVersion="24" ma:contentTypeDescription="Crear nuevo documento." ma:contentTypeScope="" ma:versionID="9cceea161467e9937048645b52beb732">
  <xsd:schema xmlns:xsd="http://www.w3.org/2001/XMLSchema" xmlns:xs="http://www.w3.org/2001/XMLSchema" xmlns:p="http://schemas.microsoft.com/office/2006/metadata/properties" xmlns:ns1="http://schemas.microsoft.com/sharepoint/v3" xmlns:ns2="edbb1c21-1b45-407e-8894-c97732534993" xmlns:ns3="41dd0a9e-964d-48c8-9389-7445c2a187f7" targetNamespace="http://schemas.microsoft.com/office/2006/metadata/properties" ma:root="true" ma:fieldsID="ec4adf18d12104a364fbb5a4b0ef5c6a" ns1:_="" ns2:_="" ns3:_="">
    <xsd:import namespace="http://schemas.microsoft.com/sharepoint/v3"/>
    <xsd:import namespace="edbb1c21-1b45-407e-8894-c97732534993"/>
    <xsd:import namespace="41dd0a9e-964d-48c8-9389-7445c2a187f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_Flow_SignoffStatus" minOccurs="0"/>
                <xsd:element ref="ns2:FechayHora" minOccurs="0"/>
                <xsd:element ref="ns2:lcf76f155ced4ddcb4097134ff3c332f" minOccurs="0"/>
                <xsd:element ref="ns3:TaxCatchAll"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element ref="ns2:MediaServiceBillingMetadata" minOccurs="0"/>
                <xsd:element ref="ns2:_x0031_010005470"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Propiedades de la Directiva de cumplimiento unificado" ma:hidden="true" ma:internalName="_ip_UnifiedCompliancePolicyProperties">
      <xsd:simpleType>
        <xsd:restriction base="dms:Note"/>
      </xsd:simpleType>
    </xsd:element>
    <xsd:element name="_ip_UnifiedCompliancePolicyUIAction" ma:index="28" nillable="true" ma:displayName="Acción de IU de la Directiva de cumplimiento unificado"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bb1c21-1b45-407e-8894-c977325349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_Flow_SignoffStatus" ma:index="20" nillable="true" ma:displayName="Estado de aprobación" ma:internalName="Estado_x0020_de_x0020_aprobaci_x00f3_n">
      <xsd:simpleType>
        <xsd:restriction base="dms:Text"/>
      </xsd:simpleType>
    </xsd:element>
    <xsd:element name="FechayHora" ma:index="21" nillable="true" ma:displayName="Fecha y Hora" ma:description="Fecha y Hora" ma:format="DateTime" ma:internalName="FechayHora">
      <xsd:simpleType>
        <xsd:restriction base="dms:DateTime"/>
      </xsd:simpleType>
    </xsd:element>
    <xsd:element name="lcf76f155ced4ddcb4097134ff3c332f" ma:index="23" nillable="true" ma:taxonomy="true" ma:internalName="lcf76f155ced4ddcb4097134ff3c332f" ma:taxonomyFieldName="MediaServiceImageTags" ma:displayName="Etiquetas de imagen" ma:readOnly="false" ma:fieldId="{5cf76f15-5ced-4ddc-b409-7134ff3c332f}" ma:taxonomyMulti="true" ma:sspId="d33c8c81-5745-4931-bcc4-c2aeafe86780"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description="" ma:indexed="true" ma:internalName="MediaServiceLocation" ma:readOnly="true">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_x0031_010005470" ma:index="31" nillable="true" ma:displayName="1010005470" ma:format="Dropdown" ma:list="UserInfo" ma:SharePointGroup="0" ma:internalName="_x0031_010005470">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1dd0a9e-964d-48c8-9389-7445c2a187f7"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24" nillable="true" ma:displayName="Taxonomy Catch All Column" ma:hidden="true" ma:list="{df955bbf-853c-4bfd-87ed-1b9a3029639f}" ma:internalName="TaxCatchAll" ma:showField="CatchAllData" ma:web="41dd0a9e-964d-48c8-9389-7445c2a187f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4878F-65DE-4BE3-B268-AC16419BEB4F}">
  <ds:schemaRefs>
    <ds:schemaRef ds:uri="http://schemas.microsoft.com/sharepoint/v3/contenttype/forms"/>
  </ds:schemaRefs>
</ds:datastoreItem>
</file>

<file path=customXml/itemProps2.xml><?xml version="1.0" encoding="utf-8"?>
<ds:datastoreItem xmlns:ds="http://schemas.openxmlformats.org/officeDocument/2006/customXml" ds:itemID="{6FC4E1DB-5D10-4417-9579-7B1968E177F6}">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41dd0a9e-964d-48c8-9389-7445c2a187f7"/>
    <ds:schemaRef ds:uri="http://purl.org/dc/elements/1.1/"/>
    <ds:schemaRef ds:uri="http://schemas.microsoft.com/office/2006/metadata/properties"/>
    <ds:schemaRef ds:uri="http://schemas.microsoft.com/sharepoint/v3"/>
    <ds:schemaRef ds:uri="edbb1c21-1b45-407e-8894-c97732534993"/>
    <ds:schemaRef ds:uri="http://www.w3.org/XML/1998/namespace"/>
    <ds:schemaRef ds:uri="http://purl.org/dc/dcmitype/"/>
  </ds:schemaRefs>
</ds:datastoreItem>
</file>

<file path=customXml/itemProps3.xml><?xml version="1.0" encoding="utf-8"?>
<ds:datastoreItem xmlns:ds="http://schemas.openxmlformats.org/officeDocument/2006/customXml" ds:itemID="{115908A6-BDBE-4B40-9A06-5EA72733D2D9}"/>
</file>

<file path=docProps/app.xml><?xml version="1.0" encoding="utf-8"?>
<Properties xmlns="http://schemas.openxmlformats.org/officeDocument/2006/extended-properties" xmlns:vt="http://schemas.openxmlformats.org/officeDocument/2006/docPropsVTypes">
  <TotalTime>7473</TotalTime>
  <Words>1245</Words>
  <Application>Microsoft Office PowerPoint</Application>
  <PresentationFormat>Panorámica</PresentationFormat>
  <Paragraphs>75</Paragraphs>
  <Slides>10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Arial</vt:lpstr>
      <vt:lpstr>Calibri</vt:lpstr>
      <vt:lpstr>Calibri Light</vt:lpstr>
      <vt:lpstr>Work Sans Bold Roman</vt:lpstr>
      <vt:lpstr>Work Sans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yuly Avila</cp:lastModifiedBy>
  <cp:revision>94</cp:revision>
  <dcterms:created xsi:type="dcterms:W3CDTF">2020-10-01T23:51:28Z</dcterms:created>
  <dcterms:modified xsi:type="dcterms:W3CDTF">2025-04-04T11:41:18Z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y fmtid="{D5CDD505-2E9C-101B-9397-08002B2CF9AE}" pid="9" name="ContentTypeId">
    <vt:lpwstr>0x01010080239B14884FBB46AB47CE62E6B5D997</vt:lpwstr>
  </property>
  <property fmtid="{D5CDD505-2E9C-101B-9397-08002B2CF9AE}" pid="10" name="MediaServiceImageTags">
    <vt:lpwstr/>
  </property>
</Properties>
</file>