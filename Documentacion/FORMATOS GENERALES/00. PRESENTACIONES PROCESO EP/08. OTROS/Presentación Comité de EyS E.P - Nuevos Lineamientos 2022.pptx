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6" r:id="rId5"/>
    <p:sldId id="257" r:id="rId6"/>
    <p:sldId id="258" r:id="rId7"/>
    <p:sldId id="275" r:id="rId8"/>
    <p:sldId id="261" r:id="rId9"/>
    <p:sldId id="259" r:id="rId10"/>
    <p:sldId id="260" r:id="rId11"/>
    <p:sldId id="263" r:id="rId12"/>
    <p:sldId id="271" r:id="rId13"/>
    <p:sldId id="272" r:id="rId14"/>
    <p:sldId id="273" r:id="rId15"/>
    <p:sldId id="278" r:id="rId16"/>
    <p:sldId id="279" r:id="rId17"/>
    <p:sldId id="280" r:id="rId18"/>
    <p:sldId id="281" r:id="rId19"/>
    <p:sldId id="274" r:id="rId20"/>
  </p:sldIdLst>
  <p:sldSz cx="9144000" cy="5143500" type="screen16x9"/>
  <p:notesSz cx="6858000" cy="9144000"/>
  <p:defaultTex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2937E7-B3B4-B3E8-D880-45C281E70C4C}" v="16" dt="2022-06-30T19:30:37.2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4"/>
  </p:normalViewPr>
  <p:slideViewPr>
    <p:cSldViewPr snapToGrid="0" snapToObjects="1">
      <p:cViewPr varScale="1">
        <p:scale>
          <a:sx n="92" d="100"/>
          <a:sy n="92" d="100"/>
        </p:scale>
        <p:origin x="891" y="58"/>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ime Junior Morales Bustamante" userId="S::jjmoralesb@sena.edu.co::50ba9a7d-4541-4a92-9045-7a407f21c7cf" providerId="AD" clId="Web-{A82937E7-B3B4-B3E8-D880-45C281E70C4C}"/>
    <pc:docChg chg="modSld">
      <pc:chgData name="Jaime Junior Morales Bustamante" userId="S::jjmoralesb@sena.edu.co::50ba9a7d-4541-4a92-9045-7a407f21c7cf" providerId="AD" clId="Web-{A82937E7-B3B4-B3E8-D880-45C281E70C4C}" dt="2022-06-30T19:30:37.242" v="11" actId="20577"/>
      <pc:docMkLst>
        <pc:docMk/>
      </pc:docMkLst>
      <pc:sldChg chg="modSp">
        <pc:chgData name="Jaime Junior Morales Bustamante" userId="S::jjmoralesb@sena.edu.co::50ba9a7d-4541-4a92-9045-7a407f21c7cf" providerId="AD" clId="Web-{A82937E7-B3B4-B3E8-D880-45C281E70C4C}" dt="2022-06-30T19:30:37.242" v="11" actId="20577"/>
        <pc:sldMkLst>
          <pc:docMk/>
          <pc:sldMk cId="2276016161" sldId="279"/>
        </pc:sldMkLst>
        <pc:spChg chg="mod">
          <ac:chgData name="Jaime Junior Morales Bustamante" userId="S::jjmoralesb@sena.edu.co::50ba9a7d-4541-4a92-9045-7a407f21c7cf" providerId="AD" clId="Web-{A82937E7-B3B4-B3E8-D880-45C281E70C4C}" dt="2022-06-30T19:30:37.242" v="11" actId="20577"/>
          <ac:spMkLst>
            <pc:docMk/>
            <pc:sldMk cId="2276016161" sldId="279"/>
            <ac:spMk id="3" creationId="{5F7D3CE4-9CAF-445F-8F4C-696A56262EB2}"/>
          </ac:spMkLst>
        </pc:spChg>
      </pc:sldChg>
    </pc:docChg>
  </pc:docChgLst>
  <pc:docChgLst>
    <pc:chgData name="Yenni Francisca Bejarano Martinez" userId="S::yfbejarano@sena.edu.co::4cb0e0d6-298b-43e5-90e0-133524252c70" providerId="AD" clId="Web-{F9343D1F-EAF8-745A-AC07-47648186889A}"/>
    <pc:docChg chg="mod">
      <pc:chgData name="Yenni Francisca Bejarano Martinez" userId="S::yfbejarano@sena.edu.co::4cb0e0d6-298b-43e5-90e0-133524252c70" providerId="AD" clId="Web-{F9343D1F-EAF8-745A-AC07-47648186889A}" dt="2022-07-13T18:26:26.481" v="0" actId="33475"/>
      <pc:docMkLst>
        <pc:docMk/>
      </pc:docMkLst>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6566B0-3E59-A84D-9AB2-DA05E602ADD5}"/>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990882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477ACAF-E4FF-A844-9E41-091A7206A2B4}"/>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4242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cabezado de sección">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6920DA-0831-5D43-AA82-7741662FB96F}"/>
              </a:ext>
            </a:extLst>
          </p:cNvPr>
          <p:cNvPicPr>
            <a:picLocks noChangeAspect="1"/>
          </p:cNvPicPr>
          <p:nvPr userDrawn="1"/>
        </p:nvPicPr>
        <p:blipFill rotWithShape="1">
          <a:blip r:embed="rId2"/>
          <a:srcRect l="88730" b="81517"/>
          <a:stretch/>
        </p:blipFill>
        <p:spPr>
          <a:xfrm>
            <a:off x="8113486" y="0"/>
            <a:ext cx="1030514" cy="950686"/>
          </a:xfrm>
          <a:prstGeom prst="rect">
            <a:avLst/>
          </a:prstGeom>
        </p:spPr>
      </p:pic>
    </p:spTree>
    <p:extLst>
      <p:ext uri="{BB962C8B-B14F-4D97-AF65-F5344CB8AC3E}">
        <p14:creationId xmlns:p14="http://schemas.microsoft.com/office/powerpoint/2010/main" val="10708572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os objetos">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FB3CFEF-4B3E-1E40-B352-B3A39094156E}"/>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919681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ación">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9422CC-C000-654E-9301-E5A5A99182F7}"/>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53050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ólo el títul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A3B3542-21FA-CE4F-97EC-30221117B445}"/>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535619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FC36C6-822B-4F4E-9443-296E49B7FDEB}"/>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3379170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1" y="204787"/>
            <a:ext cx="3008313" cy="871538"/>
          </a:xfrm>
        </p:spPr>
        <p:txBody>
          <a:bodyPr anchor="b"/>
          <a:lstStyle>
            <a:lvl1pPr algn="l">
              <a:defRPr sz="2000" b="1"/>
            </a:lvl1pPr>
          </a:lstStyle>
          <a:p>
            <a:r>
              <a:rPr lang="es-ES_tradnl"/>
              <a:t>Clic para editar título</a:t>
            </a:r>
            <a:endParaRPr lang="es-ES"/>
          </a:p>
        </p:txBody>
      </p:sp>
      <p:sp>
        <p:nvSpPr>
          <p:cNvPr id="3" name="Marcador de contenido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texto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
        <p:nvSpPr>
          <p:cNvPr id="5" name="Marcador de fecha 4"/>
          <p:cNvSpPr>
            <a:spLocks noGrp="1"/>
          </p:cNvSpPr>
          <p:nvPr>
            <p:ph type="dt" sz="half" idx="10"/>
          </p:nvPr>
        </p:nvSpPr>
        <p:spPr/>
        <p:txBody>
          <a:bodyPr/>
          <a:lstStyle/>
          <a:p>
            <a:fld id="{B3030C24-9424-B24A-8613-79990C3AA492}" type="datetimeFigureOut">
              <a:rPr lang="es-ES" smtClean="0"/>
              <a:t>13/07/2022</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6E4248DC-D261-1A47-8987-CC426E938172}" type="slidenum">
              <a:rPr lang="es-ES" smtClean="0"/>
              <a:t>‹Nº›</a:t>
            </a:fld>
            <a:endParaRPr lang="es-ES"/>
          </a:p>
        </p:txBody>
      </p:sp>
    </p:spTree>
    <p:extLst>
      <p:ext uri="{BB962C8B-B14F-4D97-AF65-F5344CB8AC3E}">
        <p14:creationId xmlns:p14="http://schemas.microsoft.com/office/powerpoint/2010/main" val="1454780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792288" y="3600450"/>
            <a:ext cx="5486400" cy="425054"/>
          </a:xfrm>
        </p:spPr>
        <p:txBody>
          <a:bodyPr anchor="b"/>
          <a:lstStyle>
            <a:lvl1pPr algn="l">
              <a:defRPr sz="2000" b="1"/>
            </a:lvl1pPr>
          </a:lstStyle>
          <a:p>
            <a:r>
              <a:rPr lang="es-ES_tradnl"/>
              <a:t>Clic para editar título</a:t>
            </a:r>
            <a:endParaRPr lang="es-ES"/>
          </a:p>
        </p:txBody>
      </p:sp>
      <p:sp>
        <p:nvSpPr>
          <p:cNvPr id="3" name="Marcador de posición de imagen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
        <p:nvSpPr>
          <p:cNvPr id="5" name="Marcador de fecha 4"/>
          <p:cNvSpPr>
            <a:spLocks noGrp="1"/>
          </p:cNvSpPr>
          <p:nvPr>
            <p:ph type="dt" sz="half" idx="10"/>
          </p:nvPr>
        </p:nvSpPr>
        <p:spPr/>
        <p:txBody>
          <a:bodyPr/>
          <a:lstStyle/>
          <a:p>
            <a:fld id="{B3030C24-9424-B24A-8613-79990C3AA492}" type="datetimeFigureOut">
              <a:rPr lang="es-ES" smtClean="0"/>
              <a:t>13/07/2022</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6E4248DC-D261-1A47-8987-CC426E938172}" type="slidenum">
              <a:rPr lang="es-ES" smtClean="0"/>
              <a:t>‹Nº›</a:t>
            </a:fld>
            <a:endParaRPr lang="es-ES"/>
          </a:p>
        </p:txBody>
      </p:sp>
    </p:spTree>
    <p:extLst>
      <p:ext uri="{BB962C8B-B14F-4D97-AF65-F5344CB8AC3E}">
        <p14:creationId xmlns:p14="http://schemas.microsoft.com/office/powerpoint/2010/main" val="322782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texto vertical 2"/>
          <p:cNvSpPr>
            <a:spLocks noGrp="1"/>
          </p:cNvSpPr>
          <p:nvPr>
            <p:ph type="body" orient="vert" idx="1"/>
          </p:nvPr>
        </p:nvSpPr>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p>
            <a:fld id="{B3030C24-9424-B24A-8613-79990C3AA492}" type="datetimeFigureOut">
              <a:rPr lang="es-ES" smtClean="0"/>
              <a:t>13/07/2022</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E4248DC-D261-1A47-8987-CC426E938172}" type="slidenum">
              <a:rPr lang="es-ES" smtClean="0"/>
              <a:t>‹Nº›</a:t>
            </a:fld>
            <a:endParaRPr lang="es-ES"/>
          </a:p>
        </p:txBody>
      </p:sp>
    </p:spTree>
    <p:extLst>
      <p:ext uri="{BB962C8B-B14F-4D97-AF65-F5344CB8AC3E}">
        <p14:creationId xmlns:p14="http://schemas.microsoft.com/office/powerpoint/2010/main" val="3157577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05979"/>
            <a:ext cx="2057400" cy="4388644"/>
          </a:xfrm>
        </p:spPr>
        <p:txBody>
          <a:bodyPr vert="eaVert"/>
          <a:lstStyle/>
          <a:p>
            <a:r>
              <a:rPr lang="es-ES_tradnl"/>
              <a:t>Clic para editar título</a:t>
            </a:r>
            <a:endParaRPr lang="es-ES"/>
          </a:p>
        </p:txBody>
      </p:sp>
      <p:sp>
        <p:nvSpPr>
          <p:cNvPr id="3" name="Marcador de texto vertical 2"/>
          <p:cNvSpPr>
            <a:spLocks noGrp="1"/>
          </p:cNvSpPr>
          <p:nvPr>
            <p:ph type="body" orient="vert" idx="1"/>
          </p:nvPr>
        </p:nvSpPr>
        <p:spPr>
          <a:xfrm>
            <a:off x="457200" y="205979"/>
            <a:ext cx="6019800" cy="4388644"/>
          </a:xfrm>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p>
            <a:fld id="{B3030C24-9424-B24A-8613-79990C3AA492}" type="datetimeFigureOut">
              <a:rPr lang="es-ES" smtClean="0"/>
              <a:t>13/07/2022</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E4248DC-D261-1A47-8987-CC426E938172}" type="slidenum">
              <a:rPr lang="es-ES" smtClean="0"/>
              <a:t>‹Nº›</a:t>
            </a:fld>
            <a:endParaRPr lang="es-ES"/>
          </a:p>
        </p:txBody>
      </p:sp>
    </p:spTree>
    <p:extLst>
      <p:ext uri="{BB962C8B-B14F-4D97-AF65-F5344CB8AC3E}">
        <p14:creationId xmlns:p14="http://schemas.microsoft.com/office/powerpoint/2010/main" val="2010572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s-ES_tradnl"/>
              <a:t>Clic para editar título</a:t>
            </a:r>
            <a:endParaRPr lang="es-ES"/>
          </a:p>
        </p:txBody>
      </p:sp>
      <p:sp>
        <p:nvSpPr>
          <p:cNvPr id="3" name="Marcador de texto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B3030C24-9424-B24A-8613-79990C3AA492}" type="datetimeFigureOut">
              <a:rPr lang="es-ES" smtClean="0"/>
              <a:t>13/07/2022</a:t>
            </a:fld>
            <a:endParaRPr lang="es-ES"/>
          </a:p>
        </p:txBody>
      </p:sp>
      <p:sp>
        <p:nvSpPr>
          <p:cNvPr id="5" name="Marcador de pie de página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6E4248DC-D261-1A47-8987-CC426E938172}" type="slidenum">
              <a:rPr lang="es-ES" smtClean="0"/>
              <a:t>‹Nº›</a:t>
            </a:fld>
            <a:endParaRPr lang="es-ES"/>
          </a:p>
        </p:txBody>
      </p:sp>
    </p:spTree>
    <p:extLst>
      <p:ext uri="{BB962C8B-B14F-4D97-AF65-F5344CB8AC3E}">
        <p14:creationId xmlns:p14="http://schemas.microsoft.com/office/powerpoint/2010/main" val="37458503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9A4D26F-F8B5-4911-B308-EA3675AAE482}"/>
              </a:ext>
            </a:extLst>
          </p:cNvPr>
          <p:cNvSpPr txBox="1"/>
          <p:nvPr/>
        </p:nvSpPr>
        <p:spPr>
          <a:xfrm>
            <a:off x="1363916" y="1910030"/>
            <a:ext cx="6416168" cy="1323439"/>
          </a:xfrm>
          <a:prstGeom prst="rect">
            <a:avLst/>
          </a:prstGeom>
          <a:noFill/>
        </p:spPr>
        <p:txBody>
          <a:bodyPr wrap="square">
            <a:spAutoFit/>
          </a:bodyPr>
          <a:lstStyle/>
          <a:p>
            <a:pPr algn="ctr"/>
            <a:r>
              <a:rPr lang="es-ES" sz="4000" b="1" dirty="0">
                <a:solidFill>
                  <a:schemeClr val="accent6">
                    <a:lumMod val="75000"/>
                  </a:schemeClr>
                </a:solidFill>
              </a:rPr>
              <a:t>Coordinación Academia Etapa Productiva</a:t>
            </a:r>
          </a:p>
        </p:txBody>
      </p:sp>
    </p:spTree>
    <p:extLst>
      <p:ext uri="{BB962C8B-B14F-4D97-AF65-F5344CB8AC3E}">
        <p14:creationId xmlns:p14="http://schemas.microsoft.com/office/powerpoint/2010/main" val="4328830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537882" y="1663809"/>
            <a:ext cx="8068235" cy="1815882"/>
          </a:xfrm>
          <a:prstGeom prst="rect">
            <a:avLst/>
          </a:prstGeom>
          <a:noFill/>
        </p:spPr>
        <p:txBody>
          <a:bodyPr wrap="square" rtlCol="0">
            <a:spAutoFit/>
          </a:bodyPr>
          <a:lstStyle/>
          <a:p>
            <a:pPr algn="ctr"/>
            <a:r>
              <a:rPr lang="es-ES" sz="2800" b="1" dirty="0"/>
              <a:t>Comités de Evaluación y Seguimiento</a:t>
            </a:r>
          </a:p>
          <a:p>
            <a:pPr algn="ctr"/>
            <a:endParaRPr lang="es-ES" sz="2800" b="1" dirty="0"/>
          </a:p>
          <a:p>
            <a:pPr algn="ctr"/>
            <a:r>
              <a:rPr lang="es-ES" sz="2800" b="1" dirty="0"/>
              <a:t>Etapa Productiva</a:t>
            </a:r>
          </a:p>
          <a:p>
            <a:pPr algn="ctr"/>
            <a:endParaRPr lang="es-ES" sz="2800" b="1" dirty="0">
              <a:solidFill>
                <a:schemeClr val="tx1">
                  <a:lumMod val="75000"/>
                  <a:lumOff val="25000"/>
                </a:schemeClr>
              </a:solidFill>
            </a:endParaRPr>
          </a:p>
        </p:txBody>
      </p:sp>
    </p:spTree>
    <p:extLst>
      <p:ext uri="{BB962C8B-B14F-4D97-AF65-F5344CB8AC3E}">
        <p14:creationId xmlns:p14="http://schemas.microsoft.com/office/powerpoint/2010/main" val="3083268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338097" y="174470"/>
            <a:ext cx="5544061" cy="923330"/>
          </a:xfrm>
          <a:prstGeom prst="rect">
            <a:avLst/>
          </a:prstGeom>
          <a:noFill/>
        </p:spPr>
        <p:txBody>
          <a:bodyPr wrap="square" rtlCol="0">
            <a:spAutoFit/>
          </a:bodyPr>
          <a:lstStyle/>
          <a:p>
            <a:r>
              <a:rPr lang="es-ES" sz="5400" b="1" dirty="0">
                <a:solidFill>
                  <a:schemeClr val="bg1"/>
                </a:solidFill>
              </a:rPr>
              <a:t>Debido Proceso</a:t>
            </a:r>
          </a:p>
        </p:txBody>
      </p:sp>
      <p:sp>
        <p:nvSpPr>
          <p:cNvPr id="4" name="CuadroTexto 3"/>
          <p:cNvSpPr txBox="1"/>
          <p:nvPr/>
        </p:nvSpPr>
        <p:spPr>
          <a:xfrm>
            <a:off x="437586" y="1833086"/>
            <a:ext cx="4280410" cy="1477328"/>
          </a:xfrm>
          <a:prstGeom prst="rect">
            <a:avLst/>
          </a:prstGeom>
          <a:noFill/>
        </p:spPr>
        <p:txBody>
          <a:bodyPr wrap="square" rtlCol="0">
            <a:spAutoFit/>
          </a:bodyPr>
          <a:lstStyle/>
          <a:p>
            <a:r>
              <a:rPr lang="es-ES" dirty="0">
                <a:solidFill>
                  <a:schemeClr val="tx1">
                    <a:lumMod val="75000"/>
                    <a:lumOff val="25000"/>
                  </a:schemeClr>
                </a:solidFill>
              </a:rPr>
              <a:t>El debido proceso es una serie de instrucciones estandarizadas por parte de la Coordinación Académica que se rige de acuerdo a los lineamientos del Reglamento del aprendiz.</a:t>
            </a:r>
          </a:p>
        </p:txBody>
      </p:sp>
      <p:sp>
        <p:nvSpPr>
          <p:cNvPr id="5" name="Rectángulo 4"/>
          <p:cNvSpPr/>
          <p:nvPr/>
        </p:nvSpPr>
        <p:spPr>
          <a:xfrm>
            <a:off x="470093" y="1249067"/>
            <a:ext cx="4411039" cy="45719"/>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pic>
        <p:nvPicPr>
          <p:cNvPr id="6" name="Imagen 5">
            <a:extLst>
              <a:ext uri="{FF2B5EF4-FFF2-40B4-BE49-F238E27FC236}">
                <a16:creationId xmlns:a16="http://schemas.microsoft.com/office/drawing/2014/main" id="{895D6C36-811C-4459-92FF-4659076556DE}"/>
              </a:ext>
            </a:extLst>
          </p:cNvPr>
          <p:cNvPicPr>
            <a:picLocks noChangeAspect="1"/>
          </p:cNvPicPr>
          <p:nvPr/>
        </p:nvPicPr>
        <p:blipFill>
          <a:blip r:embed="rId2"/>
          <a:stretch>
            <a:fillRect/>
          </a:stretch>
        </p:blipFill>
        <p:spPr>
          <a:xfrm>
            <a:off x="5013128" y="421358"/>
            <a:ext cx="3216354" cy="436541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077941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382868" y="249495"/>
            <a:ext cx="6468506" cy="646331"/>
          </a:xfrm>
          <a:prstGeom prst="rect">
            <a:avLst/>
          </a:prstGeom>
          <a:noFill/>
        </p:spPr>
        <p:txBody>
          <a:bodyPr wrap="square" rtlCol="0">
            <a:spAutoFit/>
          </a:bodyPr>
          <a:lstStyle/>
          <a:p>
            <a:r>
              <a:rPr lang="es-ES" sz="3600" b="1" dirty="0">
                <a:solidFill>
                  <a:schemeClr val="bg1"/>
                </a:solidFill>
              </a:rPr>
              <a:t>Causales que con llevan a Comité</a:t>
            </a:r>
          </a:p>
        </p:txBody>
      </p:sp>
      <p:sp>
        <p:nvSpPr>
          <p:cNvPr id="3" name="CuadroTexto 2">
            <a:extLst>
              <a:ext uri="{FF2B5EF4-FFF2-40B4-BE49-F238E27FC236}">
                <a16:creationId xmlns:a16="http://schemas.microsoft.com/office/drawing/2014/main" id="{40A44DFA-929F-4CF4-ACDF-AB8D497C23D3}"/>
              </a:ext>
            </a:extLst>
          </p:cNvPr>
          <p:cNvSpPr txBox="1"/>
          <p:nvPr/>
        </p:nvSpPr>
        <p:spPr>
          <a:xfrm>
            <a:off x="249731" y="1504345"/>
            <a:ext cx="5329434" cy="2862322"/>
          </a:xfrm>
          <a:prstGeom prst="rect">
            <a:avLst/>
          </a:prstGeom>
          <a:noFill/>
        </p:spPr>
        <p:txBody>
          <a:bodyPr wrap="square" rtlCol="0">
            <a:spAutoFit/>
          </a:bodyPr>
          <a:lstStyle/>
          <a:p>
            <a:r>
              <a:rPr lang="es-ES" b="1" i="0" u="none" strike="noStrike" baseline="0" dirty="0">
                <a:solidFill>
                  <a:srgbClr val="000000"/>
                </a:solidFill>
                <a:latin typeface="Calibri" panose="020F0502020204030204" pitchFamily="34" charset="0"/>
              </a:rPr>
              <a:t>1.</a:t>
            </a:r>
            <a:r>
              <a:rPr lang="es-ES" b="1" i="0" u="none" strike="noStrike" dirty="0">
                <a:solidFill>
                  <a:srgbClr val="000000"/>
                </a:solidFill>
                <a:latin typeface="Calibri" panose="020F0502020204030204" pitchFamily="34" charset="0"/>
              </a:rPr>
              <a:t> </a:t>
            </a:r>
            <a:r>
              <a:rPr lang="es-ES" b="0" i="0" u="none" strike="noStrike" baseline="0" dirty="0">
                <a:solidFill>
                  <a:srgbClr val="000000"/>
                </a:solidFill>
                <a:latin typeface="Calibri" panose="020F0502020204030204" pitchFamily="34" charset="0"/>
              </a:rPr>
              <a:t>Terminación de</a:t>
            </a:r>
            <a:r>
              <a:rPr lang="es-ES" b="0" i="0" u="none" strike="noStrike" dirty="0">
                <a:solidFill>
                  <a:srgbClr val="000000"/>
                </a:solidFill>
                <a:latin typeface="Calibri" panose="020F0502020204030204" pitchFamily="34" charset="0"/>
              </a:rPr>
              <a:t> contrato de forma unilateral por parte de la empresa.</a:t>
            </a:r>
          </a:p>
          <a:p>
            <a:endParaRPr lang="es-ES" b="0" i="0" u="none" strike="noStrike" baseline="0" dirty="0">
              <a:solidFill>
                <a:srgbClr val="000000"/>
              </a:solidFill>
              <a:latin typeface="Calibri" panose="020F0502020204030204" pitchFamily="34" charset="0"/>
            </a:endParaRPr>
          </a:p>
          <a:p>
            <a:endParaRPr lang="es-ES" b="0" i="0" u="none" strike="noStrike" baseline="0" dirty="0">
              <a:solidFill>
                <a:srgbClr val="000000"/>
              </a:solidFill>
              <a:latin typeface="Calibri" panose="020F0502020204030204" pitchFamily="34" charset="0"/>
            </a:endParaRPr>
          </a:p>
          <a:p>
            <a:r>
              <a:rPr lang="es-CO" b="1" i="0" u="none" strike="noStrike" baseline="0" dirty="0">
                <a:solidFill>
                  <a:srgbClr val="000000"/>
                </a:solidFill>
                <a:latin typeface="Calibri" panose="020F0502020204030204" pitchFamily="34" charset="0"/>
              </a:rPr>
              <a:t>2. </a:t>
            </a:r>
            <a:r>
              <a:rPr lang="es-ES" dirty="0">
                <a:solidFill>
                  <a:srgbClr val="000000"/>
                </a:solidFill>
                <a:latin typeface="Calibri" panose="020F0502020204030204" pitchFamily="34" charset="0"/>
              </a:rPr>
              <a:t>Terminación de contrato de forma unilateral por parte del aprendiz.</a:t>
            </a:r>
          </a:p>
          <a:p>
            <a:endParaRPr lang="es-ES" b="0" i="0" u="none" strike="noStrike" baseline="0" dirty="0">
              <a:solidFill>
                <a:srgbClr val="000000"/>
              </a:solidFill>
              <a:latin typeface="Calibri" panose="020F0502020204030204" pitchFamily="34" charset="0"/>
            </a:endParaRPr>
          </a:p>
          <a:p>
            <a:endParaRPr lang="es-CO" b="0" i="0" u="none" strike="noStrike" baseline="0" dirty="0">
              <a:solidFill>
                <a:srgbClr val="000000"/>
              </a:solidFill>
              <a:latin typeface="Calibri" panose="020F0502020204030204" pitchFamily="34" charset="0"/>
            </a:endParaRPr>
          </a:p>
          <a:p>
            <a:r>
              <a:rPr lang="es-ES" b="1" i="0" u="none" strike="noStrike" baseline="0" dirty="0">
                <a:solidFill>
                  <a:srgbClr val="000000"/>
                </a:solidFill>
                <a:latin typeface="Calibri" panose="020F0502020204030204" pitchFamily="34" charset="0"/>
              </a:rPr>
              <a:t>3. </a:t>
            </a:r>
            <a:r>
              <a:rPr lang="es-ES" dirty="0">
                <a:solidFill>
                  <a:srgbClr val="000000"/>
                </a:solidFill>
                <a:latin typeface="Calibri" panose="020F0502020204030204" pitchFamily="34" charset="0"/>
              </a:rPr>
              <a:t>Terminación de contrato de forma unilateral por parte de la empresa, falta del aprendiz</a:t>
            </a:r>
            <a:r>
              <a:rPr lang="es-ES" b="0" i="0" u="none" strike="noStrike" baseline="0" dirty="0">
                <a:solidFill>
                  <a:srgbClr val="000000"/>
                </a:solidFill>
                <a:latin typeface="Calibri" panose="020F0502020204030204" pitchFamily="34" charset="0"/>
              </a:rPr>
              <a:t>.</a:t>
            </a:r>
          </a:p>
        </p:txBody>
      </p:sp>
    </p:spTree>
    <p:extLst>
      <p:ext uri="{BB962C8B-B14F-4D97-AF65-F5344CB8AC3E}">
        <p14:creationId xmlns:p14="http://schemas.microsoft.com/office/powerpoint/2010/main" val="41791017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691506" y="218160"/>
            <a:ext cx="6085812" cy="784830"/>
          </a:xfrm>
          <a:prstGeom prst="rect">
            <a:avLst/>
          </a:prstGeom>
          <a:noFill/>
        </p:spPr>
        <p:txBody>
          <a:bodyPr wrap="square" rtlCol="0">
            <a:spAutoFit/>
          </a:bodyPr>
          <a:lstStyle/>
          <a:p>
            <a:r>
              <a:rPr lang="es-ES" sz="4500" b="1" dirty="0">
                <a:solidFill>
                  <a:srgbClr val="FFFFFF"/>
                </a:solidFill>
              </a:rPr>
              <a:t>Excepciones de Casos</a:t>
            </a:r>
          </a:p>
        </p:txBody>
      </p:sp>
      <p:sp>
        <p:nvSpPr>
          <p:cNvPr id="3" name="CuadroTexto 2"/>
          <p:cNvSpPr txBox="1"/>
          <p:nvPr/>
        </p:nvSpPr>
        <p:spPr>
          <a:xfrm>
            <a:off x="691506" y="1808743"/>
            <a:ext cx="6462330" cy="2308324"/>
          </a:xfrm>
          <a:prstGeom prst="rect">
            <a:avLst/>
          </a:prstGeom>
          <a:noFill/>
        </p:spPr>
        <p:txBody>
          <a:bodyPr wrap="square" rtlCol="0">
            <a:spAutoFit/>
          </a:bodyPr>
          <a:lstStyle/>
          <a:p>
            <a:pPr marL="285750" indent="-285750">
              <a:buFont typeface="Wingdings" panose="05000000000000000000" pitchFamily="2" charset="2"/>
              <a:buChar char="v"/>
            </a:pPr>
            <a:r>
              <a:rPr lang="es-ES" dirty="0">
                <a:solidFill>
                  <a:srgbClr val="FFFFFF"/>
                </a:solidFill>
              </a:rPr>
              <a:t>Terminación de contrato por mutuo acuerdo, (de acuerdo a el motivo de la terminación).</a:t>
            </a:r>
          </a:p>
          <a:p>
            <a:pPr marL="285750" indent="-285750">
              <a:buFont typeface="Wingdings" panose="05000000000000000000" pitchFamily="2" charset="2"/>
              <a:buChar char="v"/>
            </a:pPr>
            <a:endParaRPr lang="es-ES" dirty="0">
              <a:solidFill>
                <a:srgbClr val="FFFFFF"/>
              </a:solidFill>
            </a:endParaRPr>
          </a:p>
          <a:p>
            <a:pPr marL="285750" indent="-285750">
              <a:buFont typeface="Wingdings" panose="05000000000000000000" pitchFamily="2" charset="2"/>
              <a:buChar char="v"/>
            </a:pPr>
            <a:endParaRPr lang="es-ES" dirty="0">
              <a:solidFill>
                <a:srgbClr val="FFFFFF"/>
              </a:solidFill>
            </a:endParaRPr>
          </a:p>
          <a:p>
            <a:pPr marL="285750" indent="-285750">
              <a:buFont typeface="Wingdings" panose="05000000000000000000" pitchFamily="2" charset="2"/>
              <a:buChar char="v"/>
            </a:pPr>
            <a:r>
              <a:rPr lang="es-ES" dirty="0">
                <a:solidFill>
                  <a:srgbClr val="FFFFFF"/>
                </a:solidFill>
              </a:rPr>
              <a:t>Liquidaciones o procesos de liquidación de las empresas, (si la empresa actualmente se esta liquidando se debe anexar la resolución que avale dicho tramite)</a:t>
            </a:r>
          </a:p>
          <a:p>
            <a:pPr marL="285750" indent="-285750">
              <a:buFont typeface="Wingdings" panose="05000000000000000000" pitchFamily="2" charset="2"/>
              <a:buChar char="v"/>
            </a:pPr>
            <a:endParaRPr lang="es-ES" dirty="0">
              <a:solidFill>
                <a:srgbClr val="FFFFFF"/>
              </a:solidFill>
            </a:endParaRPr>
          </a:p>
        </p:txBody>
      </p:sp>
      <p:sp>
        <p:nvSpPr>
          <p:cNvPr id="4" name="Rectángulo 3"/>
          <p:cNvSpPr/>
          <p:nvPr/>
        </p:nvSpPr>
        <p:spPr>
          <a:xfrm>
            <a:off x="832878" y="944164"/>
            <a:ext cx="5024583" cy="457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solidFill>
                <a:srgbClr val="FFFFFF"/>
              </a:solidFill>
            </a:endParaRPr>
          </a:p>
        </p:txBody>
      </p:sp>
    </p:spTree>
    <p:extLst>
      <p:ext uri="{BB962C8B-B14F-4D97-AF65-F5344CB8AC3E}">
        <p14:creationId xmlns:p14="http://schemas.microsoft.com/office/powerpoint/2010/main" val="41852351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230521" y="157241"/>
            <a:ext cx="8083604" cy="4893647"/>
          </a:xfrm>
          <a:prstGeom prst="rect">
            <a:avLst/>
          </a:prstGeom>
          <a:noFill/>
        </p:spPr>
        <p:txBody>
          <a:bodyPr wrap="square" rtlCol="0">
            <a:spAutoFit/>
          </a:bodyPr>
          <a:lstStyle/>
          <a:p>
            <a:r>
              <a:rPr lang="es-ES" sz="1300" b="0" i="0" u="none" strike="noStrike" baseline="0" dirty="0">
                <a:solidFill>
                  <a:srgbClr val="000000"/>
                </a:solidFill>
                <a:latin typeface="Calibri" panose="020F0502020204030204" pitchFamily="34" charset="0"/>
              </a:rPr>
              <a:t>En el Share Point se creó una carpeta denominada: </a:t>
            </a:r>
            <a:r>
              <a:rPr lang="es-ES" sz="1300" b="1" i="0" u="none" strike="noStrike" baseline="0" dirty="0">
                <a:solidFill>
                  <a:srgbClr val="000000"/>
                </a:solidFill>
                <a:latin typeface="Calibri" panose="020F0502020204030204" pitchFamily="34" charset="0"/>
              </a:rPr>
              <a:t>10. COMITES DE EVALUACIÓN Y SEGUIMIENTO</a:t>
            </a:r>
            <a:r>
              <a:rPr lang="es-ES" sz="1300" b="0" i="0" u="none" strike="noStrike" baseline="0" dirty="0">
                <a:solidFill>
                  <a:srgbClr val="000000"/>
                </a:solidFill>
                <a:latin typeface="Calibri" panose="020F0502020204030204" pitchFamily="34" charset="0"/>
              </a:rPr>
              <a:t>, en donde encontrarán:</a:t>
            </a:r>
          </a:p>
          <a:p>
            <a:endParaRPr lang="es-ES" sz="1300" b="0" i="0" u="none" strike="noStrike" baseline="0" dirty="0">
              <a:solidFill>
                <a:srgbClr val="000000"/>
              </a:solidFill>
              <a:latin typeface="Calibri" panose="020F0502020204030204" pitchFamily="34" charset="0"/>
            </a:endParaRPr>
          </a:p>
          <a:p>
            <a:r>
              <a:rPr lang="es-CO" sz="1300" b="1" i="0" u="none" strike="noStrike" baseline="0" dirty="0">
                <a:solidFill>
                  <a:srgbClr val="000000"/>
                </a:solidFill>
                <a:latin typeface="Calibri" panose="020F0502020204030204" pitchFamily="34" charset="0"/>
              </a:rPr>
              <a:t>1. Formato Carta GD-F-011 V6.</a:t>
            </a:r>
          </a:p>
          <a:p>
            <a:pPr marL="342900" indent="-342900">
              <a:buAutoNum type="arabicPeriod"/>
            </a:pPr>
            <a:endParaRPr lang="es-CO" sz="1300" b="0" i="0" u="none" strike="noStrike" baseline="0" dirty="0">
              <a:solidFill>
                <a:srgbClr val="000000"/>
              </a:solidFill>
              <a:latin typeface="Calibri" panose="020F0502020204030204" pitchFamily="34" charset="0"/>
            </a:endParaRPr>
          </a:p>
          <a:p>
            <a:r>
              <a:rPr lang="es-ES" sz="1300" b="1" i="0" u="none" strike="noStrike" baseline="0" dirty="0">
                <a:solidFill>
                  <a:srgbClr val="000000"/>
                </a:solidFill>
                <a:latin typeface="Calibri" panose="020F0502020204030204" pitchFamily="34" charset="0"/>
              </a:rPr>
              <a:t>2. Dos archivos en Excel:</a:t>
            </a:r>
          </a:p>
          <a:p>
            <a:endParaRPr lang="es-ES" sz="1300" dirty="0">
              <a:solidFill>
                <a:srgbClr val="000000"/>
              </a:solidFill>
              <a:latin typeface="Calibri" panose="020F0502020204030204" pitchFamily="34" charset="0"/>
            </a:endParaRPr>
          </a:p>
          <a:p>
            <a:r>
              <a:rPr lang="es-ES" sz="1300" b="1" i="0" u="none" strike="noStrike" baseline="0" dirty="0">
                <a:solidFill>
                  <a:srgbClr val="000000"/>
                </a:solidFill>
                <a:latin typeface="Calibri" panose="020F0502020204030204" pitchFamily="34" charset="0"/>
              </a:rPr>
              <a:t>a. CRONOGRAMA COMITÉ DE EVALUACIÓN Y SEGUIMIENTO 2022.</a:t>
            </a:r>
          </a:p>
          <a:p>
            <a:endParaRPr lang="es-ES" sz="1300" b="1" i="0" u="none" strike="noStrike" baseline="0" dirty="0">
              <a:solidFill>
                <a:srgbClr val="000000"/>
              </a:solidFill>
              <a:latin typeface="Calibri" panose="020F0502020204030204" pitchFamily="34" charset="0"/>
            </a:endParaRPr>
          </a:p>
          <a:p>
            <a:r>
              <a:rPr lang="es-ES" sz="1300" b="1" i="0" u="none" strike="noStrike" baseline="0" dirty="0">
                <a:solidFill>
                  <a:srgbClr val="000000"/>
                </a:solidFill>
                <a:latin typeface="Calibri" panose="020F0502020204030204" pitchFamily="34" charset="0"/>
              </a:rPr>
              <a:t>i. </a:t>
            </a:r>
            <a:r>
              <a:rPr lang="es-ES" sz="1300" b="0" i="0" u="none" strike="noStrike" baseline="0" dirty="0">
                <a:solidFill>
                  <a:srgbClr val="000000"/>
                </a:solidFill>
                <a:latin typeface="Calibri" panose="020F0502020204030204" pitchFamily="34" charset="0"/>
              </a:rPr>
              <a:t>En este archivo encontraran las fechas para los comités de etapa productiva. </a:t>
            </a:r>
          </a:p>
          <a:p>
            <a:r>
              <a:rPr lang="es-ES" sz="1300" b="1" i="0" u="none" strike="noStrike" baseline="0" dirty="0">
                <a:solidFill>
                  <a:srgbClr val="000000"/>
                </a:solidFill>
                <a:latin typeface="Calibri" panose="020F0502020204030204" pitchFamily="34" charset="0"/>
              </a:rPr>
              <a:t>ii. </a:t>
            </a:r>
            <a:r>
              <a:rPr lang="es-ES" sz="1300" b="0" i="0" u="none" strike="noStrike" baseline="0" dirty="0">
                <a:solidFill>
                  <a:srgbClr val="000000"/>
                </a:solidFill>
                <a:latin typeface="Calibri" panose="020F0502020204030204" pitchFamily="34" charset="0"/>
              </a:rPr>
              <a:t>Deben gestionar las solicitudes de acuerdo con el cronograma mínimo 15 días hábiles antes, para que Jaime pueda verificar la documentación y enviar la citación. </a:t>
            </a:r>
          </a:p>
          <a:p>
            <a:endParaRPr lang="es-CO" sz="1300" b="0" i="0" u="none" strike="noStrike" baseline="0" dirty="0">
              <a:solidFill>
                <a:srgbClr val="000000"/>
              </a:solidFill>
              <a:latin typeface="Calibri" panose="020F0502020204030204" pitchFamily="34" charset="0"/>
            </a:endParaRPr>
          </a:p>
          <a:p>
            <a:r>
              <a:rPr lang="es-ES" sz="1300" b="1" i="0" u="none" strike="noStrike" baseline="0" dirty="0">
                <a:solidFill>
                  <a:srgbClr val="000000"/>
                </a:solidFill>
                <a:latin typeface="Calibri" panose="020F0502020204030204" pitchFamily="34" charset="0"/>
              </a:rPr>
              <a:t>b. RELACIÓN COMITÉS 2022.</a:t>
            </a:r>
          </a:p>
          <a:p>
            <a:endParaRPr lang="es-ES" sz="1300" b="1" dirty="0">
              <a:solidFill>
                <a:srgbClr val="000000"/>
              </a:solidFill>
              <a:latin typeface="Calibri" panose="020F0502020204030204" pitchFamily="34" charset="0"/>
            </a:endParaRPr>
          </a:p>
          <a:p>
            <a:r>
              <a:rPr lang="es-ES" sz="1300" b="1" i="0" u="none" strike="noStrike" baseline="0" dirty="0">
                <a:solidFill>
                  <a:srgbClr val="000000"/>
                </a:solidFill>
                <a:latin typeface="Calibri" panose="020F0502020204030204" pitchFamily="34" charset="0"/>
              </a:rPr>
              <a:t>i. </a:t>
            </a:r>
            <a:r>
              <a:rPr lang="es-ES" sz="1300" b="0" i="0" u="none" strike="noStrike" baseline="0" dirty="0">
                <a:solidFill>
                  <a:srgbClr val="000000"/>
                </a:solidFill>
                <a:latin typeface="Calibri" panose="020F0502020204030204" pitchFamily="34" charset="0"/>
              </a:rPr>
              <a:t>En este archivo deberán relacionar los aprendices que se llevarán a comité con la información solicitada por el documento. </a:t>
            </a:r>
            <a:endParaRPr lang="es-CO" sz="1300" b="0" i="0" u="none" strike="noStrike" baseline="0" dirty="0">
              <a:solidFill>
                <a:srgbClr val="000000"/>
              </a:solidFill>
              <a:latin typeface="Calibri" panose="020F0502020204030204" pitchFamily="34" charset="0"/>
            </a:endParaRPr>
          </a:p>
          <a:p>
            <a:endParaRPr lang="es-CO" sz="1300" b="0" i="0" u="none" strike="noStrike" baseline="0" dirty="0">
              <a:solidFill>
                <a:srgbClr val="000000"/>
              </a:solidFill>
              <a:latin typeface="Calibri" panose="020F0502020204030204" pitchFamily="34" charset="0"/>
            </a:endParaRPr>
          </a:p>
          <a:p>
            <a:r>
              <a:rPr lang="es-ES" sz="1300" b="1" i="0" u="none" strike="noStrike" baseline="0" dirty="0">
                <a:solidFill>
                  <a:srgbClr val="000000"/>
                </a:solidFill>
                <a:latin typeface="Calibri" panose="020F0502020204030204" pitchFamily="34" charset="0"/>
              </a:rPr>
              <a:t>3. </a:t>
            </a:r>
            <a:r>
              <a:rPr lang="es-ES" sz="1300" b="0" i="0" u="none" strike="noStrike" baseline="0" dirty="0">
                <a:solidFill>
                  <a:srgbClr val="000000"/>
                </a:solidFill>
                <a:latin typeface="Calibri" panose="020F0502020204030204" pitchFamily="34" charset="0"/>
              </a:rPr>
              <a:t>En el SharePoint encontrara Subcarpetas con los nombres de los meses del año </a:t>
            </a:r>
            <a:r>
              <a:rPr lang="es-ES" sz="1300" b="1" i="0" u="none" strike="noStrike" baseline="0" dirty="0">
                <a:solidFill>
                  <a:srgbClr val="000000"/>
                </a:solidFill>
                <a:latin typeface="Calibri" panose="020F0502020204030204" pitchFamily="34" charset="0"/>
              </a:rPr>
              <a:t>(4. ABRIL a 12. DICIEMBRE) </a:t>
            </a:r>
            <a:r>
              <a:rPr lang="es-ES" sz="1300" b="0" i="0" u="none" strike="noStrike" baseline="0" dirty="0">
                <a:solidFill>
                  <a:srgbClr val="000000"/>
                </a:solidFill>
                <a:latin typeface="Calibri" panose="020F0502020204030204" pitchFamily="34" charset="0"/>
              </a:rPr>
              <a:t>en donde deberán cargar un único archivo en formato PDF por cada aprendiz en donde se consolidan todos los documentos relacionados más adelante. Para nombrar cada documento se debe tener en cuenta el consecutivo de la base de Excel RELACIÓN COMITÉS 2022, y quedará con la siguiente información: “CONSECUTIVO (guion bajo) APELLIDOS NOMBRES (guion bajo) FICHA”. Ejemplo: si el aprendiz Juan Pérez de la ficha 1234567 está en el consecutivo 10 su PDF consolidado será nombrado así: 10_PEREZ_JUAN_1234567.pdf</a:t>
            </a:r>
          </a:p>
        </p:txBody>
      </p:sp>
    </p:spTree>
    <p:extLst>
      <p:ext uri="{BB962C8B-B14F-4D97-AF65-F5344CB8AC3E}">
        <p14:creationId xmlns:p14="http://schemas.microsoft.com/office/powerpoint/2010/main" val="21929738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382868" y="249495"/>
            <a:ext cx="5626046" cy="646331"/>
          </a:xfrm>
          <a:prstGeom prst="rect">
            <a:avLst/>
          </a:prstGeom>
          <a:noFill/>
        </p:spPr>
        <p:txBody>
          <a:bodyPr wrap="square" rtlCol="0">
            <a:spAutoFit/>
          </a:bodyPr>
          <a:lstStyle/>
          <a:p>
            <a:r>
              <a:rPr lang="es-ES" sz="3600" b="1" dirty="0">
                <a:solidFill>
                  <a:schemeClr val="bg1"/>
                </a:solidFill>
              </a:rPr>
              <a:t>Orden de los documentos</a:t>
            </a:r>
          </a:p>
        </p:txBody>
      </p:sp>
      <p:sp>
        <p:nvSpPr>
          <p:cNvPr id="3" name="CuadroTexto 2">
            <a:extLst>
              <a:ext uri="{FF2B5EF4-FFF2-40B4-BE49-F238E27FC236}">
                <a16:creationId xmlns:a16="http://schemas.microsoft.com/office/drawing/2014/main" id="{40A44DFA-929F-4CF4-ACDF-AB8D497C23D3}"/>
              </a:ext>
            </a:extLst>
          </p:cNvPr>
          <p:cNvSpPr txBox="1"/>
          <p:nvPr/>
        </p:nvSpPr>
        <p:spPr>
          <a:xfrm>
            <a:off x="249731" y="1179666"/>
            <a:ext cx="8644538" cy="3785652"/>
          </a:xfrm>
          <a:prstGeom prst="rect">
            <a:avLst/>
          </a:prstGeom>
          <a:noFill/>
        </p:spPr>
        <p:txBody>
          <a:bodyPr wrap="square" rtlCol="0">
            <a:spAutoFit/>
          </a:bodyPr>
          <a:lstStyle/>
          <a:p>
            <a:r>
              <a:rPr lang="es-ES" sz="1600" b="1" i="0" u="none" strike="noStrike" baseline="0" dirty="0">
                <a:solidFill>
                  <a:srgbClr val="000000"/>
                </a:solidFill>
                <a:latin typeface="Calibri" panose="020F0502020204030204" pitchFamily="34" charset="0"/>
              </a:rPr>
              <a:t>1. </a:t>
            </a:r>
            <a:r>
              <a:rPr lang="es-ES" sz="1600" b="0" i="0" u="none" strike="noStrike" baseline="0" dirty="0">
                <a:solidFill>
                  <a:srgbClr val="000000"/>
                </a:solidFill>
                <a:latin typeface="Calibri" panose="020F0502020204030204" pitchFamily="34" charset="0"/>
              </a:rPr>
              <a:t>Formato Carta GD-F-011 V6 debidamente adecuado y diligenciado con la información correspondiente. </a:t>
            </a:r>
            <a:r>
              <a:rPr lang="es-ES" sz="1600" b="1" i="1" u="none" strike="noStrike" baseline="0" dirty="0">
                <a:solidFill>
                  <a:srgbClr val="000000"/>
                </a:solidFill>
                <a:latin typeface="Calibri" panose="020F0502020204030204" pitchFamily="34" charset="0"/>
              </a:rPr>
              <a:t>(Por favor verificar que el nombre que se encuentra al frente de REVISO: sea el de Jaime Morales) </a:t>
            </a:r>
            <a:endParaRPr lang="es-ES" sz="1600" b="0" i="0" u="none" strike="noStrike" baseline="0" dirty="0">
              <a:solidFill>
                <a:srgbClr val="000000"/>
              </a:solidFill>
              <a:latin typeface="Calibri" panose="020F0502020204030204" pitchFamily="34" charset="0"/>
            </a:endParaRPr>
          </a:p>
          <a:p>
            <a:r>
              <a:rPr lang="es-CO" sz="1600" b="1" i="0" u="none" strike="noStrike" baseline="0" dirty="0">
                <a:solidFill>
                  <a:srgbClr val="000000"/>
                </a:solidFill>
                <a:latin typeface="Calibri" panose="020F0502020204030204" pitchFamily="34" charset="0"/>
              </a:rPr>
              <a:t>2. </a:t>
            </a:r>
            <a:r>
              <a:rPr lang="es-CO" sz="1600" b="0" i="0" u="none" strike="noStrike" baseline="0" dirty="0">
                <a:solidFill>
                  <a:srgbClr val="000000"/>
                </a:solidFill>
                <a:latin typeface="Calibri" panose="020F0502020204030204" pitchFamily="34" charset="0"/>
              </a:rPr>
              <a:t>Documento de trabajo – Citación a Comité Reglamento del aprendiz articulo 33 </a:t>
            </a:r>
          </a:p>
          <a:p>
            <a:r>
              <a:rPr lang="es-ES" sz="1600" b="1" i="0" u="none" strike="noStrike" baseline="0" dirty="0">
                <a:solidFill>
                  <a:srgbClr val="000000"/>
                </a:solidFill>
                <a:latin typeface="Calibri" panose="020F0502020204030204" pitchFamily="34" charset="0"/>
              </a:rPr>
              <a:t>3. </a:t>
            </a:r>
            <a:r>
              <a:rPr lang="es-ES" sz="1600" b="0" i="0" u="none" strike="noStrike" baseline="0" dirty="0">
                <a:solidFill>
                  <a:srgbClr val="000000"/>
                </a:solidFill>
                <a:latin typeface="Calibri" panose="020F0502020204030204" pitchFamily="34" charset="0"/>
              </a:rPr>
              <a:t>Actas de seguimiento y evaluación etapa productiva que soporten la citación </a:t>
            </a:r>
          </a:p>
          <a:p>
            <a:r>
              <a:rPr lang="es-ES" sz="1600" b="1" i="0" u="none" strike="noStrike" baseline="0" dirty="0">
                <a:solidFill>
                  <a:srgbClr val="000000"/>
                </a:solidFill>
                <a:latin typeface="Calibri" panose="020F0502020204030204" pitchFamily="34" charset="0"/>
              </a:rPr>
              <a:t>4. </a:t>
            </a:r>
            <a:r>
              <a:rPr lang="es-ES" sz="1600" b="0" i="0" u="none" strike="noStrike" baseline="0" dirty="0">
                <a:solidFill>
                  <a:srgbClr val="000000"/>
                </a:solidFill>
                <a:latin typeface="Calibri" panose="020F0502020204030204" pitchFamily="34" charset="0"/>
              </a:rPr>
              <a:t>Actas de terminación mutuo acuerdo (</a:t>
            </a:r>
            <a:r>
              <a:rPr lang="es-ES" sz="1600" b="0" i="1" u="none" strike="noStrike" baseline="0" dirty="0">
                <a:solidFill>
                  <a:srgbClr val="000000"/>
                </a:solidFill>
                <a:latin typeface="Calibri" panose="020F0502020204030204" pitchFamily="34" charset="0"/>
              </a:rPr>
              <a:t>documento (s) opcional dependiendo si el caso lo requiere</a:t>
            </a:r>
            <a:r>
              <a:rPr lang="es-ES" sz="1600" b="0" i="0" u="none" strike="noStrike" baseline="0" dirty="0">
                <a:solidFill>
                  <a:srgbClr val="000000"/>
                </a:solidFill>
                <a:latin typeface="Calibri" panose="020F0502020204030204" pitchFamily="34" charset="0"/>
              </a:rPr>
              <a:t>) </a:t>
            </a:r>
          </a:p>
          <a:p>
            <a:r>
              <a:rPr lang="es-ES" sz="1600" b="1" i="0" u="none" strike="noStrike" baseline="0" dirty="0">
                <a:solidFill>
                  <a:srgbClr val="000000"/>
                </a:solidFill>
                <a:latin typeface="Calibri" panose="020F0502020204030204" pitchFamily="34" charset="0"/>
              </a:rPr>
              <a:t>5. </a:t>
            </a:r>
            <a:r>
              <a:rPr lang="es-ES" sz="1600" b="0" i="0" u="none" strike="noStrike" baseline="0" dirty="0">
                <a:solidFill>
                  <a:srgbClr val="000000"/>
                </a:solidFill>
                <a:latin typeface="Calibri" panose="020F0502020204030204" pitchFamily="34" charset="0"/>
              </a:rPr>
              <a:t>Formato de planeación y evaluación etapa productiva F-023 </a:t>
            </a:r>
          </a:p>
          <a:p>
            <a:r>
              <a:rPr lang="es-CO" sz="1600" b="1" i="0" u="none" strike="noStrike" baseline="0" dirty="0">
                <a:solidFill>
                  <a:srgbClr val="000000"/>
                </a:solidFill>
                <a:latin typeface="Calibri" panose="020F0502020204030204" pitchFamily="34" charset="0"/>
              </a:rPr>
              <a:t>6. </a:t>
            </a:r>
            <a:r>
              <a:rPr lang="es-CO" sz="1600" b="0" i="0" u="none" strike="noStrike" baseline="0" dirty="0">
                <a:solidFill>
                  <a:srgbClr val="000000"/>
                </a:solidFill>
                <a:latin typeface="Calibri" panose="020F0502020204030204" pitchFamily="34" charset="0"/>
              </a:rPr>
              <a:t>Documento de trabajo – Informe o queja Articulo 30 acuerdo 007 de 2012 </a:t>
            </a:r>
          </a:p>
          <a:p>
            <a:r>
              <a:rPr lang="es-ES" sz="1600" b="1" i="0" u="none" strike="noStrike" baseline="0" dirty="0">
                <a:solidFill>
                  <a:srgbClr val="000000"/>
                </a:solidFill>
                <a:latin typeface="Calibri" panose="020F0502020204030204" pitchFamily="34" charset="0"/>
              </a:rPr>
              <a:t>7. </a:t>
            </a:r>
            <a:r>
              <a:rPr lang="es-ES" sz="1600" b="0" i="0" u="none" strike="noStrike" baseline="0" dirty="0">
                <a:solidFill>
                  <a:srgbClr val="000000"/>
                </a:solidFill>
                <a:latin typeface="Calibri" panose="020F0502020204030204" pitchFamily="34" charset="0"/>
              </a:rPr>
              <a:t>Documento de trabajo – Descargos del aprendiz en comité de evaluación y seguimiento Reglamento del aprendiz articulo 33 </a:t>
            </a:r>
          </a:p>
          <a:p>
            <a:r>
              <a:rPr lang="es-CO" sz="1600" b="1" i="0" u="none" strike="noStrike" baseline="0" dirty="0">
                <a:solidFill>
                  <a:srgbClr val="000000"/>
                </a:solidFill>
                <a:latin typeface="Calibri" panose="020F0502020204030204" pitchFamily="34" charset="0"/>
              </a:rPr>
              <a:t>8. </a:t>
            </a:r>
            <a:r>
              <a:rPr lang="es-CO" sz="1600" b="0" i="0" u="none" strike="noStrike" baseline="0" dirty="0">
                <a:solidFill>
                  <a:srgbClr val="000000"/>
                </a:solidFill>
                <a:latin typeface="Calibri" panose="020F0502020204030204" pitchFamily="34" charset="0"/>
              </a:rPr>
              <a:t>Correos electrónicos </a:t>
            </a:r>
          </a:p>
          <a:p>
            <a:r>
              <a:rPr lang="es-ES" sz="1600" b="1" i="0" u="none" strike="noStrike" baseline="0" dirty="0">
                <a:solidFill>
                  <a:srgbClr val="000000"/>
                </a:solidFill>
                <a:latin typeface="Calibri" panose="020F0502020204030204" pitchFamily="34" charset="0"/>
              </a:rPr>
              <a:t>9. </a:t>
            </a:r>
            <a:r>
              <a:rPr lang="es-ES" sz="1600" b="0" i="0" u="none" strike="noStrike" baseline="0" dirty="0">
                <a:solidFill>
                  <a:srgbClr val="000000"/>
                </a:solidFill>
                <a:latin typeface="Calibri" panose="020F0502020204030204" pitchFamily="34" charset="0"/>
              </a:rPr>
              <a:t>Planes de mejoramiento (</a:t>
            </a:r>
            <a:r>
              <a:rPr lang="es-ES" sz="1600" b="0" i="1" u="none" strike="noStrike" baseline="0" dirty="0">
                <a:solidFill>
                  <a:srgbClr val="000000"/>
                </a:solidFill>
                <a:latin typeface="Calibri" panose="020F0502020204030204" pitchFamily="34" charset="0"/>
              </a:rPr>
              <a:t>documento (s) opcional dependiendo si el caso lo requiere</a:t>
            </a:r>
            <a:r>
              <a:rPr lang="es-ES" sz="1600" b="0" i="0" u="none" strike="noStrike" baseline="0" dirty="0">
                <a:solidFill>
                  <a:srgbClr val="000000"/>
                </a:solidFill>
                <a:latin typeface="Calibri" panose="020F0502020204030204" pitchFamily="34" charset="0"/>
              </a:rPr>
              <a:t>) </a:t>
            </a:r>
          </a:p>
          <a:p>
            <a:r>
              <a:rPr lang="es-ES" sz="1600" b="1" i="0" u="none" strike="noStrike" baseline="0" dirty="0">
                <a:solidFill>
                  <a:srgbClr val="000000"/>
                </a:solidFill>
                <a:latin typeface="Calibri" panose="020F0502020204030204" pitchFamily="34" charset="0"/>
              </a:rPr>
              <a:t>10. </a:t>
            </a:r>
            <a:r>
              <a:rPr lang="es-ES" sz="1600" b="0" i="0" u="none" strike="noStrike" baseline="0" dirty="0">
                <a:solidFill>
                  <a:srgbClr val="000000"/>
                </a:solidFill>
                <a:latin typeface="Calibri" panose="020F0502020204030204" pitchFamily="34" charset="0"/>
              </a:rPr>
              <a:t>Llamados de atención reglamento del aprendiz articulo 28 </a:t>
            </a:r>
          </a:p>
          <a:p>
            <a:r>
              <a:rPr lang="es-ES" sz="1600" b="1" i="0" u="none" strike="noStrike" baseline="0" dirty="0">
                <a:solidFill>
                  <a:srgbClr val="000000"/>
                </a:solidFill>
                <a:latin typeface="Calibri" panose="020F0502020204030204" pitchFamily="34" charset="0"/>
              </a:rPr>
              <a:t>11. </a:t>
            </a:r>
            <a:r>
              <a:rPr lang="es-ES" sz="1600" b="0" i="0" u="none" strike="noStrike" baseline="0" dirty="0">
                <a:solidFill>
                  <a:srgbClr val="000000"/>
                </a:solidFill>
                <a:latin typeface="Calibri" panose="020F0502020204030204" pitchFamily="34" charset="0"/>
              </a:rPr>
              <a:t>Documento de trabajo – novedad deserción Acuerdo 007 de 2012 Articulo 22 numeral 4 (</a:t>
            </a:r>
            <a:r>
              <a:rPr lang="es-ES" sz="1600" b="0" i="1" u="none" strike="noStrike" baseline="0" dirty="0">
                <a:solidFill>
                  <a:srgbClr val="000000"/>
                </a:solidFill>
                <a:latin typeface="Calibri" panose="020F0502020204030204" pitchFamily="34" charset="0"/>
              </a:rPr>
              <a:t>documento (s) opcional dependiendo si el caso lo requiere</a:t>
            </a:r>
            <a:r>
              <a:rPr lang="es-ES" sz="1600" b="0" i="0" u="none" strike="noStrike" baseline="0" dirty="0">
                <a:solidFill>
                  <a:srgbClr val="000000"/>
                </a:solidFill>
                <a:latin typeface="Calibri" panose="020F0502020204030204" pitchFamily="34" charset="0"/>
              </a:rPr>
              <a:t>) </a:t>
            </a:r>
          </a:p>
        </p:txBody>
      </p:sp>
    </p:spTree>
    <p:extLst>
      <p:ext uri="{BB962C8B-B14F-4D97-AF65-F5344CB8AC3E}">
        <p14:creationId xmlns:p14="http://schemas.microsoft.com/office/powerpoint/2010/main" val="2067576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p:cNvSpPr txBox="1"/>
          <p:nvPr/>
        </p:nvSpPr>
        <p:spPr>
          <a:xfrm>
            <a:off x="486749" y="25602"/>
            <a:ext cx="4409018" cy="1077218"/>
          </a:xfrm>
          <a:prstGeom prst="rect">
            <a:avLst/>
          </a:prstGeom>
          <a:noFill/>
        </p:spPr>
        <p:txBody>
          <a:bodyPr wrap="square" rtlCol="0">
            <a:spAutoFit/>
          </a:bodyPr>
          <a:lstStyle/>
          <a:p>
            <a:r>
              <a:rPr lang="es-ES" sz="3200" b="1" dirty="0">
                <a:solidFill>
                  <a:schemeClr val="bg1"/>
                </a:solidFill>
              </a:rPr>
              <a:t>01. GD-F-011 V6 - Carta Citación a Comité</a:t>
            </a:r>
          </a:p>
        </p:txBody>
      </p:sp>
      <p:sp>
        <p:nvSpPr>
          <p:cNvPr id="6" name="CuadroTexto 5"/>
          <p:cNvSpPr txBox="1"/>
          <p:nvPr/>
        </p:nvSpPr>
        <p:spPr>
          <a:xfrm>
            <a:off x="486749" y="1603413"/>
            <a:ext cx="2986434" cy="2308324"/>
          </a:xfrm>
          <a:prstGeom prst="rect">
            <a:avLst/>
          </a:prstGeom>
          <a:noFill/>
        </p:spPr>
        <p:txBody>
          <a:bodyPr wrap="square" rtlCol="0">
            <a:spAutoFit/>
          </a:bodyPr>
          <a:lstStyle/>
          <a:p>
            <a:pPr algn="just" defTabSz="943239" hangingPunct="0"/>
            <a:r>
              <a:rPr kumimoji="0" lang="es-ES" sz="1600" b="0" i="0" u="none" strike="noStrike" cap="none" spc="0" normalizeH="0" baseline="0" dirty="0">
                <a:ln>
                  <a:noFill/>
                </a:ln>
                <a:solidFill>
                  <a:srgbClr val="404040"/>
                </a:solidFill>
                <a:effectLst/>
                <a:uFillTx/>
                <a:latin typeface="Calibir"/>
                <a:ea typeface="Helvetica Neue"/>
                <a:cs typeface="Calibir"/>
                <a:sym typeface="Helvetica Neue"/>
              </a:rPr>
              <a:t>Es el primer documento que deben llenar, se realizo un pequeño ajuste para así guiar a los instructores y consiste en que las letras de color negro son las partes que no deben ser modificadas y las partes rojas son las que deberán ser modificadas por el Instructor que lo requiere. </a:t>
            </a:r>
            <a:endParaRPr kumimoji="0" lang="es-ES" sz="1600" b="1" i="0" u="none" strike="noStrike" cap="none" spc="0" normalizeH="0" baseline="0" dirty="0">
              <a:ln>
                <a:noFill/>
              </a:ln>
              <a:solidFill>
                <a:srgbClr val="404040"/>
              </a:solidFill>
              <a:effectLst/>
              <a:uFillTx/>
              <a:latin typeface="Calibir"/>
              <a:ea typeface="Helvetica Neue"/>
              <a:cs typeface="Calibir"/>
              <a:sym typeface="Helvetica Neue"/>
            </a:endParaRPr>
          </a:p>
        </p:txBody>
      </p:sp>
      <p:sp>
        <p:nvSpPr>
          <p:cNvPr id="7" name="Rectángulo 6"/>
          <p:cNvSpPr/>
          <p:nvPr/>
        </p:nvSpPr>
        <p:spPr>
          <a:xfrm flipV="1">
            <a:off x="582449" y="1195771"/>
            <a:ext cx="3932856" cy="45719"/>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pic>
        <p:nvPicPr>
          <p:cNvPr id="8" name="Imagen 7">
            <a:extLst>
              <a:ext uri="{FF2B5EF4-FFF2-40B4-BE49-F238E27FC236}">
                <a16:creationId xmlns:a16="http://schemas.microsoft.com/office/drawing/2014/main" id="{FBE9D8FC-2B2D-4535-82CF-49D7229936E8}"/>
              </a:ext>
            </a:extLst>
          </p:cNvPr>
          <p:cNvPicPr>
            <a:picLocks noChangeAspect="1"/>
          </p:cNvPicPr>
          <p:nvPr/>
        </p:nvPicPr>
        <p:blipFill>
          <a:blip r:embed="rId2"/>
          <a:stretch>
            <a:fillRect/>
          </a:stretch>
        </p:blipFill>
        <p:spPr>
          <a:xfrm>
            <a:off x="3702165" y="1603413"/>
            <a:ext cx="5381537" cy="3476065"/>
          </a:xfrm>
          <a:prstGeom prst="rect">
            <a:avLst/>
          </a:prstGeom>
        </p:spPr>
      </p:pic>
    </p:spTree>
    <p:extLst>
      <p:ext uri="{BB962C8B-B14F-4D97-AF65-F5344CB8AC3E}">
        <p14:creationId xmlns:p14="http://schemas.microsoft.com/office/powerpoint/2010/main" val="15405648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p:cNvSpPr txBox="1"/>
          <p:nvPr/>
        </p:nvSpPr>
        <p:spPr>
          <a:xfrm>
            <a:off x="486748" y="64022"/>
            <a:ext cx="4521165" cy="2062103"/>
          </a:xfrm>
          <a:prstGeom prst="rect">
            <a:avLst/>
          </a:prstGeom>
          <a:noFill/>
        </p:spPr>
        <p:txBody>
          <a:bodyPr wrap="square" rtlCol="0">
            <a:spAutoFit/>
          </a:bodyPr>
          <a:lstStyle/>
          <a:p>
            <a:r>
              <a:rPr lang="es-ES" sz="3200" b="1" dirty="0"/>
              <a:t>05. Doc. de Trabajo - Citación a Comité Reglamento Del Aprendiz - Articulo 33</a:t>
            </a:r>
          </a:p>
        </p:txBody>
      </p:sp>
      <p:sp>
        <p:nvSpPr>
          <p:cNvPr id="6" name="CuadroTexto 5"/>
          <p:cNvSpPr txBox="1"/>
          <p:nvPr/>
        </p:nvSpPr>
        <p:spPr>
          <a:xfrm>
            <a:off x="486748" y="2379500"/>
            <a:ext cx="4200512" cy="1569660"/>
          </a:xfrm>
          <a:prstGeom prst="rect">
            <a:avLst/>
          </a:prstGeom>
          <a:noFill/>
        </p:spPr>
        <p:txBody>
          <a:bodyPr wrap="square" rtlCol="0">
            <a:spAutoFit/>
          </a:bodyPr>
          <a:lstStyle/>
          <a:p>
            <a:pPr algn="just" defTabSz="943239" hangingPunct="0"/>
            <a:r>
              <a:rPr lang="es-ES" sz="1600" dirty="0">
                <a:solidFill>
                  <a:srgbClr val="404040"/>
                </a:solidFill>
                <a:latin typeface="Calibir"/>
                <a:ea typeface="Helvetica Neue"/>
                <a:cs typeface="Calibir"/>
                <a:sym typeface="Helvetica Neue"/>
              </a:rPr>
              <a:t>Es el segundo documento que se debe diligenciar de acuerdo al debido proceso donde el Instructor deberá diligenciar con todos los datos de la citación acompañados de los datos personales y datos educativos de la aprendiz citada.</a:t>
            </a:r>
            <a:endParaRPr kumimoji="0" lang="es-ES" sz="1600" b="1" i="0" u="none" strike="noStrike" cap="none" spc="0" normalizeH="0" baseline="0" dirty="0">
              <a:ln>
                <a:noFill/>
              </a:ln>
              <a:solidFill>
                <a:srgbClr val="404040"/>
              </a:solidFill>
              <a:effectLst/>
              <a:uFillTx/>
              <a:latin typeface="Calibir"/>
              <a:ea typeface="Helvetica Neue"/>
              <a:cs typeface="Calibir"/>
              <a:sym typeface="Helvetica Neue"/>
            </a:endParaRPr>
          </a:p>
        </p:txBody>
      </p:sp>
      <p:sp>
        <p:nvSpPr>
          <p:cNvPr id="7" name="Rectángulo 6"/>
          <p:cNvSpPr/>
          <p:nvPr/>
        </p:nvSpPr>
        <p:spPr>
          <a:xfrm>
            <a:off x="560934" y="2080406"/>
            <a:ext cx="4196539" cy="45719"/>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pic>
        <p:nvPicPr>
          <p:cNvPr id="3" name="Imagen 2">
            <a:extLst>
              <a:ext uri="{FF2B5EF4-FFF2-40B4-BE49-F238E27FC236}">
                <a16:creationId xmlns:a16="http://schemas.microsoft.com/office/drawing/2014/main" id="{6081EB56-02C8-4268-A012-3583522CD4F9}"/>
              </a:ext>
            </a:extLst>
          </p:cNvPr>
          <p:cNvPicPr>
            <a:picLocks noChangeAspect="1"/>
          </p:cNvPicPr>
          <p:nvPr/>
        </p:nvPicPr>
        <p:blipFill>
          <a:blip r:embed="rId2"/>
          <a:stretch>
            <a:fillRect/>
          </a:stretch>
        </p:blipFill>
        <p:spPr>
          <a:xfrm>
            <a:off x="5007913" y="279273"/>
            <a:ext cx="3160216" cy="469517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5940396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p:cNvSpPr txBox="1"/>
          <p:nvPr/>
        </p:nvSpPr>
        <p:spPr>
          <a:xfrm>
            <a:off x="486748" y="64022"/>
            <a:ext cx="3539685" cy="2554545"/>
          </a:xfrm>
          <a:prstGeom prst="rect">
            <a:avLst/>
          </a:prstGeom>
          <a:noFill/>
        </p:spPr>
        <p:txBody>
          <a:bodyPr wrap="square" rtlCol="0">
            <a:spAutoFit/>
          </a:bodyPr>
          <a:lstStyle/>
          <a:p>
            <a:r>
              <a:rPr lang="es-ES" sz="3200" b="1" dirty="0"/>
              <a:t>02. Doc. de Trabajo - Informe o Queja - Artículo 30, Acuerdo 007, Del 2012</a:t>
            </a:r>
          </a:p>
        </p:txBody>
      </p:sp>
      <p:sp>
        <p:nvSpPr>
          <p:cNvPr id="6" name="CuadroTexto 5"/>
          <p:cNvSpPr txBox="1"/>
          <p:nvPr/>
        </p:nvSpPr>
        <p:spPr>
          <a:xfrm>
            <a:off x="486747" y="3077765"/>
            <a:ext cx="3539685" cy="1077218"/>
          </a:xfrm>
          <a:prstGeom prst="rect">
            <a:avLst/>
          </a:prstGeom>
          <a:noFill/>
        </p:spPr>
        <p:txBody>
          <a:bodyPr wrap="square" rtlCol="0">
            <a:spAutoFit/>
          </a:bodyPr>
          <a:lstStyle/>
          <a:p>
            <a:pPr algn="just" defTabSz="943239" hangingPunct="0"/>
            <a:r>
              <a:rPr lang="es-ES" sz="1600" dirty="0">
                <a:solidFill>
                  <a:srgbClr val="404040"/>
                </a:solidFill>
                <a:latin typeface="Calibir"/>
                <a:ea typeface="Helvetica Neue"/>
                <a:cs typeface="Calibir"/>
                <a:sym typeface="Helvetica Neue"/>
              </a:rPr>
              <a:t>Es el documento que debe llenar el instructor para documentar la situación que va exponer los hechos con la información de los aprendices</a:t>
            </a:r>
            <a:endParaRPr kumimoji="0" lang="es-ES" sz="1600" b="1" i="0" u="none" strike="noStrike" cap="none" spc="0" normalizeH="0" baseline="0" dirty="0">
              <a:ln>
                <a:noFill/>
              </a:ln>
              <a:solidFill>
                <a:srgbClr val="404040"/>
              </a:solidFill>
              <a:effectLst/>
              <a:uFillTx/>
              <a:latin typeface="Calibir"/>
              <a:ea typeface="Helvetica Neue"/>
              <a:cs typeface="Calibir"/>
              <a:sym typeface="Helvetica Neue"/>
            </a:endParaRPr>
          </a:p>
        </p:txBody>
      </p:sp>
      <p:sp>
        <p:nvSpPr>
          <p:cNvPr id="7" name="Rectángulo 6"/>
          <p:cNvSpPr/>
          <p:nvPr/>
        </p:nvSpPr>
        <p:spPr>
          <a:xfrm>
            <a:off x="486748" y="2742199"/>
            <a:ext cx="3386005" cy="45719"/>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pic>
        <p:nvPicPr>
          <p:cNvPr id="4" name="Imagen 3">
            <a:extLst>
              <a:ext uri="{FF2B5EF4-FFF2-40B4-BE49-F238E27FC236}">
                <a16:creationId xmlns:a16="http://schemas.microsoft.com/office/drawing/2014/main" id="{46CE124D-9308-4FB1-AD09-0C78BFB8D87C}"/>
              </a:ext>
            </a:extLst>
          </p:cNvPr>
          <p:cNvPicPr>
            <a:picLocks noChangeAspect="1"/>
          </p:cNvPicPr>
          <p:nvPr/>
        </p:nvPicPr>
        <p:blipFill rotWithShape="1">
          <a:blip r:embed="rId2"/>
          <a:srcRect r="33277"/>
          <a:stretch/>
        </p:blipFill>
        <p:spPr>
          <a:xfrm>
            <a:off x="4206120" y="209387"/>
            <a:ext cx="3903489" cy="2588664"/>
          </a:xfrm>
          <a:prstGeom prst="rect">
            <a:avLst/>
          </a:prstGeom>
        </p:spPr>
      </p:pic>
      <p:pic>
        <p:nvPicPr>
          <p:cNvPr id="9" name="Imagen 8">
            <a:extLst>
              <a:ext uri="{FF2B5EF4-FFF2-40B4-BE49-F238E27FC236}">
                <a16:creationId xmlns:a16="http://schemas.microsoft.com/office/drawing/2014/main" id="{F392FA14-00A8-4785-A41D-EEEABDD9391E}"/>
              </a:ext>
            </a:extLst>
          </p:cNvPr>
          <p:cNvPicPr>
            <a:picLocks noChangeAspect="1"/>
          </p:cNvPicPr>
          <p:nvPr/>
        </p:nvPicPr>
        <p:blipFill rotWithShape="1">
          <a:blip r:embed="rId2"/>
          <a:srcRect l="66050"/>
          <a:stretch/>
        </p:blipFill>
        <p:spPr>
          <a:xfrm>
            <a:off x="5271249" y="2551869"/>
            <a:ext cx="1975686" cy="2575014"/>
          </a:xfrm>
          <a:prstGeom prst="rect">
            <a:avLst/>
          </a:prstGeom>
        </p:spPr>
      </p:pic>
    </p:spTree>
    <p:extLst>
      <p:ext uri="{BB962C8B-B14F-4D97-AF65-F5344CB8AC3E}">
        <p14:creationId xmlns:p14="http://schemas.microsoft.com/office/powerpoint/2010/main" val="2645503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p:cNvSpPr txBox="1"/>
          <p:nvPr/>
        </p:nvSpPr>
        <p:spPr>
          <a:xfrm>
            <a:off x="486748" y="64022"/>
            <a:ext cx="7842744" cy="1569660"/>
          </a:xfrm>
          <a:prstGeom prst="rect">
            <a:avLst/>
          </a:prstGeom>
          <a:noFill/>
        </p:spPr>
        <p:txBody>
          <a:bodyPr wrap="square" rtlCol="0">
            <a:spAutoFit/>
          </a:bodyPr>
          <a:lstStyle/>
          <a:p>
            <a:r>
              <a:rPr lang="es-ES" sz="3200" b="1" dirty="0"/>
              <a:t>03. Doc. de Trabajo - Descargos Del Aprendiz en Comité de Evaluación Y Seguimiento - Reglamento del Aprendiz - Articulo 33</a:t>
            </a:r>
          </a:p>
        </p:txBody>
      </p:sp>
      <p:sp>
        <p:nvSpPr>
          <p:cNvPr id="6" name="CuadroTexto 5"/>
          <p:cNvSpPr txBox="1"/>
          <p:nvPr/>
        </p:nvSpPr>
        <p:spPr>
          <a:xfrm>
            <a:off x="486748" y="2052869"/>
            <a:ext cx="3355269" cy="1815882"/>
          </a:xfrm>
          <a:prstGeom prst="rect">
            <a:avLst/>
          </a:prstGeom>
          <a:noFill/>
        </p:spPr>
        <p:txBody>
          <a:bodyPr wrap="square" rtlCol="0">
            <a:spAutoFit/>
          </a:bodyPr>
          <a:lstStyle/>
          <a:p>
            <a:pPr algn="just" defTabSz="943239" hangingPunct="0"/>
            <a:r>
              <a:rPr lang="es-ES" sz="1600" dirty="0">
                <a:solidFill>
                  <a:srgbClr val="404040"/>
                </a:solidFill>
                <a:latin typeface="Calibir"/>
                <a:ea typeface="Helvetica Neue"/>
                <a:cs typeface="Calibir"/>
                <a:sym typeface="Helvetica Neue"/>
              </a:rPr>
              <a:t>Es el segundo documento que se debe diligenciar de acuerdo al debido proceso donde el Instructor deberá diligenciar con todos los datos de la citación acompañados de los datos personales y datos educativos de la aprendiz citada.</a:t>
            </a:r>
            <a:endParaRPr kumimoji="0" lang="es-ES" sz="1600" b="1" i="0" u="none" strike="noStrike" cap="none" spc="0" normalizeH="0" baseline="0" dirty="0">
              <a:ln>
                <a:noFill/>
              </a:ln>
              <a:solidFill>
                <a:srgbClr val="404040"/>
              </a:solidFill>
              <a:effectLst/>
              <a:uFillTx/>
              <a:latin typeface="Calibir"/>
              <a:ea typeface="Helvetica Neue"/>
              <a:cs typeface="Calibir"/>
              <a:sym typeface="Helvetica Neue"/>
            </a:endParaRPr>
          </a:p>
        </p:txBody>
      </p:sp>
      <p:sp>
        <p:nvSpPr>
          <p:cNvPr id="7" name="Rectángulo 6"/>
          <p:cNvSpPr/>
          <p:nvPr/>
        </p:nvSpPr>
        <p:spPr>
          <a:xfrm>
            <a:off x="486748" y="1643296"/>
            <a:ext cx="3701050" cy="45719"/>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pic>
        <p:nvPicPr>
          <p:cNvPr id="4" name="Imagen 3">
            <a:extLst>
              <a:ext uri="{FF2B5EF4-FFF2-40B4-BE49-F238E27FC236}">
                <a16:creationId xmlns:a16="http://schemas.microsoft.com/office/drawing/2014/main" id="{B71FA031-8297-4361-B690-3C258FA76510}"/>
              </a:ext>
            </a:extLst>
          </p:cNvPr>
          <p:cNvPicPr>
            <a:picLocks noChangeAspect="1"/>
          </p:cNvPicPr>
          <p:nvPr/>
        </p:nvPicPr>
        <p:blipFill>
          <a:blip r:embed="rId2"/>
          <a:stretch>
            <a:fillRect/>
          </a:stretch>
        </p:blipFill>
        <p:spPr>
          <a:xfrm>
            <a:off x="4408120" y="1793654"/>
            <a:ext cx="4542918" cy="314004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6963117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A9472B-7383-49E7-8A4F-F0BA8D6B66F5}"/>
              </a:ext>
            </a:extLst>
          </p:cNvPr>
          <p:cNvSpPr txBox="1">
            <a:spLocks/>
          </p:cNvSpPr>
          <p:nvPr/>
        </p:nvSpPr>
        <p:spPr>
          <a:xfrm>
            <a:off x="457200" y="113108"/>
            <a:ext cx="6942523" cy="678347"/>
          </a:xfrm>
          <a:prstGeom prst="rect">
            <a:avLst/>
          </a:prstGeom>
        </p:spPr>
        <p:txBody>
          <a:bodyPr anchor="ct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3500" b="1" dirty="0">
                <a:solidFill>
                  <a:schemeClr val="tx1">
                    <a:lumMod val="85000"/>
                    <a:lumOff val="15000"/>
                  </a:schemeClr>
                </a:solidFill>
              </a:rPr>
              <a:t>Errores comunes de los Instructores</a:t>
            </a:r>
          </a:p>
        </p:txBody>
      </p:sp>
      <p:sp>
        <p:nvSpPr>
          <p:cNvPr id="3" name="Marcador de texto 3">
            <a:extLst>
              <a:ext uri="{FF2B5EF4-FFF2-40B4-BE49-F238E27FC236}">
                <a16:creationId xmlns:a16="http://schemas.microsoft.com/office/drawing/2014/main" id="{4DCDED1F-FEA6-4619-87F0-8BD9C9EAB238}"/>
              </a:ext>
            </a:extLst>
          </p:cNvPr>
          <p:cNvSpPr txBox="1">
            <a:spLocks/>
          </p:cNvSpPr>
          <p:nvPr/>
        </p:nvSpPr>
        <p:spPr>
          <a:xfrm>
            <a:off x="457201" y="1076326"/>
            <a:ext cx="3008313" cy="3862387"/>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a:r>
              <a:rPr lang="es-CO" sz="1800" dirty="0">
                <a:solidFill>
                  <a:schemeClr val="bg1">
                    <a:lumMod val="95000"/>
                  </a:schemeClr>
                </a:solidFill>
              </a:rPr>
              <a:t>Las novedades que mas se han presentado por parte de los instructores se debe a la desinformación del diligenciamiento de los formatos. </a:t>
            </a:r>
          </a:p>
          <a:p>
            <a:pPr algn="just"/>
            <a:endParaRPr lang="es-CO" sz="1800" dirty="0">
              <a:solidFill>
                <a:schemeClr val="bg1">
                  <a:lumMod val="95000"/>
                </a:schemeClr>
              </a:solidFill>
            </a:endParaRPr>
          </a:p>
          <a:p>
            <a:pPr algn="just"/>
            <a:r>
              <a:rPr lang="es-CO" sz="1800" dirty="0">
                <a:solidFill>
                  <a:schemeClr val="bg1">
                    <a:lumMod val="95000"/>
                  </a:schemeClr>
                </a:solidFill>
              </a:rPr>
              <a:t>Si tienen alguna novedad, inquietud o inconveniente referente al tema deben preguntar para así evitar gastos innecesarios de tiempo o reprocesos.</a:t>
            </a:r>
          </a:p>
        </p:txBody>
      </p:sp>
      <p:sp>
        <p:nvSpPr>
          <p:cNvPr id="4" name="Marcador de contenido 2">
            <a:extLst>
              <a:ext uri="{FF2B5EF4-FFF2-40B4-BE49-F238E27FC236}">
                <a16:creationId xmlns:a16="http://schemas.microsoft.com/office/drawing/2014/main" id="{501EFEDE-5968-4766-9FF4-E5A0F37EA24E}"/>
              </a:ext>
            </a:extLst>
          </p:cNvPr>
          <p:cNvSpPr txBox="1">
            <a:spLocks/>
          </p:cNvSpPr>
          <p:nvPr/>
        </p:nvSpPr>
        <p:spPr>
          <a:xfrm>
            <a:off x="3575050" y="1076325"/>
            <a:ext cx="5111750" cy="3518298"/>
          </a:xfrm>
          <a:prstGeom prst="rect">
            <a:avLst/>
          </a:prstGeom>
        </p:spPr>
        <p:txBody>
          <a:bodyPr anchor="ct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s-CO" b="1" dirty="0">
                <a:solidFill>
                  <a:schemeClr val="bg1">
                    <a:lumMod val="95000"/>
                  </a:schemeClr>
                </a:solidFill>
              </a:rPr>
              <a:t>A continuación veremos algunos de ellos:</a:t>
            </a:r>
          </a:p>
        </p:txBody>
      </p:sp>
      <p:sp>
        <p:nvSpPr>
          <p:cNvPr id="6" name="Rectángulo 5">
            <a:extLst>
              <a:ext uri="{FF2B5EF4-FFF2-40B4-BE49-F238E27FC236}">
                <a16:creationId xmlns:a16="http://schemas.microsoft.com/office/drawing/2014/main" id="{1B0B95FC-B7D8-4AC7-9B1C-EC3A707AE0FD}"/>
              </a:ext>
            </a:extLst>
          </p:cNvPr>
          <p:cNvSpPr/>
          <p:nvPr/>
        </p:nvSpPr>
        <p:spPr>
          <a:xfrm>
            <a:off x="540536" y="791455"/>
            <a:ext cx="6590247" cy="457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solidFill>
                <a:schemeClr val="tx1"/>
              </a:solidFill>
            </a:endParaRPr>
          </a:p>
        </p:txBody>
      </p:sp>
    </p:spTree>
    <p:extLst>
      <p:ext uri="{BB962C8B-B14F-4D97-AF65-F5344CB8AC3E}">
        <p14:creationId xmlns:p14="http://schemas.microsoft.com/office/powerpoint/2010/main" val="3847066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FEDD040-E6DE-4140-91EF-4E785115B6CA}"/>
              </a:ext>
            </a:extLst>
          </p:cNvPr>
          <p:cNvSpPr txBox="1"/>
          <p:nvPr/>
        </p:nvSpPr>
        <p:spPr>
          <a:xfrm>
            <a:off x="432960" y="217703"/>
            <a:ext cx="7842744" cy="584775"/>
          </a:xfrm>
          <a:prstGeom prst="rect">
            <a:avLst/>
          </a:prstGeom>
          <a:noFill/>
        </p:spPr>
        <p:txBody>
          <a:bodyPr wrap="square" rtlCol="0">
            <a:spAutoFit/>
          </a:bodyPr>
          <a:lstStyle/>
          <a:p>
            <a:r>
              <a:rPr lang="es-ES" sz="3200" b="1" dirty="0"/>
              <a:t>No tipificar la falta correctamente</a:t>
            </a:r>
          </a:p>
        </p:txBody>
      </p:sp>
      <p:sp>
        <p:nvSpPr>
          <p:cNvPr id="3" name="CuadroTexto 2">
            <a:extLst>
              <a:ext uri="{FF2B5EF4-FFF2-40B4-BE49-F238E27FC236}">
                <a16:creationId xmlns:a16="http://schemas.microsoft.com/office/drawing/2014/main" id="{5F7D3CE4-9CAF-445F-8F4C-696A56262EB2}"/>
              </a:ext>
            </a:extLst>
          </p:cNvPr>
          <p:cNvSpPr txBox="1"/>
          <p:nvPr/>
        </p:nvSpPr>
        <p:spPr>
          <a:xfrm>
            <a:off x="133602" y="1185863"/>
            <a:ext cx="2817067" cy="3539430"/>
          </a:xfrm>
          <a:prstGeom prst="rect">
            <a:avLst/>
          </a:prstGeom>
          <a:noFill/>
        </p:spPr>
        <p:txBody>
          <a:bodyPr wrap="square" lIns="91440" tIns="45720" rIns="91440" bIns="45720" rtlCol="0" anchor="t">
            <a:spAutoFit/>
          </a:bodyPr>
          <a:lstStyle/>
          <a:p>
            <a:pPr algn="just" defTabSz="943239" hangingPunct="0"/>
            <a:r>
              <a:rPr lang="es-ES" sz="1600" dirty="0">
                <a:solidFill>
                  <a:srgbClr val="404040"/>
                </a:solidFill>
                <a:latin typeface="Calibir"/>
                <a:ea typeface="Helvetica Neue"/>
                <a:cs typeface="Calibir"/>
                <a:sym typeface="Helvetica Neue"/>
              </a:rPr>
              <a:t>La mayoría de los instructores presentan esta novedad de acuerdo a </a:t>
            </a:r>
            <a:r>
              <a:rPr lang="es-ES" sz="1600">
                <a:solidFill>
                  <a:srgbClr val="404040"/>
                </a:solidFill>
                <a:latin typeface="Calibir"/>
                <a:ea typeface="Helvetica Neue"/>
                <a:cs typeface="Calibir"/>
                <a:sym typeface="Helvetica Neue"/>
              </a:rPr>
              <a:t>la revisión</a:t>
            </a:r>
            <a:r>
              <a:rPr lang="es-ES" sz="1600" dirty="0">
                <a:solidFill>
                  <a:srgbClr val="404040"/>
                </a:solidFill>
                <a:latin typeface="Calibir"/>
                <a:ea typeface="Helvetica Neue"/>
                <a:cs typeface="Calibir"/>
                <a:sym typeface="Helvetica Neue"/>
              </a:rPr>
              <a:t> que se han llevado a cabo en estos meses.</a:t>
            </a:r>
          </a:p>
          <a:p>
            <a:pPr algn="just" defTabSz="943239" hangingPunct="0"/>
            <a:endParaRPr kumimoji="0" lang="es-ES" sz="1600" b="1" i="0" u="none" strike="noStrike" cap="none" spc="0" normalizeH="0" baseline="0" dirty="0">
              <a:ln>
                <a:noFill/>
              </a:ln>
              <a:solidFill>
                <a:srgbClr val="404040"/>
              </a:solidFill>
              <a:effectLst/>
              <a:uFillTx/>
              <a:latin typeface="Calibir"/>
              <a:ea typeface="Helvetica Neue"/>
              <a:cs typeface="Calibir"/>
              <a:sym typeface="Helvetica Neue"/>
            </a:endParaRPr>
          </a:p>
          <a:p>
            <a:pPr algn="just" defTabSz="943239" hangingPunct="0"/>
            <a:r>
              <a:rPr lang="es-ES" sz="1600" dirty="0">
                <a:solidFill>
                  <a:srgbClr val="404040"/>
                </a:solidFill>
                <a:latin typeface="Calibir"/>
                <a:ea typeface="Helvetica Neue"/>
                <a:cs typeface="Calibir"/>
                <a:sym typeface="Helvetica Neue"/>
              </a:rPr>
              <a:t>Para poder tipificar la falta deben buscarla en el reglamento del aprendiz y tipificarla de forma correcta como se pueden evidenciar las 2 faltas </a:t>
            </a:r>
            <a:r>
              <a:rPr lang="es-ES" sz="1600">
                <a:solidFill>
                  <a:srgbClr val="404040"/>
                </a:solidFill>
                <a:latin typeface="Calibir"/>
                <a:ea typeface="Helvetica Neue"/>
                <a:cs typeface="Calibir"/>
                <a:sym typeface="Helvetica Neue"/>
              </a:rPr>
              <a:t>más</a:t>
            </a:r>
            <a:r>
              <a:rPr lang="es-ES" sz="1600" dirty="0">
                <a:solidFill>
                  <a:srgbClr val="404040"/>
                </a:solidFill>
                <a:latin typeface="Calibir"/>
                <a:ea typeface="Helvetica Neue"/>
                <a:cs typeface="Calibir"/>
                <a:sym typeface="Helvetica Neue"/>
              </a:rPr>
              <a:t> comunes que se han presentado en los últimos comités.</a:t>
            </a:r>
            <a:endParaRPr kumimoji="0" lang="es-ES" sz="1600" i="0" u="none" strike="noStrike" cap="none" spc="0" normalizeH="0" baseline="0" dirty="0">
              <a:ln>
                <a:noFill/>
              </a:ln>
              <a:solidFill>
                <a:srgbClr val="404040"/>
              </a:solidFill>
              <a:effectLst/>
              <a:uFillTx/>
              <a:latin typeface="Calibir"/>
              <a:ea typeface="Helvetica Neue"/>
              <a:cs typeface="Calibir"/>
              <a:sym typeface="Helvetica Neue"/>
            </a:endParaRPr>
          </a:p>
        </p:txBody>
      </p:sp>
      <p:pic>
        <p:nvPicPr>
          <p:cNvPr id="5" name="Imagen 4">
            <a:extLst>
              <a:ext uri="{FF2B5EF4-FFF2-40B4-BE49-F238E27FC236}">
                <a16:creationId xmlns:a16="http://schemas.microsoft.com/office/drawing/2014/main" id="{91ED3E6C-A965-4B2A-9C31-3F4CC41E289D}"/>
              </a:ext>
            </a:extLst>
          </p:cNvPr>
          <p:cNvPicPr>
            <a:picLocks noChangeAspect="1"/>
          </p:cNvPicPr>
          <p:nvPr/>
        </p:nvPicPr>
        <p:blipFill>
          <a:blip r:embed="rId2"/>
          <a:stretch>
            <a:fillRect/>
          </a:stretch>
        </p:blipFill>
        <p:spPr>
          <a:xfrm>
            <a:off x="3242982" y="1454804"/>
            <a:ext cx="5655129" cy="2041432"/>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pic>
        <p:nvPicPr>
          <p:cNvPr id="7" name="Imagen 6">
            <a:extLst>
              <a:ext uri="{FF2B5EF4-FFF2-40B4-BE49-F238E27FC236}">
                <a16:creationId xmlns:a16="http://schemas.microsoft.com/office/drawing/2014/main" id="{98D08A16-A296-4A14-A730-4F250B133888}"/>
              </a:ext>
            </a:extLst>
          </p:cNvPr>
          <p:cNvPicPr>
            <a:picLocks noChangeAspect="1"/>
          </p:cNvPicPr>
          <p:nvPr/>
        </p:nvPicPr>
        <p:blipFill>
          <a:blip r:embed="rId3"/>
          <a:stretch>
            <a:fillRect/>
          </a:stretch>
        </p:blipFill>
        <p:spPr>
          <a:xfrm>
            <a:off x="3242981" y="3932195"/>
            <a:ext cx="5655130" cy="505294"/>
          </a:xfrm>
          <a:prstGeom prst="rect">
            <a:avLst/>
          </a:prstGeom>
          <a:solidFill>
            <a:srgbClr val="FFFFFF">
              <a:shade val="85000"/>
            </a:srgbClr>
          </a:solidFill>
          <a:ln w="88900" cap="sq">
            <a:noFill/>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extLst>
      <p:ext uri="{BB962C8B-B14F-4D97-AF65-F5344CB8AC3E}">
        <p14:creationId xmlns:p14="http://schemas.microsoft.com/office/powerpoint/2010/main" val="22760161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FEDD040-E6DE-4140-91EF-4E785115B6CA}"/>
              </a:ext>
            </a:extLst>
          </p:cNvPr>
          <p:cNvSpPr txBox="1"/>
          <p:nvPr/>
        </p:nvSpPr>
        <p:spPr>
          <a:xfrm>
            <a:off x="432960" y="217703"/>
            <a:ext cx="7842744" cy="584775"/>
          </a:xfrm>
          <a:prstGeom prst="rect">
            <a:avLst/>
          </a:prstGeom>
          <a:noFill/>
        </p:spPr>
        <p:txBody>
          <a:bodyPr wrap="square" rtlCol="0">
            <a:spAutoFit/>
          </a:bodyPr>
          <a:lstStyle/>
          <a:p>
            <a:r>
              <a:rPr lang="es-ES" sz="3200" b="1" dirty="0"/>
              <a:t>Llenar el documento del aprendiz</a:t>
            </a:r>
          </a:p>
        </p:txBody>
      </p:sp>
      <p:sp>
        <p:nvSpPr>
          <p:cNvPr id="3" name="CuadroTexto 2">
            <a:extLst>
              <a:ext uri="{FF2B5EF4-FFF2-40B4-BE49-F238E27FC236}">
                <a16:creationId xmlns:a16="http://schemas.microsoft.com/office/drawing/2014/main" id="{5F7D3CE4-9CAF-445F-8F4C-696A56262EB2}"/>
              </a:ext>
            </a:extLst>
          </p:cNvPr>
          <p:cNvSpPr txBox="1"/>
          <p:nvPr/>
        </p:nvSpPr>
        <p:spPr>
          <a:xfrm>
            <a:off x="264231" y="1923530"/>
            <a:ext cx="3447158" cy="1815882"/>
          </a:xfrm>
          <a:prstGeom prst="rect">
            <a:avLst/>
          </a:prstGeom>
          <a:noFill/>
        </p:spPr>
        <p:txBody>
          <a:bodyPr wrap="square" rtlCol="0">
            <a:spAutoFit/>
          </a:bodyPr>
          <a:lstStyle/>
          <a:p>
            <a:pPr algn="just" defTabSz="943239" hangingPunct="0"/>
            <a:r>
              <a:rPr lang="es-ES" sz="1600" dirty="0">
                <a:solidFill>
                  <a:srgbClr val="404040"/>
                </a:solidFill>
                <a:latin typeface="Calibir"/>
                <a:ea typeface="Helvetica Neue"/>
                <a:cs typeface="Calibir"/>
                <a:sym typeface="Helvetica Neue"/>
              </a:rPr>
              <a:t>Otro de los errores graves que se presenta es que el instructor coloque en el documento de trabajo de descargos del aprendiz los hechos cuando no es así, ese documento debe ser llenado por la palabras textuales del aprendiz.</a:t>
            </a:r>
            <a:endParaRPr kumimoji="0" lang="es-ES" sz="1600" i="0" u="none" strike="noStrike" cap="none" spc="0" normalizeH="0" baseline="0" dirty="0">
              <a:ln>
                <a:noFill/>
              </a:ln>
              <a:solidFill>
                <a:srgbClr val="404040"/>
              </a:solidFill>
              <a:effectLst/>
              <a:uFillTx/>
              <a:latin typeface="Calibir"/>
              <a:ea typeface="Helvetica Neue"/>
              <a:cs typeface="Calibir"/>
              <a:sym typeface="Helvetica Neue"/>
            </a:endParaRPr>
          </a:p>
        </p:txBody>
      </p:sp>
      <p:pic>
        <p:nvPicPr>
          <p:cNvPr id="6" name="Imagen 5">
            <a:extLst>
              <a:ext uri="{FF2B5EF4-FFF2-40B4-BE49-F238E27FC236}">
                <a16:creationId xmlns:a16="http://schemas.microsoft.com/office/drawing/2014/main" id="{695F3DD8-7907-4F2D-8CFA-7FD4BADE4315}"/>
              </a:ext>
            </a:extLst>
          </p:cNvPr>
          <p:cNvPicPr>
            <a:picLocks noChangeAspect="1"/>
          </p:cNvPicPr>
          <p:nvPr/>
        </p:nvPicPr>
        <p:blipFill>
          <a:blip r:embed="rId2"/>
          <a:stretch>
            <a:fillRect/>
          </a:stretch>
        </p:blipFill>
        <p:spPr>
          <a:xfrm>
            <a:off x="3981344" y="1121869"/>
            <a:ext cx="4793821" cy="3890661"/>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extLst>
      <p:ext uri="{BB962C8B-B14F-4D97-AF65-F5344CB8AC3E}">
        <p14:creationId xmlns:p14="http://schemas.microsoft.com/office/powerpoint/2010/main" val="694660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FEDD040-E6DE-4140-91EF-4E785115B6CA}"/>
              </a:ext>
            </a:extLst>
          </p:cNvPr>
          <p:cNvSpPr txBox="1"/>
          <p:nvPr/>
        </p:nvSpPr>
        <p:spPr>
          <a:xfrm>
            <a:off x="432960" y="217703"/>
            <a:ext cx="7842744" cy="584775"/>
          </a:xfrm>
          <a:prstGeom prst="rect">
            <a:avLst/>
          </a:prstGeom>
          <a:noFill/>
        </p:spPr>
        <p:txBody>
          <a:bodyPr wrap="square" rtlCol="0">
            <a:spAutoFit/>
          </a:bodyPr>
          <a:lstStyle/>
          <a:p>
            <a:r>
              <a:rPr lang="es-ES" sz="3200" b="1" dirty="0"/>
              <a:t>Diligenciamiento Informe o Queja</a:t>
            </a:r>
          </a:p>
        </p:txBody>
      </p:sp>
      <p:sp>
        <p:nvSpPr>
          <p:cNvPr id="3" name="CuadroTexto 2">
            <a:extLst>
              <a:ext uri="{FF2B5EF4-FFF2-40B4-BE49-F238E27FC236}">
                <a16:creationId xmlns:a16="http://schemas.microsoft.com/office/drawing/2014/main" id="{5F7D3CE4-9CAF-445F-8F4C-696A56262EB2}"/>
              </a:ext>
            </a:extLst>
          </p:cNvPr>
          <p:cNvSpPr txBox="1"/>
          <p:nvPr/>
        </p:nvSpPr>
        <p:spPr>
          <a:xfrm>
            <a:off x="307360" y="1728908"/>
            <a:ext cx="2643307" cy="2554545"/>
          </a:xfrm>
          <a:prstGeom prst="rect">
            <a:avLst/>
          </a:prstGeom>
          <a:noFill/>
        </p:spPr>
        <p:txBody>
          <a:bodyPr wrap="square" rtlCol="0">
            <a:spAutoFit/>
          </a:bodyPr>
          <a:lstStyle/>
          <a:p>
            <a:pPr algn="just" defTabSz="943239" hangingPunct="0"/>
            <a:r>
              <a:rPr lang="es-ES" sz="1600" dirty="0">
                <a:solidFill>
                  <a:srgbClr val="404040"/>
                </a:solidFill>
                <a:latin typeface="Calibir"/>
                <a:ea typeface="Helvetica Neue"/>
                <a:cs typeface="Calibir"/>
                <a:sym typeface="Helvetica Neue"/>
              </a:rPr>
              <a:t>Es un error pensar que el documento de trabajo de informe o queja debe ser diligenciado por parte de la empresa, ya que este documento esta creado para que el instructore relate los hechos por su cuenta y debe ir Firmado y con el correo del instructor que lo diligencia.</a:t>
            </a:r>
            <a:endParaRPr kumimoji="0" lang="es-ES" sz="1600" i="0" u="none" strike="noStrike" cap="none" spc="0" normalizeH="0" baseline="0" dirty="0">
              <a:ln>
                <a:noFill/>
              </a:ln>
              <a:solidFill>
                <a:srgbClr val="404040"/>
              </a:solidFill>
              <a:effectLst/>
              <a:uFillTx/>
              <a:latin typeface="Calibir"/>
              <a:ea typeface="Helvetica Neue"/>
              <a:cs typeface="Calibir"/>
              <a:sym typeface="Helvetica Neue"/>
            </a:endParaRPr>
          </a:p>
        </p:txBody>
      </p:sp>
      <p:pic>
        <p:nvPicPr>
          <p:cNvPr id="5" name="Imagen 4">
            <a:extLst>
              <a:ext uri="{FF2B5EF4-FFF2-40B4-BE49-F238E27FC236}">
                <a16:creationId xmlns:a16="http://schemas.microsoft.com/office/drawing/2014/main" id="{2A9B564B-0242-47A2-8ADA-AD64CCF593D9}"/>
              </a:ext>
            </a:extLst>
          </p:cNvPr>
          <p:cNvPicPr>
            <a:picLocks noChangeAspect="1"/>
          </p:cNvPicPr>
          <p:nvPr/>
        </p:nvPicPr>
        <p:blipFill>
          <a:blip r:embed="rId2"/>
          <a:stretch>
            <a:fillRect/>
          </a:stretch>
        </p:blipFill>
        <p:spPr>
          <a:xfrm>
            <a:off x="3320937" y="1951745"/>
            <a:ext cx="5515703" cy="1790579"/>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extLst>
      <p:ext uri="{BB962C8B-B14F-4D97-AF65-F5344CB8AC3E}">
        <p14:creationId xmlns:p14="http://schemas.microsoft.com/office/powerpoint/2010/main" val="3345993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975538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80239B14884FBB46AB47CE62E6B5D997" ma:contentTypeVersion="23" ma:contentTypeDescription="Crear nuevo documento." ma:contentTypeScope="" ma:versionID="7588953d79b37feb9934caf9b24b5887">
  <xsd:schema xmlns:xsd="http://www.w3.org/2001/XMLSchema" xmlns:xs="http://www.w3.org/2001/XMLSchema" xmlns:p="http://schemas.microsoft.com/office/2006/metadata/properties" xmlns:ns1="http://schemas.microsoft.com/sharepoint/v3" xmlns:ns2="edbb1c21-1b45-407e-8894-c97732534993" xmlns:ns3="41dd0a9e-964d-48c8-9389-7445c2a187f7" targetNamespace="http://schemas.microsoft.com/office/2006/metadata/properties" ma:root="true" ma:fieldsID="e8a576e1ff98af8803e81906898dd43d" ns1:_="" ns2:_="" ns3:_="">
    <xsd:import namespace="http://schemas.microsoft.com/sharepoint/v3"/>
    <xsd:import namespace="edbb1c21-1b45-407e-8894-c97732534993"/>
    <xsd:import namespace="41dd0a9e-964d-48c8-9389-7445c2a187f7"/>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_Flow_SignoffStatus" minOccurs="0"/>
                <xsd:element ref="ns2:FechayHora" minOccurs="0"/>
                <xsd:element ref="ns2:lcf76f155ced4ddcb4097134ff3c332f" minOccurs="0"/>
                <xsd:element ref="ns3:TaxCatchAll" minOccurs="0"/>
                <xsd:element ref="ns2:MediaServiceLocation" minOccurs="0"/>
                <xsd:element ref="ns2:MediaServiceObjectDetectorVersions" minOccurs="0"/>
                <xsd:element ref="ns1:_ip_UnifiedCompliancePolicyProperties" minOccurs="0"/>
                <xsd:element ref="ns1:_ip_UnifiedCompliancePolicyUIAc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Propiedades de la Directiva de cumplimiento unificado" ma:hidden="true" ma:internalName="_ip_UnifiedCompliancePolicyProperties">
      <xsd:simpleType>
        <xsd:restriction base="dms:Note"/>
      </xsd:simpleType>
    </xsd:element>
    <xsd:element name="_ip_UnifiedCompliancePolicyUIAction" ma:index="28" nillable="true" ma:displayName="Acción de IU de la Directiva de cumplimiento unificado"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dbb1c21-1b45-407e-8894-c977325349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_Flow_SignoffStatus" ma:index="20" nillable="true" ma:displayName="Estado de aprobación" ma:internalName="Estado_x0020_de_x0020_aprobaci_x00f3_n">
      <xsd:simpleType>
        <xsd:restriction base="dms:Text"/>
      </xsd:simpleType>
    </xsd:element>
    <xsd:element name="FechayHora" ma:index="21" nillable="true" ma:displayName="Fecha y Hora" ma:description="Fecha y Hora" ma:format="DateTime" ma:internalName="FechayHora">
      <xsd:simpleType>
        <xsd:restriction base="dms:DateTime"/>
      </xsd:simpleType>
    </xsd:element>
    <xsd:element name="lcf76f155ced4ddcb4097134ff3c332f" ma:index="23" nillable="true" ma:taxonomy="true" ma:internalName="lcf76f155ced4ddcb4097134ff3c332f" ma:taxonomyFieldName="MediaServiceImageTags" ma:displayName="Etiquetas de imagen" ma:readOnly="false" ma:fieldId="{5cf76f15-5ced-4ddc-b409-7134ff3c332f}" ma:taxonomyMulti="true" ma:sspId="d33c8c81-5745-4931-bcc4-c2aeafe86780" ma:termSetId="09814cd3-568e-fe90-9814-8d621ff8fb84" ma:anchorId="fba54fb3-c3e1-fe81-a776-ca4b69148c4d" ma:open="true" ma:isKeyword="false">
      <xsd:complexType>
        <xsd:sequence>
          <xsd:element ref="pc:Terms" minOccurs="0" maxOccurs="1"/>
        </xsd:sequence>
      </xsd:complexType>
    </xsd:element>
    <xsd:element name="MediaServiceLocation" ma:index="25" nillable="true" ma:displayName="Location" ma:description="" ma:indexed="true" ma:internalName="MediaServiceLocation" ma:readOnly="true">
      <xsd:simpleType>
        <xsd:restriction base="dms:Text"/>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BillingMetadata" ma:index="3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1dd0a9e-964d-48c8-9389-7445c2a187f7" elementFormDefault="qualified">
    <xsd:import namespace="http://schemas.microsoft.com/office/2006/documentManagement/types"/>
    <xsd:import namespace="http://schemas.microsoft.com/office/infopath/2007/PartnerControls"/>
    <xsd:element name="SharedWithUsers" ma:index="10"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les de uso compartido" ma:internalName="SharedWithDetails" ma:readOnly="true">
      <xsd:simpleType>
        <xsd:restriction base="dms:Note">
          <xsd:maxLength value="255"/>
        </xsd:restriction>
      </xsd:simpleType>
    </xsd:element>
    <xsd:element name="TaxCatchAll" ma:index="24" nillable="true" ma:displayName="Taxonomy Catch All Column" ma:hidden="true" ma:list="{df955bbf-853c-4bfd-87ed-1b9a3029639f}" ma:internalName="TaxCatchAll" ma:showField="CatchAllData" ma:web="41dd0a9e-964d-48c8-9389-7445c2a187f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Flow_SignoffStatus xmlns="edbb1c21-1b45-407e-8894-c97732534993" xsi:nil="true"/>
    <FechayHora xmlns="edbb1c21-1b45-407e-8894-c97732534993" xsi:nil="true"/>
    <TaxCatchAll xmlns="41dd0a9e-964d-48c8-9389-7445c2a187f7" xsi:nil="true"/>
    <lcf76f155ced4ddcb4097134ff3c332f xmlns="edbb1c21-1b45-407e-8894-c97732534993">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6B21FF2C-CB4D-4B3A-AAD5-545A9C6DC9E2}"/>
</file>

<file path=customXml/itemProps2.xml><?xml version="1.0" encoding="utf-8"?>
<ds:datastoreItem xmlns:ds="http://schemas.openxmlformats.org/officeDocument/2006/customXml" ds:itemID="{9FF88E9D-ADD9-4DFB-82BE-C1D2869AAD2A}">
  <ds:schemaRefs>
    <ds:schemaRef ds:uri="http://schemas.microsoft.com/sharepoint/v3/contenttype/forms"/>
  </ds:schemaRefs>
</ds:datastoreItem>
</file>

<file path=customXml/itemProps3.xml><?xml version="1.0" encoding="utf-8"?>
<ds:datastoreItem xmlns:ds="http://schemas.openxmlformats.org/officeDocument/2006/customXml" ds:itemID="{1B3D49E2-732C-4580-BD66-2367DBE639BA}">
  <ds:schemaRefs>
    <ds:schemaRef ds:uri="http://schemas.microsoft.com/office/2006/metadata/properties"/>
    <ds:schemaRef ds:uri="http://schemas.microsoft.com/office/infopath/2007/PartnerControls"/>
    <ds:schemaRef ds:uri="edbb1c21-1b45-407e-8894-c97732534993"/>
    <ds:schemaRef ds:uri="41dd0a9e-964d-48c8-9389-7445c2a187f7"/>
  </ds:schemaRefs>
</ds:datastoreItem>
</file>

<file path=docProps/app.xml><?xml version="1.0" encoding="utf-8"?>
<Properties xmlns="http://schemas.openxmlformats.org/officeDocument/2006/extended-properties" xmlns:vt="http://schemas.openxmlformats.org/officeDocument/2006/docPropsVTypes">
  <TotalTime>254</TotalTime>
  <Words>1013</Words>
  <Application>Microsoft Office PowerPoint</Application>
  <PresentationFormat>Presentación en pantalla (16:9)</PresentationFormat>
  <Paragraphs>68</Paragraphs>
  <Slides>16</Slides>
  <Notes>0</Notes>
  <HiddenSlides>0</HiddenSlides>
  <MMClips>0</MMClips>
  <ScaleCrop>false</ScaleCrop>
  <HeadingPairs>
    <vt:vector size="4" baseType="variant">
      <vt:variant>
        <vt:lpstr>Tema</vt:lpstr>
      </vt:variant>
      <vt:variant>
        <vt:i4>1</vt:i4>
      </vt:variant>
      <vt:variant>
        <vt:lpstr>Títulos de diapositiva</vt:lpstr>
      </vt:variant>
      <vt:variant>
        <vt:i4>16</vt:i4>
      </vt:variant>
    </vt:vector>
  </HeadingPairs>
  <TitlesOfParts>
    <vt:vector size="17" baseType="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Leonardo Cantor</dc:creator>
  <cp:lastModifiedBy>JAIME JUNIOR MORALES BUSTAMANTE</cp:lastModifiedBy>
  <cp:revision>19</cp:revision>
  <dcterms:created xsi:type="dcterms:W3CDTF">2019-11-27T03:16:21Z</dcterms:created>
  <dcterms:modified xsi:type="dcterms:W3CDTF">2022-07-13T18:26:26Z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0x01010080239B14884FBB46AB47CE62E6B5D997</vt:lpwstr>
  </property>
  <property fmtid="{D5CDD505-2E9C-101B-9397-08002B2CF9AE}" pid="3" name="MSIP_Label_1299739c-ad3d-4908-806e-4d91151a6e13_Enabled">
    <vt:lpwstr>true</vt:lpwstr>
  </property>
  <property fmtid="{D5CDD505-2E9C-101B-9397-08002B2CF9AE}" pid="4" name="MSIP_Label_1299739c-ad3d-4908-806e-4d91151a6e13_SetDate">
    <vt:lpwstr>2022-07-13T18:26:26Z</vt:lpwstr>
  </property>
  <property fmtid="{D5CDD505-2E9C-101B-9397-08002B2CF9AE}" pid="5" name="MSIP_Label_1299739c-ad3d-4908-806e-4d91151a6e13_Method">
    <vt:lpwstr>Standard</vt:lpwstr>
  </property>
  <property fmtid="{D5CDD505-2E9C-101B-9397-08002B2CF9AE}" pid="6" name="MSIP_Label_1299739c-ad3d-4908-806e-4d91151a6e13_Name">
    <vt:lpwstr>All Employees (Unrestricted)</vt:lpwstr>
  </property>
  <property fmtid="{D5CDD505-2E9C-101B-9397-08002B2CF9AE}" pid="7" name="MSIP_Label_1299739c-ad3d-4908-806e-4d91151a6e13_SiteId">
    <vt:lpwstr>cbc2c381-2f2e-4d93-91d1-506c9316ace7</vt:lpwstr>
  </property>
  <property fmtid="{D5CDD505-2E9C-101B-9397-08002B2CF9AE}" pid="8" name="MSIP_Label_1299739c-ad3d-4908-806e-4d91151a6e13_ActionId">
    <vt:lpwstr>9b343113-1f8d-4c42-af3a-690b1113f7b5</vt:lpwstr>
  </property>
  <property fmtid="{D5CDD505-2E9C-101B-9397-08002B2CF9AE}" pid="9" name="MSIP_Label_1299739c-ad3d-4908-806e-4d91151a6e13_ContentBits">
    <vt:lpwstr>0</vt:lpwstr>
  </property>
  <property fmtid="{D5CDD505-2E9C-101B-9397-08002B2CF9AE}" pid="10" name="MediaServiceImageTags">
    <vt:lpwstr/>
  </property>
</Properties>
</file>