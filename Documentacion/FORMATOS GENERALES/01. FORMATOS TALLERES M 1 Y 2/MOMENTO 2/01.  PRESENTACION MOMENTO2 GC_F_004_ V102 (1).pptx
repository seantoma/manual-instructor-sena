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538" r:id="rId5"/>
    <p:sldId id="536" r:id="rId6"/>
    <p:sldId id="540" r:id="rId7"/>
    <p:sldId id="572" r:id="rId8"/>
    <p:sldId id="571" r:id="rId9"/>
    <p:sldId id="694" r:id="rId10"/>
    <p:sldId id="693" r:id="rId11"/>
    <p:sldId id="560" r:id="rId12"/>
    <p:sldId id="566" r:id="rId13"/>
    <p:sldId id="564" r:id="rId14"/>
    <p:sldId id="565" r:id="rId15"/>
    <p:sldId id="563" r:id="rId16"/>
    <p:sldId id="568" r:id="rId17"/>
    <p:sldId id="567" r:id="rId18"/>
    <p:sldId id="531" r:id="rId1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5EA"/>
    <a:srgbClr val="4D4D4C"/>
    <a:srgbClr val="343433"/>
    <a:srgbClr val="FF6C00"/>
    <a:srgbClr val="766363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328"/>
    <p:restoredTop sz="97242"/>
  </p:normalViewPr>
  <p:slideViewPr>
    <p:cSldViewPr snapToGrid="0">
      <p:cViewPr varScale="1">
        <p:scale>
          <a:sx n="46" d="100"/>
          <a:sy n="46" d="100"/>
        </p:scale>
        <p:origin x="1114" y="67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C01CDF-66F4-4D0B-B20A-81A7B760FCAD}" type="doc">
      <dgm:prSet loTypeId="urn:microsoft.com/office/officeart/2005/8/layout/StepDownProcess" loCatId="process" qsTypeId="urn:microsoft.com/office/officeart/2005/8/quickstyle/simple5" qsCatId="simple" csTypeId="urn:microsoft.com/office/officeart/2005/8/colors/accent6_3" csCatId="accent6" phldr="1"/>
      <dgm:spPr/>
      <dgm:t>
        <a:bodyPr/>
        <a:lstStyle/>
        <a:p>
          <a:endParaRPr lang="es-CO"/>
        </a:p>
      </dgm:t>
    </dgm:pt>
    <dgm:pt modelId="{539276B5-532C-4D67-8B98-7BFCED12A0C6}">
      <dgm:prSet phldrT="[Texto]"/>
      <dgm:spPr/>
      <dgm:t>
        <a:bodyPr/>
        <a:lstStyle/>
        <a:p>
          <a:r>
            <a:rPr lang="es-CO" b="1" dirty="0">
              <a:solidFill>
                <a:schemeClr val="tx1"/>
              </a:solidFill>
            </a:rPr>
            <a:t>EVIDENCIA ALTERNATIVA</a:t>
          </a:r>
        </a:p>
      </dgm:t>
    </dgm:pt>
    <dgm:pt modelId="{DEBF2CBC-4336-4559-9243-C37CBAAE1B05}" type="parTrans" cxnId="{EEF99828-D81E-493A-B909-E9D14E2C82B0}">
      <dgm:prSet/>
      <dgm:spPr/>
      <dgm:t>
        <a:bodyPr/>
        <a:lstStyle/>
        <a:p>
          <a:endParaRPr lang="es-CO"/>
        </a:p>
      </dgm:t>
    </dgm:pt>
    <dgm:pt modelId="{81519339-9F7D-4012-9A74-E4959563EC7D}" type="sibTrans" cxnId="{EEF99828-D81E-493A-B909-E9D14E2C82B0}">
      <dgm:prSet/>
      <dgm:spPr/>
      <dgm:t>
        <a:bodyPr/>
        <a:lstStyle/>
        <a:p>
          <a:endParaRPr lang="es-CO"/>
        </a:p>
      </dgm:t>
    </dgm:pt>
    <dgm:pt modelId="{B16FCC86-A871-4353-ACB1-3DB5388A2EAC}">
      <dgm:prSet custT="1"/>
      <dgm:spPr/>
      <dgm:t>
        <a:bodyPr/>
        <a:lstStyle/>
        <a:p>
          <a:r>
            <a:rPr lang="es-ES" sz="1800" dirty="0"/>
            <a:t> Copia contrato de aprendizaje o correo de aprobación de otra alternativa</a:t>
          </a:r>
        </a:p>
      </dgm:t>
    </dgm:pt>
    <dgm:pt modelId="{DDA12133-DE6B-49E2-9487-F5E1125760BA}" type="parTrans" cxnId="{AADF3DCA-2BC5-4467-8DCF-28F8826D2B0E}">
      <dgm:prSet/>
      <dgm:spPr/>
      <dgm:t>
        <a:bodyPr/>
        <a:lstStyle/>
        <a:p>
          <a:endParaRPr lang="es-ES"/>
        </a:p>
      </dgm:t>
    </dgm:pt>
    <dgm:pt modelId="{E8083468-EE00-4E9D-A986-17AD522F221F}" type="sibTrans" cxnId="{AADF3DCA-2BC5-4467-8DCF-28F8826D2B0E}">
      <dgm:prSet/>
      <dgm:spPr/>
      <dgm:t>
        <a:bodyPr/>
        <a:lstStyle/>
        <a:p>
          <a:endParaRPr lang="es-ES"/>
        </a:p>
      </dgm:t>
    </dgm:pt>
    <dgm:pt modelId="{573184B2-DB3D-4A24-9C9C-8E702832342D}">
      <dgm:prSet/>
      <dgm:spPr/>
      <dgm:t>
        <a:bodyPr/>
        <a:lstStyle/>
        <a:p>
          <a:r>
            <a:rPr lang="es-ES" b="1" dirty="0">
              <a:solidFill>
                <a:schemeClr val="tx1"/>
              </a:solidFill>
            </a:rPr>
            <a:t>GFPI-F-023-V6</a:t>
          </a:r>
        </a:p>
      </dgm:t>
    </dgm:pt>
    <dgm:pt modelId="{1AE81AD0-F373-4EFB-9B91-73AEBD96F24D}" type="parTrans" cxnId="{37A9CE60-CC9F-4060-B4EC-1B2B75FF2605}">
      <dgm:prSet/>
      <dgm:spPr/>
      <dgm:t>
        <a:bodyPr/>
        <a:lstStyle/>
        <a:p>
          <a:endParaRPr lang="es-ES"/>
        </a:p>
      </dgm:t>
    </dgm:pt>
    <dgm:pt modelId="{C6482559-C83C-4CEE-95B1-41D929BC20A0}" type="sibTrans" cxnId="{37A9CE60-CC9F-4060-B4EC-1B2B75FF2605}">
      <dgm:prSet/>
      <dgm:spPr/>
      <dgm:t>
        <a:bodyPr/>
        <a:lstStyle/>
        <a:p>
          <a:endParaRPr lang="es-ES"/>
        </a:p>
      </dgm:t>
    </dgm:pt>
    <dgm:pt modelId="{CE643850-161D-440C-BC80-FB56C77556CC}">
      <dgm:prSet/>
      <dgm:spPr/>
      <dgm:t>
        <a:bodyPr/>
        <a:lstStyle/>
        <a:p>
          <a:r>
            <a:rPr lang="es-ES" b="1" dirty="0">
              <a:solidFill>
                <a:schemeClr val="tx1"/>
              </a:solidFill>
            </a:rPr>
            <a:t>CERTIFICADO DE AFILIACIÓN</a:t>
          </a:r>
        </a:p>
      </dgm:t>
    </dgm:pt>
    <dgm:pt modelId="{05354C19-AEF0-4F39-9F22-71A4609A7482}" type="parTrans" cxnId="{6EC2686B-C2EA-435E-8DA8-5630389358C3}">
      <dgm:prSet/>
      <dgm:spPr/>
      <dgm:t>
        <a:bodyPr/>
        <a:lstStyle/>
        <a:p>
          <a:endParaRPr lang="es-ES"/>
        </a:p>
      </dgm:t>
    </dgm:pt>
    <dgm:pt modelId="{6315DA07-DB95-4B6E-85B0-AB5D11577842}" type="sibTrans" cxnId="{6EC2686B-C2EA-435E-8DA8-5630389358C3}">
      <dgm:prSet/>
      <dgm:spPr/>
      <dgm:t>
        <a:bodyPr/>
        <a:lstStyle/>
        <a:p>
          <a:endParaRPr lang="es-ES"/>
        </a:p>
      </dgm:t>
    </dgm:pt>
    <dgm:pt modelId="{2233EE40-2C3C-49BD-A569-7B8376C16863}">
      <dgm:prSet custT="1"/>
      <dgm:spPr/>
      <dgm:t>
        <a:bodyPr/>
        <a:lstStyle/>
        <a:p>
          <a:r>
            <a:rPr lang="es-ES" sz="1800" dirty="0" err="1"/>
            <a:t>Arl</a:t>
          </a:r>
          <a:endParaRPr lang="es-ES" sz="1100" dirty="0"/>
        </a:p>
      </dgm:t>
    </dgm:pt>
    <dgm:pt modelId="{625AE72F-CB39-4C71-B78F-AA673417CAE0}" type="parTrans" cxnId="{1F203B3C-0555-4EE1-B3BF-91FAA3A5C7DB}">
      <dgm:prSet/>
      <dgm:spPr/>
      <dgm:t>
        <a:bodyPr/>
        <a:lstStyle/>
        <a:p>
          <a:endParaRPr lang="es-ES"/>
        </a:p>
      </dgm:t>
    </dgm:pt>
    <dgm:pt modelId="{65DAE98A-A5C1-4FC6-8CF6-612694D775BF}" type="sibTrans" cxnId="{1F203B3C-0555-4EE1-B3BF-91FAA3A5C7DB}">
      <dgm:prSet/>
      <dgm:spPr/>
      <dgm:t>
        <a:bodyPr/>
        <a:lstStyle/>
        <a:p>
          <a:endParaRPr lang="es-ES"/>
        </a:p>
      </dgm:t>
    </dgm:pt>
    <dgm:pt modelId="{AE94FE2B-C28B-4E97-846A-E66030BAA292}">
      <dgm:prSet/>
      <dgm:spPr/>
      <dgm:t>
        <a:bodyPr/>
        <a:lstStyle/>
        <a:p>
          <a:r>
            <a:rPr lang="es-ES" b="1" dirty="0">
              <a:solidFill>
                <a:schemeClr val="tx1"/>
              </a:solidFill>
            </a:rPr>
            <a:t>BITÁCORA </a:t>
          </a:r>
        </a:p>
        <a:p>
          <a:r>
            <a:rPr lang="es-ES" b="1" dirty="0">
              <a:solidFill>
                <a:schemeClr val="tx1"/>
              </a:solidFill>
            </a:rPr>
            <a:t>GFPI-F-147 V04</a:t>
          </a:r>
        </a:p>
      </dgm:t>
    </dgm:pt>
    <dgm:pt modelId="{FDEAB402-B1DD-4BE4-B336-49A706EE0FAF}" type="parTrans" cxnId="{9456DC94-DB6B-4D3E-A23B-F52FA9C19AF3}">
      <dgm:prSet/>
      <dgm:spPr/>
      <dgm:t>
        <a:bodyPr/>
        <a:lstStyle/>
        <a:p>
          <a:endParaRPr lang="es-ES"/>
        </a:p>
      </dgm:t>
    </dgm:pt>
    <dgm:pt modelId="{082D1758-3918-4E92-A36B-EE9137722B7B}" type="sibTrans" cxnId="{9456DC94-DB6B-4D3E-A23B-F52FA9C19AF3}">
      <dgm:prSet/>
      <dgm:spPr/>
      <dgm:t>
        <a:bodyPr/>
        <a:lstStyle/>
        <a:p>
          <a:endParaRPr lang="es-ES"/>
        </a:p>
      </dgm:t>
    </dgm:pt>
    <dgm:pt modelId="{784DBA99-46DD-4985-A718-8E9842F1C02E}">
      <dgm:prSet custT="1"/>
      <dgm:spPr/>
      <dgm:t>
        <a:bodyPr/>
        <a:lstStyle/>
        <a:p>
          <a:r>
            <a:rPr lang="es-ES" sz="1600" dirty="0"/>
            <a:t>Práctica de 6 meses (12 bitácoras)</a:t>
          </a:r>
        </a:p>
      </dgm:t>
    </dgm:pt>
    <dgm:pt modelId="{1687D3F0-8927-42D8-A031-1925B2496B07}" type="parTrans" cxnId="{41892B71-28FC-462A-9302-F912D7AEF56E}">
      <dgm:prSet/>
      <dgm:spPr/>
      <dgm:t>
        <a:bodyPr/>
        <a:lstStyle/>
        <a:p>
          <a:endParaRPr lang="es-ES"/>
        </a:p>
      </dgm:t>
    </dgm:pt>
    <dgm:pt modelId="{32082735-7FC3-48B4-B2EC-14EDF1E2A77C}" type="sibTrans" cxnId="{41892B71-28FC-462A-9302-F912D7AEF56E}">
      <dgm:prSet/>
      <dgm:spPr/>
      <dgm:t>
        <a:bodyPr/>
        <a:lstStyle/>
        <a:p>
          <a:endParaRPr lang="es-ES"/>
        </a:p>
      </dgm:t>
    </dgm:pt>
    <dgm:pt modelId="{EDEF3776-B59C-42FB-9D85-678B3E1876A9}">
      <dgm:prSet custT="1"/>
      <dgm:spPr/>
      <dgm:t>
        <a:bodyPr/>
        <a:lstStyle/>
        <a:p>
          <a:r>
            <a:rPr lang="es-ES" sz="1600" dirty="0"/>
            <a:t> Práctica de 9 meses (18 bitácoras)</a:t>
          </a:r>
        </a:p>
      </dgm:t>
    </dgm:pt>
    <dgm:pt modelId="{2FE78D17-9E58-4873-A216-72A86D3CF490}" type="parTrans" cxnId="{830B1803-F336-4386-87C1-E5D1BC2B67B2}">
      <dgm:prSet/>
      <dgm:spPr/>
      <dgm:t>
        <a:bodyPr/>
        <a:lstStyle/>
        <a:p>
          <a:endParaRPr lang="es-ES"/>
        </a:p>
      </dgm:t>
    </dgm:pt>
    <dgm:pt modelId="{4677608C-3908-449D-B8A8-A8942E338412}" type="sibTrans" cxnId="{830B1803-F336-4386-87C1-E5D1BC2B67B2}">
      <dgm:prSet/>
      <dgm:spPr/>
      <dgm:t>
        <a:bodyPr/>
        <a:lstStyle/>
        <a:p>
          <a:endParaRPr lang="es-ES"/>
        </a:p>
      </dgm:t>
    </dgm:pt>
    <dgm:pt modelId="{23731353-D4BB-4918-814B-F8314267F9A3}">
      <dgm:prSet custT="1"/>
      <dgm:spPr/>
      <dgm:t>
        <a:bodyPr/>
        <a:lstStyle/>
        <a:p>
          <a:r>
            <a:rPr lang="es-ES" sz="1600" dirty="0"/>
            <a:t> Práctica de 12 meses (24 bitácoras</a:t>
          </a:r>
          <a:r>
            <a:rPr lang="es-ES" sz="1200" dirty="0"/>
            <a:t>) </a:t>
          </a:r>
        </a:p>
      </dgm:t>
    </dgm:pt>
    <dgm:pt modelId="{50D34BFB-2328-4753-BD2D-A5F3AD52678C}" type="parTrans" cxnId="{BB869F14-666C-4567-B6C3-AF43844DDEE1}">
      <dgm:prSet/>
      <dgm:spPr/>
      <dgm:t>
        <a:bodyPr/>
        <a:lstStyle/>
        <a:p>
          <a:endParaRPr lang="es-ES"/>
        </a:p>
      </dgm:t>
    </dgm:pt>
    <dgm:pt modelId="{BF7FFCFD-2F82-48AD-B3CF-6C7EF26448DA}" type="sibTrans" cxnId="{BB869F14-666C-4567-B6C3-AF43844DDEE1}">
      <dgm:prSet/>
      <dgm:spPr/>
      <dgm:t>
        <a:bodyPr/>
        <a:lstStyle/>
        <a:p>
          <a:endParaRPr lang="es-ES"/>
        </a:p>
      </dgm:t>
    </dgm:pt>
    <dgm:pt modelId="{6081BAC3-6A84-465B-9072-8A1340173B91}">
      <dgm:prSet/>
      <dgm:spPr/>
      <dgm:t>
        <a:bodyPr/>
        <a:lstStyle/>
        <a:p>
          <a:endParaRPr lang="es-ES" sz="1100" dirty="0"/>
        </a:p>
      </dgm:t>
    </dgm:pt>
    <dgm:pt modelId="{83A98842-046E-45D3-B587-9A3BFCB4C6CE}" type="parTrans" cxnId="{83DD94C6-3CEF-4885-B6CD-F52AFDFFB882}">
      <dgm:prSet/>
      <dgm:spPr/>
      <dgm:t>
        <a:bodyPr/>
        <a:lstStyle/>
        <a:p>
          <a:endParaRPr lang="es-ES"/>
        </a:p>
      </dgm:t>
    </dgm:pt>
    <dgm:pt modelId="{DF2E9CA9-A77B-49DC-A5FF-7E55928D502B}" type="sibTrans" cxnId="{83DD94C6-3CEF-4885-B6CD-F52AFDFFB882}">
      <dgm:prSet/>
      <dgm:spPr/>
      <dgm:t>
        <a:bodyPr/>
        <a:lstStyle/>
        <a:p>
          <a:endParaRPr lang="es-ES"/>
        </a:p>
      </dgm:t>
    </dgm:pt>
    <dgm:pt modelId="{38097EA9-9C5D-4863-9B29-D0AEB7CA5078}">
      <dgm:prSet custT="1"/>
      <dgm:spPr/>
      <dgm:t>
        <a:bodyPr/>
        <a:lstStyle/>
        <a:p>
          <a:r>
            <a:rPr lang="es-ES" sz="1600" dirty="0"/>
            <a:t>Concertación de actividades, evaluación parcial y final</a:t>
          </a:r>
        </a:p>
      </dgm:t>
    </dgm:pt>
    <dgm:pt modelId="{BCBBDF31-7501-424E-BEF8-AAFE9F8FE8E6}" type="parTrans" cxnId="{241937F4-013A-4D3B-8EF2-6E176F3A1413}">
      <dgm:prSet/>
      <dgm:spPr/>
      <dgm:t>
        <a:bodyPr/>
        <a:lstStyle/>
        <a:p>
          <a:endParaRPr lang="es-ES"/>
        </a:p>
      </dgm:t>
    </dgm:pt>
    <dgm:pt modelId="{6B7822B0-D7CA-4B0F-AB0C-031E957C71CD}" type="sibTrans" cxnId="{241937F4-013A-4D3B-8EF2-6E176F3A1413}">
      <dgm:prSet/>
      <dgm:spPr/>
      <dgm:t>
        <a:bodyPr/>
        <a:lstStyle/>
        <a:p>
          <a:endParaRPr lang="es-ES"/>
        </a:p>
      </dgm:t>
    </dgm:pt>
    <dgm:pt modelId="{137AB269-9049-4989-B5D9-33F87A977533}">
      <dgm:prSet/>
      <dgm:spPr/>
      <dgm:t>
        <a:bodyPr/>
        <a:lstStyle/>
        <a:p>
          <a:endParaRPr lang="es-ES" sz="1100" dirty="0"/>
        </a:p>
      </dgm:t>
    </dgm:pt>
    <dgm:pt modelId="{C5A6B782-5984-4EAD-894C-2649ACCF7A78}" type="parTrans" cxnId="{678E1036-DEF7-4729-99A5-F491604741F5}">
      <dgm:prSet/>
      <dgm:spPr/>
      <dgm:t>
        <a:bodyPr/>
        <a:lstStyle/>
        <a:p>
          <a:endParaRPr lang="es-ES"/>
        </a:p>
      </dgm:t>
    </dgm:pt>
    <dgm:pt modelId="{E32ABE4A-A49C-4FB7-A1D4-B2AB3B7C990F}" type="sibTrans" cxnId="{678E1036-DEF7-4729-99A5-F491604741F5}">
      <dgm:prSet/>
      <dgm:spPr/>
      <dgm:t>
        <a:bodyPr/>
        <a:lstStyle/>
        <a:p>
          <a:endParaRPr lang="es-ES"/>
        </a:p>
      </dgm:t>
    </dgm:pt>
    <dgm:pt modelId="{F1B1B8BA-3A17-46FB-9802-0F92599E5AD3}">
      <dgm:prSet/>
      <dgm:spPr/>
      <dgm:t>
        <a:bodyPr/>
        <a:lstStyle/>
        <a:p>
          <a:endParaRPr lang="es-ES" sz="1100" dirty="0"/>
        </a:p>
      </dgm:t>
    </dgm:pt>
    <dgm:pt modelId="{493B637A-58A3-41B0-B0AF-F7FF1AAD941E}" type="parTrans" cxnId="{A2C24088-85EC-4131-B020-CE4A2CE47EB4}">
      <dgm:prSet/>
      <dgm:spPr/>
      <dgm:t>
        <a:bodyPr/>
        <a:lstStyle/>
        <a:p>
          <a:endParaRPr lang="es-ES"/>
        </a:p>
      </dgm:t>
    </dgm:pt>
    <dgm:pt modelId="{DE128FC1-86CD-4045-AB09-4CEF1E2B5227}" type="sibTrans" cxnId="{A2C24088-85EC-4131-B020-CE4A2CE47EB4}">
      <dgm:prSet/>
      <dgm:spPr/>
      <dgm:t>
        <a:bodyPr/>
        <a:lstStyle/>
        <a:p>
          <a:endParaRPr lang="es-ES"/>
        </a:p>
      </dgm:t>
    </dgm:pt>
    <dgm:pt modelId="{7D197EC9-C230-423B-8CC7-ECB042355DAB}" type="pres">
      <dgm:prSet presAssocID="{A8C01CDF-66F4-4D0B-B20A-81A7B760FCAD}" presName="rootnode" presStyleCnt="0">
        <dgm:presLayoutVars>
          <dgm:chMax/>
          <dgm:chPref/>
          <dgm:dir/>
          <dgm:animLvl val="lvl"/>
        </dgm:presLayoutVars>
      </dgm:prSet>
      <dgm:spPr/>
    </dgm:pt>
    <dgm:pt modelId="{94D3E69D-8F3B-4865-9AD1-AD843A9795C7}" type="pres">
      <dgm:prSet presAssocID="{539276B5-532C-4D67-8B98-7BFCED12A0C6}" presName="composite" presStyleCnt="0"/>
      <dgm:spPr/>
    </dgm:pt>
    <dgm:pt modelId="{8A73EF40-3B80-43DC-8209-E42A9F94A0B2}" type="pres">
      <dgm:prSet presAssocID="{539276B5-532C-4D67-8B98-7BFCED12A0C6}" presName="bentUpArrow1" presStyleLbl="alignImgPlace1" presStyleIdx="0" presStyleCnt="3"/>
      <dgm:spPr/>
    </dgm:pt>
    <dgm:pt modelId="{D59CA3A2-E739-4C09-8C40-7E5EDE388E8B}" type="pres">
      <dgm:prSet presAssocID="{539276B5-532C-4D67-8B98-7BFCED12A0C6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12263E94-BB2F-4D4B-B476-DA1CA1545544}" type="pres">
      <dgm:prSet presAssocID="{539276B5-532C-4D67-8B98-7BFCED12A0C6}" presName="ChildText" presStyleLbl="revTx" presStyleIdx="0" presStyleCnt="4" custScaleX="323358" custScaleY="123860" custLinFactX="27373" custLinFactNeighborX="100000" custLinFactNeighborY="577">
        <dgm:presLayoutVars>
          <dgm:chMax val="0"/>
          <dgm:chPref val="0"/>
          <dgm:bulletEnabled val="1"/>
        </dgm:presLayoutVars>
      </dgm:prSet>
      <dgm:spPr/>
    </dgm:pt>
    <dgm:pt modelId="{973A47EC-60D7-44B4-8E8D-5BE32834F1D0}" type="pres">
      <dgm:prSet presAssocID="{81519339-9F7D-4012-9A74-E4959563EC7D}" presName="sibTrans" presStyleCnt="0"/>
      <dgm:spPr/>
    </dgm:pt>
    <dgm:pt modelId="{C3F09B12-E0E6-44B1-8959-D35EF22ED382}" type="pres">
      <dgm:prSet presAssocID="{CE643850-161D-440C-BC80-FB56C77556CC}" presName="composite" presStyleCnt="0"/>
      <dgm:spPr/>
    </dgm:pt>
    <dgm:pt modelId="{1BBDFB61-0CA1-4CF8-87B6-A12D03FF8417}" type="pres">
      <dgm:prSet presAssocID="{CE643850-161D-440C-BC80-FB56C77556CC}" presName="bentUpArrow1" presStyleLbl="alignImgPlace1" presStyleIdx="1" presStyleCnt="3"/>
      <dgm:spPr/>
    </dgm:pt>
    <dgm:pt modelId="{890A4869-C858-437D-A402-A9B2D879AADD}" type="pres">
      <dgm:prSet presAssocID="{CE643850-161D-440C-BC80-FB56C77556CC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1A28E8C4-EB40-42BB-9F76-34AAC855C081}" type="pres">
      <dgm:prSet presAssocID="{CE643850-161D-440C-BC80-FB56C77556CC}" presName="Child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9F0A6F46-0BC0-460B-9134-5867A38654EA}" type="pres">
      <dgm:prSet presAssocID="{6315DA07-DB95-4B6E-85B0-AB5D11577842}" presName="sibTrans" presStyleCnt="0"/>
      <dgm:spPr/>
    </dgm:pt>
    <dgm:pt modelId="{CFFDFB91-6AA4-4C88-BAFF-A52D7629F511}" type="pres">
      <dgm:prSet presAssocID="{573184B2-DB3D-4A24-9C9C-8E702832342D}" presName="composite" presStyleCnt="0"/>
      <dgm:spPr/>
    </dgm:pt>
    <dgm:pt modelId="{68CA81A9-C781-4D3F-A466-1A249E0DF9BE}" type="pres">
      <dgm:prSet presAssocID="{573184B2-DB3D-4A24-9C9C-8E702832342D}" presName="bentUpArrow1" presStyleLbl="alignImgPlace1" presStyleIdx="2" presStyleCnt="3"/>
      <dgm:spPr/>
    </dgm:pt>
    <dgm:pt modelId="{B0DBA3CA-A66B-4B7B-AA69-2DF9ED690408}" type="pres">
      <dgm:prSet presAssocID="{573184B2-DB3D-4A24-9C9C-8E702832342D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E7EE36A7-58A1-4337-9CBD-D7F4055D54F1}" type="pres">
      <dgm:prSet presAssocID="{573184B2-DB3D-4A24-9C9C-8E702832342D}" presName="ChildText" presStyleLbl="revTx" presStyleIdx="2" presStyleCnt="4" custScaleX="261889" custLinFactNeighborX="90125" custLinFactNeighborY="-5517">
        <dgm:presLayoutVars>
          <dgm:chMax val="0"/>
          <dgm:chPref val="0"/>
          <dgm:bulletEnabled val="1"/>
        </dgm:presLayoutVars>
      </dgm:prSet>
      <dgm:spPr/>
    </dgm:pt>
    <dgm:pt modelId="{71867A2B-D191-40F8-A43B-8A22F9AF01FE}" type="pres">
      <dgm:prSet presAssocID="{C6482559-C83C-4CEE-95B1-41D929BC20A0}" presName="sibTrans" presStyleCnt="0"/>
      <dgm:spPr/>
    </dgm:pt>
    <dgm:pt modelId="{4BC7E0CE-CE43-4ADF-8FB3-638C8BE5668A}" type="pres">
      <dgm:prSet presAssocID="{AE94FE2B-C28B-4E97-846A-E66030BAA292}" presName="composite" presStyleCnt="0"/>
      <dgm:spPr/>
    </dgm:pt>
    <dgm:pt modelId="{BC333490-ADC2-456E-94B7-E525D22EE194}" type="pres">
      <dgm:prSet presAssocID="{AE94FE2B-C28B-4E97-846A-E66030BAA292}" presName="ParentText" presStyleLbl="node1" presStyleIdx="3" presStyleCnt="4" custLinFactNeighborX="-17688" custLinFactNeighborY="2506">
        <dgm:presLayoutVars>
          <dgm:chMax val="1"/>
          <dgm:chPref val="1"/>
          <dgm:bulletEnabled val="1"/>
        </dgm:presLayoutVars>
      </dgm:prSet>
      <dgm:spPr/>
    </dgm:pt>
    <dgm:pt modelId="{74199556-4267-4D33-B1EC-74EB833CE07E}" type="pres">
      <dgm:prSet presAssocID="{AE94FE2B-C28B-4E97-846A-E66030BAA292}" presName="FinalChildText" presStyleLbl="revTx" presStyleIdx="3" presStyleCnt="4" custScaleX="303126" custScaleY="109777" custLinFactX="1739" custLinFactNeighborX="100000" custLinFactNeighborY="-14712">
        <dgm:presLayoutVars>
          <dgm:chMax val="0"/>
          <dgm:chPref val="0"/>
          <dgm:bulletEnabled val="1"/>
        </dgm:presLayoutVars>
      </dgm:prSet>
      <dgm:spPr/>
    </dgm:pt>
  </dgm:ptLst>
  <dgm:cxnLst>
    <dgm:cxn modelId="{830B1803-F336-4386-87C1-E5D1BC2B67B2}" srcId="{AE94FE2B-C28B-4E97-846A-E66030BAA292}" destId="{EDEF3776-B59C-42FB-9D85-678B3E1876A9}" srcOrd="1" destOrd="0" parTransId="{2FE78D17-9E58-4873-A216-72A86D3CF490}" sibTransId="{4677608C-3908-449D-B8A8-A8942E338412}"/>
    <dgm:cxn modelId="{2DC1FC13-15AF-4002-B20B-5F1411C98D73}" type="presOf" srcId="{573184B2-DB3D-4A24-9C9C-8E702832342D}" destId="{B0DBA3CA-A66B-4B7B-AA69-2DF9ED690408}" srcOrd="0" destOrd="0" presId="urn:microsoft.com/office/officeart/2005/8/layout/StepDownProcess"/>
    <dgm:cxn modelId="{BB869F14-666C-4567-B6C3-AF43844DDEE1}" srcId="{AE94FE2B-C28B-4E97-846A-E66030BAA292}" destId="{23731353-D4BB-4918-814B-F8314267F9A3}" srcOrd="2" destOrd="0" parTransId="{50D34BFB-2328-4753-BD2D-A5F3AD52678C}" sibTransId="{BF7FFCFD-2F82-48AD-B3CF-6C7EF26448DA}"/>
    <dgm:cxn modelId="{799B1E25-9C76-40FE-9BB0-5C9E6C5873EC}" type="presOf" srcId="{AE94FE2B-C28B-4E97-846A-E66030BAA292}" destId="{BC333490-ADC2-456E-94B7-E525D22EE194}" srcOrd="0" destOrd="0" presId="urn:microsoft.com/office/officeart/2005/8/layout/StepDownProcess"/>
    <dgm:cxn modelId="{EEF99828-D81E-493A-B909-E9D14E2C82B0}" srcId="{A8C01CDF-66F4-4D0B-B20A-81A7B760FCAD}" destId="{539276B5-532C-4D67-8B98-7BFCED12A0C6}" srcOrd="0" destOrd="0" parTransId="{DEBF2CBC-4336-4559-9243-C37CBAAE1B05}" sibTransId="{81519339-9F7D-4012-9A74-E4959563EC7D}"/>
    <dgm:cxn modelId="{678E1036-DEF7-4729-99A5-F491604741F5}" srcId="{573184B2-DB3D-4A24-9C9C-8E702832342D}" destId="{137AB269-9049-4989-B5D9-33F87A977533}" srcOrd="0" destOrd="0" parTransId="{C5A6B782-5984-4EAD-894C-2649ACCF7A78}" sibTransId="{E32ABE4A-A49C-4FB7-A1D4-B2AB3B7C990F}"/>
    <dgm:cxn modelId="{1F203B3C-0555-4EE1-B3BF-91FAA3A5C7DB}" srcId="{CE643850-161D-440C-BC80-FB56C77556CC}" destId="{2233EE40-2C3C-49BD-A569-7B8376C16863}" srcOrd="1" destOrd="0" parTransId="{625AE72F-CB39-4C71-B78F-AA673417CAE0}" sibTransId="{65DAE98A-A5C1-4FC6-8CF6-612694D775BF}"/>
    <dgm:cxn modelId="{FBA0933E-B715-4D76-927A-94B60800A39E}" type="presOf" srcId="{137AB269-9049-4989-B5D9-33F87A977533}" destId="{E7EE36A7-58A1-4337-9CBD-D7F4055D54F1}" srcOrd="0" destOrd="0" presId="urn:microsoft.com/office/officeart/2005/8/layout/StepDownProcess"/>
    <dgm:cxn modelId="{37A9CE60-CC9F-4060-B4EC-1B2B75FF2605}" srcId="{A8C01CDF-66F4-4D0B-B20A-81A7B760FCAD}" destId="{573184B2-DB3D-4A24-9C9C-8E702832342D}" srcOrd="2" destOrd="0" parTransId="{1AE81AD0-F373-4EFB-9B91-73AEBD96F24D}" sibTransId="{C6482559-C83C-4CEE-95B1-41D929BC20A0}"/>
    <dgm:cxn modelId="{83B64245-8896-45DE-837E-9530F10BA087}" type="presOf" srcId="{38097EA9-9C5D-4863-9B29-D0AEB7CA5078}" destId="{E7EE36A7-58A1-4337-9CBD-D7F4055D54F1}" srcOrd="0" destOrd="1" presId="urn:microsoft.com/office/officeart/2005/8/layout/StepDownProcess"/>
    <dgm:cxn modelId="{6EC2686B-C2EA-435E-8DA8-5630389358C3}" srcId="{A8C01CDF-66F4-4D0B-B20A-81A7B760FCAD}" destId="{CE643850-161D-440C-BC80-FB56C77556CC}" srcOrd="1" destOrd="0" parTransId="{05354C19-AEF0-4F39-9F22-71A4609A7482}" sibTransId="{6315DA07-DB95-4B6E-85B0-AB5D11577842}"/>
    <dgm:cxn modelId="{41892B71-28FC-462A-9302-F912D7AEF56E}" srcId="{AE94FE2B-C28B-4E97-846A-E66030BAA292}" destId="{784DBA99-46DD-4985-A718-8E9842F1C02E}" srcOrd="0" destOrd="0" parTransId="{1687D3F0-8927-42D8-A031-1925B2496B07}" sibTransId="{32082735-7FC3-48B4-B2EC-14EDF1E2A77C}"/>
    <dgm:cxn modelId="{69CFBE52-3FAC-4F26-8FCF-E7F648AAD6EF}" type="presOf" srcId="{EDEF3776-B59C-42FB-9D85-678B3E1876A9}" destId="{74199556-4267-4D33-B1EC-74EB833CE07E}" srcOrd="0" destOrd="1" presId="urn:microsoft.com/office/officeart/2005/8/layout/StepDownProcess"/>
    <dgm:cxn modelId="{62365453-216B-4B8A-B217-535D89FD2305}" type="presOf" srcId="{23731353-D4BB-4918-814B-F8314267F9A3}" destId="{74199556-4267-4D33-B1EC-74EB833CE07E}" srcOrd="0" destOrd="2" presId="urn:microsoft.com/office/officeart/2005/8/layout/StepDownProcess"/>
    <dgm:cxn modelId="{C1A1A676-2402-49E2-9879-EFA756B1AF88}" type="presOf" srcId="{784DBA99-46DD-4985-A718-8E9842F1C02E}" destId="{74199556-4267-4D33-B1EC-74EB833CE07E}" srcOrd="0" destOrd="0" presId="urn:microsoft.com/office/officeart/2005/8/layout/StepDownProcess"/>
    <dgm:cxn modelId="{ED4B967C-23DA-44CD-8B34-C9C5FE3617FC}" type="presOf" srcId="{A8C01CDF-66F4-4D0B-B20A-81A7B760FCAD}" destId="{7D197EC9-C230-423B-8CC7-ECB042355DAB}" srcOrd="0" destOrd="0" presId="urn:microsoft.com/office/officeart/2005/8/layout/StepDownProcess"/>
    <dgm:cxn modelId="{A2C24088-85EC-4131-B020-CE4A2CE47EB4}" srcId="{CE643850-161D-440C-BC80-FB56C77556CC}" destId="{F1B1B8BA-3A17-46FB-9802-0F92599E5AD3}" srcOrd="0" destOrd="0" parTransId="{493B637A-58A3-41B0-B0AF-F7FF1AAD941E}" sibTransId="{DE128FC1-86CD-4045-AB09-4CEF1E2B5227}"/>
    <dgm:cxn modelId="{428AF28E-1BFF-48A1-AE47-B9F8EA57EC44}" type="presOf" srcId="{539276B5-532C-4D67-8B98-7BFCED12A0C6}" destId="{D59CA3A2-E739-4C09-8C40-7E5EDE388E8B}" srcOrd="0" destOrd="0" presId="urn:microsoft.com/office/officeart/2005/8/layout/StepDownProcess"/>
    <dgm:cxn modelId="{9456DC94-DB6B-4D3E-A23B-F52FA9C19AF3}" srcId="{A8C01CDF-66F4-4D0B-B20A-81A7B760FCAD}" destId="{AE94FE2B-C28B-4E97-846A-E66030BAA292}" srcOrd="3" destOrd="0" parTransId="{FDEAB402-B1DD-4BE4-B336-49A706EE0FAF}" sibTransId="{082D1758-3918-4E92-A36B-EE9137722B7B}"/>
    <dgm:cxn modelId="{520E9F96-C68C-4AF3-93FC-6772924BAACC}" type="presOf" srcId="{6081BAC3-6A84-465B-9072-8A1340173B91}" destId="{74199556-4267-4D33-B1EC-74EB833CE07E}" srcOrd="0" destOrd="3" presId="urn:microsoft.com/office/officeart/2005/8/layout/StepDownProcess"/>
    <dgm:cxn modelId="{3DECEAAE-3415-47B8-B77F-FFB11201E534}" type="presOf" srcId="{F1B1B8BA-3A17-46FB-9802-0F92599E5AD3}" destId="{1A28E8C4-EB40-42BB-9F76-34AAC855C081}" srcOrd="0" destOrd="0" presId="urn:microsoft.com/office/officeart/2005/8/layout/StepDownProcess"/>
    <dgm:cxn modelId="{83DD94C6-3CEF-4885-B6CD-F52AFDFFB882}" srcId="{AE94FE2B-C28B-4E97-846A-E66030BAA292}" destId="{6081BAC3-6A84-465B-9072-8A1340173B91}" srcOrd="3" destOrd="0" parTransId="{83A98842-046E-45D3-B587-9A3BFCB4C6CE}" sibTransId="{DF2E9CA9-A77B-49DC-A5FF-7E55928D502B}"/>
    <dgm:cxn modelId="{AADF3DCA-2BC5-4467-8DCF-28F8826D2B0E}" srcId="{539276B5-532C-4D67-8B98-7BFCED12A0C6}" destId="{B16FCC86-A871-4353-ACB1-3DB5388A2EAC}" srcOrd="0" destOrd="0" parTransId="{DDA12133-DE6B-49E2-9487-F5E1125760BA}" sibTransId="{E8083468-EE00-4E9D-A986-17AD522F221F}"/>
    <dgm:cxn modelId="{24EB6BDB-2F8A-4CBE-8782-F89EE280C3FB}" type="presOf" srcId="{CE643850-161D-440C-BC80-FB56C77556CC}" destId="{890A4869-C858-437D-A402-A9B2D879AADD}" srcOrd="0" destOrd="0" presId="urn:microsoft.com/office/officeart/2005/8/layout/StepDownProcess"/>
    <dgm:cxn modelId="{6B0606E4-E8B1-49E9-8528-4DFD6B8C59D8}" type="presOf" srcId="{2233EE40-2C3C-49BD-A569-7B8376C16863}" destId="{1A28E8C4-EB40-42BB-9F76-34AAC855C081}" srcOrd="0" destOrd="1" presId="urn:microsoft.com/office/officeart/2005/8/layout/StepDownProcess"/>
    <dgm:cxn modelId="{241937F4-013A-4D3B-8EF2-6E176F3A1413}" srcId="{573184B2-DB3D-4A24-9C9C-8E702832342D}" destId="{38097EA9-9C5D-4863-9B29-D0AEB7CA5078}" srcOrd="1" destOrd="0" parTransId="{BCBBDF31-7501-424E-BEF8-AAFE9F8FE8E6}" sibTransId="{6B7822B0-D7CA-4B0F-AB0C-031E957C71CD}"/>
    <dgm:cxn modelId="{96F6D9F5-CEF0-408D-83F9-055C5A11DDC7}" type="presOf" srcId="{B16FCC86-A871-4353-ACB1-3DB5388A2EAC}" destId="{12263E94-BB2F-4D4B-B476-DA1CA1545544}" srcOrd="0" destOrd="0" presId="urn:microsoft.com/office/officeart/2005/8/layout/StepDownProcess"/>
    <dgm:cxn modelId="{DD6F37DF-6514-4723-ADAD-F388E545631D}" type="presParOf" srcId="{7D197EC9-C230-423B-8CC7-ECB042355DAB}" destId="{94D3E69D-8F3B-4865-9AD1-AD843A9795C7}" srcOrd="0" destOrd="0" presId="urn:microsoft.com/office/officeart/2005/8/layout/StepDownProcess"/>
    <dgm:cxn modelId="{71E3656E-9D0C-4B3C-81E8-E75F9EDBC42E}" type="presParOf" srcId="{94D3E69D-8F3B-4865-9AD1-AD843A9795C7}" destId="{8A73EF40-3B80-43DC-8209-E42A9F94A0B2}" srcOrd="0" destOrd="0" presId="urn:microsoft.com/office/officeart/2005/8/layout/StepDownProcess"/>
    <dgm:cxn modelId="{72DD0F2D-31BC-48FB-B8D5-569EDD377324}" type="presParOf" srcId="{94D3E69D-8F3B-4865-9AD1-AD843A9795C7}" destId="{D59CA3A2-E739-4C09-8C40-7E5EDE388E8B}" srcOrd="1" destOrd="0" presId="urn:microsoft.com/office/officeart/2005/8/layout/StepDownProcess"/>
    <dgm:cxn modelId="{704E42CB-BAEC-4F4F-83C0-1006A87101A6}" type="presParOf" srcId="{94D3E69D-8F3B-4865-9AD1-AD843A9795C7}" destId="{12263E94-BB2F-4D4B-B476-DA1CA1545544}" srcOrd="2" destOrd="0" presId="urn:microsoft.com/office/officeart/2005/8/layout/StepDownProcess"/>
    <dgm:cxn modelId="{BF5F8135-1B3A-4259-8618-7E4446634ADD}" type="presParOf" srcId="{7D197EC9-C230-423B-8CC7-ECB042355DAB}" destId="{973A47EC-60D7-44B4-8E8D-5BE32834F1D0}" srcOrd="1" destOrd="0" presId="urn:microsoft.com/office/officeart/2005/8/layout/StepDownProcess"/>
    <dgm:cxn modelId="{46304E9D-3BA7-43B1-AFB1-3070E6629879}" type="presParOf" srcId="{7D197EC9-C230-423B-8CC7-ECB042355DAB}" destId="{C3F09B12-E0E6-44B1-8959-D35EF22ED382}" srcOrd="2" destOrd="0" presId="urn:microsoft.com/office/officeart/2005/8/layout/StepDownProcess"/>
    <dgm:cxn modelId="{35A12C14-136F-4723-9D0F-500E8E6C634F}" type="presParOf" srcId="{C3F09B12-E0E6-44B1-8959-D35EF22ED382}" destId="{1BBDFB61-0CA1-4CF8-87B6-A12D03FF8417}" srcOrd="0" destOrd="0" presId="urn:microsoft.com/office/officeart/2005/8/layout/StepDownProcess"/>
    <dgm:cxn modelId="{E7302755-4779-4CA6-A7FE-271008291DAC}" type="presParOf" srcId="{C3F09B12-E0E6-44B1-8959-D35EF22ED382}" destId="{890A4869-C858-437D-A402-A9B2D879AADD}" srcOrd="1" destOrd="0" presId="urn:microsoft.com/office/officeart/2005/8/layout/StepDownProcess"/>
    <dgm:cxn modelId="{65E920D9-3707-40FC-A8CA-B17435C010A7}" type="presParOf" srcId="{C3F09B12-E0E6-44B1-8959-D35EF22ED382}" destId="{1A28E8C4-EB40-42BB-9F76-34AAC855C081}" srcOrd="2" destOrd="0" presId="urn:microsoft.com/office/officeart/2005/8/layout/StepDownProcess"/>
    <dgm:cxn modelId="{AB34FD42-A1B1-4EBE-ADDE-E2DFF48FA136}" type="presParOf" srcId="{7D197EC9-C230-423B-8CC7-ECB042355DAB}" destId="{9F0A6F46-0BC0-460B-9134-5867A38654EA}" srcOrd="3" destOrd="0" presId="urn:microsoft.com/office/officeart/2005/8/layout/StepDownProcess"/>
    <dgm:cxn modelId="{31C96068-B4ED-4166-A404-F20538CF1F7D}" type="presParOf" srcId="{7D197EC9-C230-423B-8CC7-ECB042355DAB}" destId="{CFFDFB91-6AA4-4C88-BAFF-A52D7629F511}" srcOrd="4" destOrd="0" presId="urn:microsoft.com/office/officeart/2005/8/layout/StepDownProcess"/>
    <dgm:cxn modelId="{F2A77994-8FE5-4D56-ACA6-603355389782}" type="presParOf" srcId="{CFFDFB91-6AA4-4C88-BAFF-A52D7629F511}" destId="{68CA81A9-C781-4D3F-A466-1A249E0DF9BE}" srcOrd="0" destOrd="0" presId="urn:microsoft.com/office/officeart/2005/8/layout/StepDownProcess"/>
    <dgm:cxn modelId="{24002B28-DFD1-44B4-9B8F-1D5C52470541}" type="presParOf" srcId="{CFFDFB91-6AA4-4C88-BAFF-A52D7629F511}" destId="{B0DBA3CA-A66B-4B7B-AA69-2DF9ED690408}" srcOrd="1" destOrd="0" presId="urn:microsoft.com/office/officeart/2005/8/layout/StepDownProcess"/>
    <dgm:cxn modelId="{B8034B9F-1D45-4CC7-A8D9-5D28B8983F28}" type="presParOf" srcId="{CFFDFB91-6AA4-4C88-BAFF-A52D7629F511}" destId="{E7EE36A7-58A1-4337-9CBD-D7F4055D54F1}" srcOrd="2" destOrd="0" presId="urn:microsoft.com/office/officeart/2005/8/layout/StepDownProcess"/>
    <dgm:cxn modelId="{C80E0BDF-D729-4910-964D-DB0DE5F68621}" type="presParOf" srcId="{7D197EC9-C230-423B-8CC7-ECB042355DAB}" destId="{71867A2B-D191-40F8-A43B-8A22F9AF01FE}" srcOrd="5" destOrd="0" presId="urn:microsoft.com/office/officeart/2005/8/layout/StepDownProcess"/>
    <dgm:cxn modelId="{6CBFAC8F-2ECE-4A26-9923-300D9C23868B}" type="presParOf" srcId="{7D197EC9-C230-423B-8CC7-ECB042355DAB}" destId="{4BC7E0CE-CE43-4ADF-8FB3-638C8BE5668A}" srcOrd="6" destOrd="0" presId="urn:microsoft.com/office/officeart/2005/8/layout/StepDownProcess"/>
    <dgm:cxn modelId="{A8FE106D-5A35-4015-91E8-556D40EF21AA}" type="presParOf" srcId="{4BC7E0CE-CE43-4ADF-8FB3-638C8BE5668A}" destId="{BC333490-ADC2-456E-94B7-E525D22EE194}" srcOrd="0" destOrd="0" presId="urn:microsoft.com/office/officeart/2005/8/layout/StepDownProcess"/>
    <dgm:cxn modelId="{17D153E9-204C-47DC-ABED-7FFCEA54EA1F}" type="presParOf" srcId="{4BC7E0CE-CE43-4ADF-8FB3-638C8BE5668A}" destId="{74199556-4267-4D33-B1EC-74EB833CE07E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3EF40-3B80-43DC-8209-E42A9F94A0B2}">
      <dsp:nvSpPr>
        <dsp:cNvPr id="0" name=""/>
        <dsp:cNvSpPr/>
      </dsp:nvSpPr>
      <dsp:spPr>
        <a:xfrm rot="5400000">
          <a:off x="1300858" y="1081426"/>
          <a:ext cx="949211" cy="10806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D59CA3A2-E739-4C09-8C40-7E5EDE388E8B}">
      <dsp:nvSpPr>
        <dsp:cNvPr id="0" name=""/>
        <dsp:cNvSpPr/>
      </dsp:nvSpPr>
      <dsp:spPr>
        <a:xfrm>
          <a:off x="1049374" y="29206"/>
          <a:ext cx="1597913" cy="111848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1" kern="1200" dirty="0">
              <a:solidFill>
                <a:schemeClr val="tx1"/>
              </a:solidFill>
            </a:rPr>
            <a:t>EVIDENCIA ALTERNATIVA</a:t>
          </a:r>
        </a:p>
      </dsp:txBody>
      <dsp:txXfrm>
        <a:off x="1103984" y="83816"/>
        <a:ext cx="1488693" cy="1009267"/>
      </dsp:txXfrm>
    </dsp:sp>
    <dsp:sp modelId="{12263E94-BB2F-4D4B-B476-DA1CA1545544}">
      <dsp:nvSpPr>
        <dsp:cNvPr id="0" name=""/>
        <dsp:cNvSpPr/>
      </dsp:nvSpPr>
      <dsp:spPr>
        <a:xfrm>
          <a:off x="2829679" y="33247"/>
          <a:ext cx="3757970" cy="11197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 Copia contrato de aprendizaje o correo de aprobación de otra alternativa</a:t>
          </a:r>
        </a:p>
      </dsp:txBody>
      <dsp:txXfrm>
        <a:off x="2829679" y="33247"/>
        <a:ext cx="3757970" cy="1119708"/>
      </dsp:txXfrm>
    </dsp:sp>
    <dsp:sp modelId="{1BBDFB61-0CA1-4CF8-87B6-A12D03FF8417}">
      <dsp:nvSpPr>
        <dsp:cNvPr id="0" name=""/>
        <dsp:cNvSpPr/>
      </dsp:nvSpPr>
      <dsp:spPr>
        <a:xfrm rot="5400000">
          <a:off x="3248690" y="2337857"/>
          <a:ext cx="949211" cy="10806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22308"/>
            <a:satOff val="-1189"/>
            <a:lumOff val="6118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890A4869-C858-437D-A402-A9B2D879AADD}">
      <dsp:nvSpPr>
        <dsp:cNvPr id="0" name=""/>
        <dsp:cNvSpPr/>
      </dsp:nvSpPr>
      <dsp:spPr>
        <a:xfrm>
          <a:off x="2997207" y="1285637"/>
          <a:ext cx="1597913" cy="111848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107093"/>
                <a:satOff val="-4303"/>
                <a:lumOff val="92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107093"/>
                <a:satOff val="-4303"/>
                <a:lumOff val="92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107093"/>
                <a:satOff val="-4303"/>
                <a:lumOff val="92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</a:rPr>
            <a:t>CERTIFICADO DE AFILIACIÓN</a:t>
          </a:r>
        </a:p>
      </dsp:txBody>
      <dsp:txXfrm>
        <a:off x="3051817" y="1340247"/>
        <a:ext cx="1488693" cy="1009267"/>
      </dsp:txXfrm>
    </dsp:sp>
    <dsp:sp modelId="{1A28E8C4-EB40-42BB-9F76-34AAC855C081}">
      <dsp:nvSpPr>
        <dsp:cNvPr id="0" name=""/>
        <dsp:cNvSpPr/>
      </dsp:nvSpPr>
      <dsp:spPr>
        <a:xfrm>
          <a:off x="4595121" y="1392310"/>
          <a:ext cx="1162170" cy="904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1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 err="1"/>
            <a:t>Arl</a:t>
          </a:r>
          <a:endParaRPr lang="es-ES" sz="1100" kern="1200" dirty="0"/>
        </a:p>
      </dsp:txBody>
      <dsp:txXfrm>
        <a:off x="4595121" y="1392310"/>
        <a:ext cx="1162170" cy="904011"/>
      </dsp:txXfrm>
    </dsp:sp>
    <dsp:sp modelId="{68CA81A9-C781-4D3F-A466-1A249E0DF9BE}">
      <dsp:nvSpPr>
        <dsp:cNvPr id="0" name=""/>
        <dsp:cNvSpPr/>
      </dsp:nvSpPr>
      <dsp:spPr>
        <a:xfrm rot="5400000">
          <a:off x="5196523" y="3594289"/>
          <a:ext cx="949211" cy="108064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50000"/>
            <a:hueOff val="44616"/>
            <a:satOff val="-2378"/>
            <a:lumOff val="12236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B0DBA3CA-A66B-4B7B-AA69-2DF9ED690408}">
      <dsp:nvSpPr>
        <dsp:cNvPr id="0" name=""/>
        <dsp:cNvSpPr/>
      </dsp:nvSpPr>
      <dsp:spPr>
        <a:xfrm>
          <a:off x="4945040" y="2542068"/>
          <a:ext cx="1597913" cy="111848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214187"/>
                <a:satOff val="-8606"/>
                <a:lumOff val="184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214187"/>
                <a:satOff val="-8606"/>
                <a:lumOff val="184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214187"/>
                <a:satOff val="-8606"/>
                <a:lumOff val="184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</a:rPr>
            <a:t>GFPI-F-023-V6</a:t>
          </a:r>
        </a:p>
      </dsp:txBody>
      <dsp:txXfrm>
        <a:off x="4999650" y="2596678"/>
        <a:ext cx="1488693" cy="1009267"/>
      </dsp:txXfrm>
    </dsp:sp>
    <dsp:sp modelId="{E7EE36A7-58A1-4337-9CBD-D7F4055D54F1}">
      <dsp:nvSpPr>
        <dsp:cNvPr id="0" name=""/>
        <dsp:cNvSpPr/>
      </dsp:nvSpPr>
      <dsp:spPr>
        <a:xfrm>
          <a:off x="6649647" y="2598867"/>
          <a:ext cx="3043596" cy="904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Concertación de actividades, evaluación parcial y final</a:t>
          </a:r>
        </a:p>
      </dsp:txBody>
      <dsp:txXfrm>
        <a:off x="6649647" y="2598867"/>
        <a:ext cx="3043596" cy="904011"/>
      </dsp:txXfrm>
    </dsp:sp>
    <dsp:sp modelId="{BC333490-ADC2-456E-94B7-E525D22EE194}">
      <dsp:nvSpPr>
        <dsp:cNvPr id="0" name=""/>
        <dsp:cNvSpPr/>
      </dsp:nvSpPr>
      <dsp:spPr>
        <a:xfrm>
          <a:off x="6610233" y="3826529"/>
          <a:ext cx="1597913" cy="1118487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6">
                <a:shade val="80000"/>
                <a:hueOff val="321280"/>
                <a:satOff val="-12909"/>
                <a:lumOff val="27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321280"/>
                <a:satOff val="-12909"/>
                <a:lumOff val="27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321280"/>
                <a:satOff val="-12909"/>
                <a:lumOff val="27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</a:rPr>
            <a:t>BITÁCORA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solidFill>
                <a:schemeClr val="tx1"/>
              </a:solidFill>
            </a:rPr>
            <a:t>GFPI-F-147 V04</a:t>
          </a:r>
        </a:p>
      </dsp:txBody>
      <dsp:txXfrm>
        <a:off x="6664843" y="3881139"/>
        <a:ext cx="1488693" cy="1009267"/>
      </dsp:txXfrm>
    </dsp:sp>
    <dsp:sp modelId="{74199556-4267-4D33-B1EC-74EB833CE07E}">
      <dsp:nvSpPr>
        <dsp:cNvPr id="0" name=""/>
        <dsp:cNvSpPr/>
      </dsp:nvSpPr>
      <dsp:spPr>
        <a:xfrm>
          <a:off x="8359826" y="3727982"/>
          <a:ext cx="3522840" cy="9923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Práctica de 6 meses (12 bitácoras)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 Práctica de 9 meses (18 bitácoras)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 Práctica de 12 meses (24 bitácoras</a:t>
          </a:r>
          <a:r>
            <a:rPr lang="es-ES" sz="1200" kern="1200" dirty="0"/>
            <a:t>)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ES" sz="1100" kern="1200" dirty="0"/>
        </a:p>
      </dsp:txBody>
      <dsp:txXfrm>
        <a:off x="8359826" y="3727982"/>
        <a:ext cx="3522840" cy="992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16/10/2025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../ETAPA%20PRODUCTIVA%20PRESENCIAL/2025/2023/07.%20FORMATOS%20GENERALES/FORMATOS/GFPI-F-023_CONCERTACION%20ACTIVIDADES.pdf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hyperlink" Target="../../../../../ETAPA%20PRODUCTIVA%20PRESENCIAL/2025/2023/07.%20FORMATOS%20GENERALES/FORMATOS/GFPI-F-023_EVALUACION%20FINAL.pdf" TargetMode="External"/><Relationship Id="rId4" Type="http://schemas.openxmlformats.org/officeDocument/2006/relationships/hyperlink" Target="../../../../../ETAPA%20PRODUCTIVA%20PRESENCIAL/2025/2023/07.%20FORMATOS%20GENERALES/FORMATOS/GFPI-F-023_EVALUACION%20PARCIAL.pdf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1FEA25-26C5-82BD-0713-84CEF433E1C6}"/>
              </a:ext>
            </a:extLst>
          </p:cNvPr>
          <p:cNvSpPr txBox="1"/>
          <p:nvPr/>
        </p:nvSpPr>
        <p:spPr>
          <a:xfrm>
            <a:off x="893618" y="1508579"/>
            <a:ext cx="1037012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Momento 2 -Seguimiento </a:t>
            </a:r>
          </a:p>
          <a:p>
            <a:r>
              <a:rPr lang="es-ES" sz="5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y Evaluación Etapa Productiva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C4E986-D001-7DC8-D031-D68DB5AAD415}"/>
              </a:ext>
            </a:extLst>
          </p:cNvPr>
          <p:cNvSpPr txBox="1"/>
          <p:nvPr/>
        </p:nvSpPr>
        <p:spPr>
          <a:xfrm>
            <a:off x="893618" y="3976906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800" b="1" dirty="0">
                <a:solidFill>
                  <a:srgbClr val="38AA00"/>
                </a:solidFill>
                <a:latin typeface="Work Sans Light" pitchFamily="2" charset="77"/>
              </a:rPr>
              <a:t>Centro de Servicios Financieros</a:t>
            </a:r>
          </a:p>
        </p:txBody>
      </p:sp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DA845A05-4C7C-C709-F6F5-3F29FF1B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34035E8-D1DB-861B-DA95-9603C7141DFE}"/>
              </a:ext>
            </a:extLst>
          </p:cNvPr>
          <p:cNvSpPr txBox="1">
            <a:spLocks/>
          </p:cNvSpPr>
          <p:nvPr/>
        </p:nvSpPr>
        <p:spPr>
          <a:xfrm>
            <a:off x="394452" y="241480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  <a:latin typeface="Work Sans" pitchFamily="2" charset="0"/>
                <a:cs typeface="Arial" panose="020B0604020202020204" pitchFamily="34" charset="0"/>
              </a:rPr>
              <a:t>Actividades que debe realizar el </a:t>
            </a:r>
            <a:r>
              <a:rPr lang="es-ES" b="1" dirty="0">
                <a:solidFill>
                  <a:schemeClr val="bg1"/>
                </a:solidFill>
                <a:latin typeface="Work Sans Bold Roman"/>
                <a:cs typeface="Arial" panose="020B0604020202020204" pitchFamily="34" charset="0"/>
              </a:rPr>
              <a:t>Aprendiz</a:t>
            </a:r>
          </a:p>
        </p:txBody>
      </p:sp>
      <p:grpSp>
        <p:nvGrpSpPr>
          <p:cNvPr id="5" name="1 Grupo">
            <a:extLst>
              <a:ext uri="{FF2B5EF4-FFF2-40B4-BE49-F238E27FC236}">
                <a16:creationId xmlns:a16="http://schemas.microsoft.com/office/drawing/2014/main" id="{EF4E0054-575F-FB19-7D44-DABF41DC5238}"/>
              </a:ext>
            </a:extLst>
          </p:cNvPr>
          <p:cNvGrpSpPr/>
          <p:nvPr/>
        </p:nvGrpSpPr>
        <p:grpSpPr>
          <a:xfrm>
            <a:off x="1522489" y="785220"/>
            <a:ext cx="10481087" cy="5447135"/>
            <a:chOff x="821068" y="173275"/>
            <a:chExt cx="7537160" cy="5049491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6492497-39DC-44EA-0650-7C5A3CC14648}"/>
                </a:ext>
              </a:extLst>
            </p:cNvPr>
            <p:cNvSpPr txBox="1"/>
            <p:nvPr/>
          </p:nvSpPr>
          <p:spPr>
            <a:xfrm>
              <a:off x="821068" y="2603817"/>
              <a:ext cx="914400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ctr">
              <a:noAutofit/>
            </a:bodyPr>
            <a:lstStyle/>
            <a:p>
              <a:pPr algn="l"/>
              <a:endParaRPr lang="es-ES" sz="8000" b="1" dirty="0">
                <a:solidFill>
                  <a:srgbClr val="92D050"/>
                </a:solidFill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EC9287D-F5AF-EDA9-3126-5D508D4942D4}"/>
                </a:ext>
              </a:extLst>
            </p:cNvPr>
            <p:cNvSpPr txBox="1"/>
            <p:nvPr/>
          </p:nvSpPr>
          <p:spPr>
            <a:xfrm>
              <a:off x="4788329" y="173275"/>
              <a:ext cx="3421740" cy="427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2400" b="1" dirty="0">
                <a:solidFill>
                  <a:srgbClr val="38AA00"/>
                </a:solidFill>
                <a:latin typeface="Calibri"/>
                <a:cs typeface="Calibri"/>
              </a:endParaRPr>
            </a:p>
          </p:txBody>
        </p:sp>
        <p:sp>
          <p:nvSpPr>
            <p:cNvPr id="8" name="CuadroTexto 4">
              <a:extLst>
                <a:ext uri="{FF2B5EF4-FFF2-40B4-BE49-F238E27FC236}">
                  <a16:creationId xmlns:a16="http://schemas.microsoft.com/office/drawing/2014/main" id="{424E7D3B-A059-34D1-D9A1-001BFEBE814F}"/>
                </a:ext>
              </a:extLst>
            </p:cNvPr>
            <p:cNvSpPr txBox="1"/>
            <p:nvPr/>
          </p:nvSpPr>
          <p:spPr>
            <a:xfrm>
              <a:off x="4216446" y="800481"/>
              <a:ext cx="4141782" cy="442228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latin typeface="+mj-lt"/>
                  <a:cs typeface="Calibri"/>
                </a:rPr>
                <a:t>Diligenciar el formato de Evaluación y Seguimiento (F-023 V6) junto con su Jefe Inmediato. (Concertación, Evaluación parcial y Evaluación Final)</a:t>
              </a:r>
            </a:p>
            <a:p>
              <a:pPr marL="342900" indent="-342900">
                <a:buFont typeface="+mj-lt"/>
                <a:buAutoNum type="arabicPeriod"/>
              </a:pPr>
              <a:endParaRPr lang="es-ES" sz="1900" b="1" dirty="0"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latin typeface="+mj-lt"/>
                  <a:cs typeface="Calibri"/>
                </a:rPr>
                <a:t>Diligenciar una bitácora MENSUAL, en donde señalara las actividades ejecutadas en el desarrollo de su etapa productiva, en cualquiera que sea su alternativa.</a:t>
              </a:r>
            </a:p>
            <a:p>
              <a:pPr marL="342900" indent="-342900">
                <a:buFont typeface="+mj-lt"/>
                <a:buAutoNum type="arabicPeriod"/>
              </a:pPr>
              <a:endParaRPr lang="es-ES" sz="1900" b="1" dirty="0"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latin typeface="+mj-lt"/>
                  <a:cs typeface="Calibri"/>
                </a:rPr>
                <a:t>Acceder a las actividades de retroalimentación a través de la Plataforma y asistir a reuniones de Seguimiento en el Centro de Formación con el Instructor. </a:t>
              </a:r>
            </a:p>
            <a:p>
              <a:pPr marL="342900" indent="-342900" algn="just">
                <a:buFont typeface="+mj-lt"/>
                <a:buAutoNum type="arabicPeriod"/>
              </a:pPr>
              <a:endParaRPr lang="es-ES" sz="1900" b="1" dirty="0">
                <a:latin typeface="+mj-lt"/>
                <a:cs typeface="Calibri"/>
              </a:endParaRPr>
            </a:p>
            <a:p>
              <a:pPr marL="342900" indent="-342900" algn="just">
                <a:buFont typeface="+mj-lt"/>
                <a:buAutoNum type="arabicPeriod"/>
              </a:pPr>
              <a:r>
                <a:rPr lang="es-ES" sz="1900" b="1" dirty="0">
                  <a:latin typeface="+mj-lt"/>
                  <a:cs typeface="Calibri"/>
                </a:rPr>
                <a:t>Si la situación los amerita, ya sea por que el empresario o el aprendiz lo solicite, se realizara seguimiento en la empresa junto con el Jefe Inmediato y el instructor. </a:t>
              </a:r>
            </a:p>
          </p:txBody>
        </p:sp>
      </p:grp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9FAFF70-2313-84CF-944A-75A7895DCE7F}"/>
              </a:ext>
            </a:extLst>
          </p:cNvPr>
          <p:cNvCxnSpPr>
            <a:cxnSpLocks/>
          </p:cNvCxnSpPr>
          <p:nvPr/>
        </p:nvCxnSpPr>
        <p:spPr>
          <a:xfrm flipV="1">
            <a:off x="5731946" y="2452073"/>
            <a:ext cx="0" cy="2846090"/>
          </a:xfrm>
          <a:prstGeom prst="line">
            <a:avLst/>
          </a:prstGeom>
          <a:noFill/>
          <a:ln w="47625" cap="flat">
            <a:solidFill>
              <a:srgbClr val="92D05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9B516B1D-717D-BF21-09AA-0AAEEB11A39D}"/>
              </a:ext>
            </a:extLst>
          </p:cNvPr>
          <p:cNvSpPr/>
          <p:nvPr/>
        </p:nvSpPr>
        <p:spPr>
          <a:xfrm>
            <a:off x="305378" y="2206465"/>
            <a:ext cx="3336721" cy="3599760"/>
          </a:xfrm>
          <a:prstGeom prst="roundRect">
            <a:avLst>
              <a:gd name="adj" fmla="val 1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CuadroTexto 4">
            <a:extLst>
              <a:ext uri="{FF2B5EF4-FFF2-40B4-BE49-F238E27FC236}">
                <a16:creationId xmlns:a16="http://schemas.microsoft.com/office/drawing/2014/main" id="{1A2CE767-5563-DB04-7419-16F5FB0856D5}"/>
              </a:ext>
            </a:extLst>
          </p:cNvPr>
          <p:cNvSpPr txBox="1"/>
          <p:nvPr/>
        </p:nvSpPr>
        <p:spPr>
          <a:xfrm>
            <a:off x="669770" y="2452073"/>
            <a:ext cx="260793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+mj-lt"/>
                <a:cs typeface="Calibri"/>
              </a:rPr>
              <a:t>El Seguimiento y Evaluación de etapa productiva es </a:t>
            </a:r>
            <a:r>
              <a:rPr lang="es-ES" sz="2800" b="1" u="sng" dirty="0">
                <a:highlight>
                  <a:srgbClr val="38AA00"/>
                </a:highlight>
                <a:latin typeface="+mj-lt"/>
                <a:cs typeface="Calibri"/>
              </a:rPr>
              <a:t>OBLIGATORIO</a:t>
            </a:r>
            <a:r>
              <a:rPr lang="es-ES" sz="2800" b="1" dirty="0">
                <a:latin typeface="+mj-lt"/>
                <a:cs typeface="Calibri"/>
              </a:rPr>
              <a:t> y se realizara de manera virtual y presencial.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E0575E45-4B9E-8D8F-0792-8ADDC3E5C9BE}"/>
              </a:ext>
            </a:extLst>
          </p:cNvPr>
          <p:cNvSpPr/>
          <p:nvPr/>
        </p:nvSpPr>
        <p:spPr>
          <a:xfrm>
            <a:off x="4227503" y="3417968"/>
            <a:ext cx="1431155" cy="676598"/>
          </a:xfrm>
          <a:prstGeom prst="rightArrow">
            <a:avLst>
              <a:gd name="adj1" fmla="val 60000"/>
              <a:gd name="adj2" fmla="val 500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s-CO"/>
          </a:p>
        </p:txBody>
      </p:sp>
      <p:pic>
        <p:nvPicPr>
          <p:cNvPr id="13" name="Picture 6" descr="thumb image">
            <a:extLst>
              <a:ext uri="{FF2B5EF4-FFF2-40B4-BE49-F238E27FC236}">
                <a16:creationId xmlns:a16="http://schemas.microsoft.com/office/drawing/2014/main" id="{2D6D9B5C-D130-88F7-ADCD-8F132C6D7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25" y="5380296"/>
            <a:ext cx="1368318" cy="136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n relacionada">
            <a:extLst>
              <a:ext uri="{FF2B5EF4-FFF2-40B4-BE49-F238E27FC236}">
                <a16:creationId xmlns:a16="http://schemas.microsoft.com/office/drawing/2014/main" id="{26962C4F-C4C2-ECBA-1A90-5C741A1D1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74149" y="5380296"/>
            <a:ext cx="1921850" cy="1368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9741BC-1390-9A2A-8697-69041BE37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CA755-97F4-9ED0-8D51-DE9F7715C2CD}"/>
              </a:ext>
            </a:extLst>
          </p:cNvPr>
          <p:cNvSpPr txBox="1">
            <a:spLocks/>
          </p:cNvSpPr>
          <p:nvPr/>
        </p:nvSpPr>
        <p:spPr>
          <a:xfrm>
            <a:off x="151701" y="-296601"/>
            <a:ext cx="10515600" cy="162347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s-ES" sz="4000" dirty="0">
                <a:latin typeface="Work Sans Medium" pitchFamily="2" charset="77"/>
              </a:rPr>
            </a:br>
            <a:br>
              <a:rPr lang="es-ES" sz="4000" dirty="0">
                <a:latin typeface="Work Sans Medium" pitchFamily="2" charset="77"/>
              </a:rPr>
            </a:br>
            <a:br>
              <a:rPr lang="es-ES" sz="14400" dirty="0">
                <a:latin typeface="Work Sans Medium" pitchFamily="2" charset="77"/>
              </a:rPr>
            </a:br>
            <a:r>
              <a:rPr lang="es-ES" sz="13600" dirty="0">
                <a:solidFill>
                  <a:schemeClr val="bg1"/>
                </a:solidFill>
                <a:latin typeface="Work Sans Medium"/>
              </a:rPr>
              <a:t>Formato Planeación, Seguimiento y Evaluación Etapa Productiva </a:t>
            </a:r>
            <a:r>
              <a:rPr lang="es-ES" sz="11200" b="1" dirty="0">
                <a:solidFill>
                  <a:schemeClr val="bg1"/>
                </a:solidFill>
                <a:latin typeface="Work Sans Medium"/>
              </a:rPr>
              <a:t>GFPI-F-023 V6</a:t>
            </a:r>
            <a:br>
              <a:rPr lang="es-ES" dirty="0">
                <a:latin typeface="Work Sans Medium" pitchFamily="2" charset="77"/>
              </a:rPr>
            </a:br>
            <a:br>
              <a:rPr lang="es-ES" dirty="0">
                <a:latin typeface="Work Sans Medium" pitchFamily="2" charset="77"/>
              </a:rPr>
            </a:b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3" name="CuadroTexto 2">
            <a:hlinkClick r:id="rId3" action="ppaction://hlinkfile"/>
            <a:extLst>
              <a:ext uri="{FF2B5EF4-FFF2-40B4-BE49-F238E27FC236}">
                <a16:creationId xmlns:a16="http://schemas.microsoft.com/office/drawing/2014/main" id="{63FCB557-89BF-CE4A-4344-E9C3286EF312}"/>
              </a:ext>
            </a:extLst>
          </p:cNvPr>
          <p:cNvSpPr txBox="1"/>
          <p:nvPr/>
        </p:nvSpPr>
        <p:spPr>
          <a:xfrm>
            <a:off x="2879517" y="2714776"/>
            <a:ext cx="4210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cs typeface="Calibri"/>
              </a:rPr>
              <a:t>Concertación de las actividades a desarrollar</a:t>
            </a:r>
          </a:p>
        </p:txBody>
      </p:sp>
      <p:sp>
        <p:nvSpPr>
          <p:cNvPr id="4" name="CuadroTexto 5">
            <a:hlinkClick r:id="rId4" action="ppaction://hlinkfile"/>
            <a:extLst>
              <a:ext uri="{FF2B5EF4-FFF2-40B4-BE49-F238E27FC236}">
                <a16:creationId xmlns:a16="http://schemas.microsoft.com/office/drawing/2014/main" id="{E6DB7519-01D8-1387-EFF5-CB7E95A2E462}"/>
              </a:ext>
            </a:extLst>
          </p:cNvPr>
          <p:cNvSpPr txBox="1"/>
          <p:nvPr/>
        </p:nvSpPr>
        <p:spPr>
          <a:xfrm>
            <a:off x="2863220" y="4054671"/>
            <a:ext cx="476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cs typeface="Calibri"/>
              </a:rPr>
              <a:t>Evaluación Parcial (Trimestral)</a:t>
            </a:r>
          </a:p>
        </p:txBody>
      </p:sp>
      <p:sp>
        <p:nvSpPr>
          <p:cNvPr id="5" name="CuadroTexto 5">
            <a:hlinkClick r:id="rId5" action="ppaction://hlinkfile"/>
            <a:extLst>
              <a:ext uri="{FF2B5EF4-FFF2-40B4-BE49-F238E27FC236}">
                <a16:creationId xmlns:a16="http://schemas.microsoft.com/office/drawing/2014/main" id="{572F6C1C-7365-8691-3293-53F2B539FF9A}"/>
              </a:ext>
            </a:extLst>
          </p:cNvPr>
          <p:cNvSpPr txBox="1"/>
          <p:nvPr/>
        </p:nvSpPr>
        <p:spPr>
          <a:xfrm>
            <a:off x="2847375" y="5199545"/>
            <a:ext cx="4766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Calibri"/>
                <a:cs typeface="Calibri"/>
              </a:rPr>
              <a:t>Evaluación Final (Finalizando)</a:t>
            </a:r>
            <a:endParaRPr lang="es-ES" sz="2800" b="1" dirty="0">
              <a:latin typeface="Calibri"/>
              <a:cs typeface="Calibri"/>
            </a:endParaRPr>
          </a:p>
        </p:txBody>
      </p:sp>
      <p:sp>
        <p:nvSpPr>
          <p:cNvPr id="6" name="Text Box 32">
            <a:extLst>
              <a:ext uri="{FF2B5EF4-FFF2-40B4-BE49-F238E27FC236}">
                <a16:creationId xmlns:a16="http://schemas.microsoft.com/office/drawing/2014/main" id="{969FD2FE-A5DA-F30F-A690-9EDF3670F6F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895878" y="2946738"/>
            <a:ext cx="5408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1</a:t>
            </a:r>
          </a:p>
        </p:txBody>
      </p:sp>
      <p:pic>
        <p:nvPicPr>
          <p:cNvPr id="7" name="Picture 30" descr="1">
            <a:extLst>
              <a:ext uri="{FF2B5EF4-FFF2-40B4-BE49-F238E27FC236}">
                <a16:creationId xmlns:a16="http://schemas.microsoft.com/office/drawing/2014/main" id="{BC7F8573-EDFF-8191-F15D-4C9A53EF80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53101" y="2737975"/>
            <a:ext cx="1086059" cy="1301530"/>
          </a:xfrm>
          <a:prstGeom prst="rect">
            <a:avLst/>
          </a:prstGeom>
          <a:noFill/>
        </p:spPr>
      </p:pic>
      <p:sp>
        <p:nvSpPr>
          <p:cNvPr id="8" name="Text Box 33">
            <a:extLst>
              <a:ext uri="{FF2B5EF4-FFF2-40B4-BE49-F238E27FC236}">
                <a16:creationId xmlns:a16="http://schemas.microsoft.com/office/drawing/2014/main" id="{CA3AFBDB-B772-508C-D174-1B89AD86E63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53134" y="4043875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2</a:t>
            </a:r>
          </a:p>
        </p:txBody>
      </p:sp>
      <p:sp>
        <p:nvSpPr>
          <p:cNvPr id="9" name="Text Box 34">
            <a:extLst>
              <a:ext uri="{FF2B5EF4-FFF2-40B4-BE49-F238E27FC236}">
                <a16:creationId xmlns:a16="http://schemas.microsoft.com/office/drawing/2014/main" id="{B602981D-AE5A-CAE8-F7D5-97ED8F55402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75808" y="520401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/>
              <a:t>3</a:t>
            </a:r>
          </a:p>
        </p:txBody>
      </p:sp>
      <p:pic>
        <p:nvPicPr>
          <p:cNvPr id="10" name="Picture 30" descr="1">
            <a:extLst>
              <a:ext uri="{FF2B5EF4-FFF2-40B4-BE49-F238E27FC236}">
                <a16:creationId xmlns:a16="http://schemas.microsoft.com/office/drawing/2014/main" id="{F53B93B0-30CA-BED3-A5EC-DED448487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24048" y="3791933"/>
            <a:ext cx="1086059" cy="1301530"/>
          </a:xfrm>
          <a:prstGeom prst="rect">
            <a:avLst/>
          </a:prstGeom>
          <a:noFill/>
        </p:spPr>
      </p:pic>
      <p:pic>
        <p:nvPicPr>
          <p:cNvPr id="11" name="Picture 30" descr="1">
            <a:extLst>
              <a:ext uri="{FF2B5EF4-FFF2-40B4-BE49-F238E27FC236}">
                <a16:creationId xmlns:a16="http://schemas.microsoft.com/office/drawing/2014/main" id="{68D1CA3C-DB0C-E152-05F5-492099AFB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453100" y="4956438"/>
            <a:ext cx="1086059" cy="1301530"/>
          </a:xfrm>
          <a:prstGeom prst="rect">
            <a:avLst/>
          </a:prstGeom>
          <a:noFill/>
        </p:spPr>
      </p:pic>
      <p:sp>
        <p:nvSpPr>
          <p:cNvPr id="12" name="CuadroTexto 10">
            <a:extLst>
              <a:ext uri="{FF2B5EF4-FFF2-40B4-BE49-F238E27FC236}">
                <a16:creationId xmlns:a16="http://schemas.microsoft.com/office/drawing/2014/main" id="{24995BC3-CBE2-D152-74A8-EA736C2E4A8C}"/>
              </a:ext>
            </a:extLst>
          </p:cNvPr>
          <p:cNvSpPr txBox="1"/>
          <p:nvPr/>
        </p:nvSpPr>
        <p:spPr>
          <a:xfrm>
            <a:off x="2017966" y="1883214"/>
            <a:ext cx="6727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38AA00"/>
                </a:solidFill>
                <a:cs typeface="Calibri"/>
              </a:rPr>
              <a:t>Se</a:t>
            </a:r>
            <a:r>
              <a:rPr lang="es-ES" sz="3200" b="1" dirty="0">
                <a:solidFill>
                  <a:srgbClr val="FF9220"/>
                </a:solidFill>
                <a:cs typeface="Calibri"/>
              </a:rPr>
              <a:t> </a:t>
            </a:r>
            <a:r>
              <a:rPr lang="es-ES" sz="3200" b="1" dirty="0">
                <a:solidFill>
                  <a:srgbClr val="38AA00"/>
                </a:solidFill>
                <a:cs typeface="Calibri"/>
              </a:rPr>
              <a:t>diligencia en tres (3) momentos</a:t>
            </a:r>
            <a:endParaRPr lang="es-ES" sz="3200" b="1" dirty="0">
              <a:solidFill>
                <a:srgbClr val="38AA00"/>
              </a:solidFill>
              <a:latin typeface="Calibri"/>
              <a:cs typeface="Calibri"/>
            </a:endParaRPr>
          </a:p>
        </p:txBody>
      </p:sp>
      <p:pic>
        <p:nvPicPr>
          <p:cNvPr id="13" name="Picture 4" descr="Imagen relacionada">
            <a:extLst>
              <a:ext uri="{FF2B5EF4-FFF2-40B4-BE49-F238E27FC236}">
                <a16:creationId xmlns:a16="http://schemas.microsoft.com/office/drawing/2014/main" id="{E20C8699-FA0A-3AD1-2641-B4C3F2A1C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52909" y="1379477"/>
            <a:ext cx="3373035" cy="482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88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230FD-3CB7-53CE-3406-8C961FD32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558DD8-A96C-AB28-45C6-02CC0116DDE7}"/>
              </a:ext>
            </a:extLst>
          </p:cNvPr>
          <p:cNvSpPr txBox="1"/>
          <p:nvPr/>
        </p:nvSpPr>
        <p:spPr>
          <a:xfrm>
            <a:off x="280770" y="333143"/>
            <a:ext cx="1030010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3600" b="1" dirty="0">
                <a:solidFill>
                  <a:schemeClr val="bg1"/>
                </a:solidFill>
                <a:latin typeface="Work Sans Medium"/>
                <a:ea typeface="+mj-ea"/>
                <a:cs typeface="+mj-cs"/>
              </a:rPr>
              <a:t>FORMATO BITÁCORA GFPI-F-147 Versión: 04</a:t>
            </a:r>
            <a:endParaRPr lang="es-ES" sz="3600" b="1" dirty="0">
              <a:solidFill>
                <a:schemeClr val="bg1"/>
              </a:solidFill>
              <a:latin typeface="Work Sans Medium" pitchFamily="2" charset="77"/>
              <a:ea typeface="+mj-ea"/>
              <a:cs typeface="+mj-cs"/>
            </a:endParaRPr>
          </a:p>
        </p:txBody>
      </p:sp>
      <p:sp>
        <p:nvSpPr>
          <p:cNvPr id="3" name="Text Box 32">
            <a:extLst>
              <a:ext uri="{FF2B5EF4-FFF2-40B4-BE49-F238E27FC236}">
                <a16:creationId xmlns:a16="http://schemas.microsoft.com/office/drawing/2014/main" id="{927525F5-9CCC-91E3-E344-2F9CF0FFC1B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139192" y="3930686"/>
            <a:ext cx="8960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1</a:t>
            </a:r>
          </a:p>
        </p:txBody>
      </p:sp>
      <p:pic>
        <p:nvPicPr>
          <p:cNvPr id="4" name="Picture 30" descr="1">
            <a:extLst>
              <a:ext uri="{FF2B5EF4-FFF2-40B4-BE49-F238E27FC236}">
                <a16:creationId xmlns:a16="http://schemas.microsoft.com/office/drawing/2014/main" id="{A0170B9E-52B8-3F56-C656-6B5DA2A63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6000" contrast="24000"/>
          </a:blip>
          <a:srcRect l="42606" t="64474" r="19473"/>
          <a:stretch>
            <a:fillRect/>
          </a:stretch>
        </p:blipFill>
        <p:spPr bwMode="auto">
          <a:xfrm>
            <a:off x="1776232" y="3699527"/>
            <a:ext cx="1258980" cy="1508758"/>
          </a:xfrm>
          <a:prstGeom prst="rect">
            <a:avLst/>
          </a:prstGeom>
          <a:noFill/>
        </p:spPr>
      </p:pic>
      <p:sp>
        <p:nvSpPr>
          <p:cNvPr id="5" name="CuadroTexto 5">
            <a:extLst>
              <a:ext uri="{FF2B5EF4-FFF2-40B4-BE49-F238E27FC236}">
                <a16:creationId xmlns:a16="http://schemas.microsoft.com/office/drawing/2014/main" id="{4977EB50-4D1D-53E0-150A-AF504631FB02}"/>
              </a:ext>
            </a:extLst>
          </p:cNvPr>
          <p:cNvSpPr txBox="1"/>
          <p:nvPr/>
        </p:nvSpPr>
        <p:spPr>
          <a:xfrm>
            <a:off x="3035212" y="3177569"/>
            <a:ext cx="46457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>
                <a:cs typeface="Calibri"/>
              </a:rPr>
              <a:t>Indicando la descripción de la actividad desarrollada  durante el periodo </a:t>
            </a:r>
            <a:r>
              <a:rPr lang="es-CO" sz="2800" b="1" dirty="0">
                <a:highlight>
                  <a:srgbClr val="38AA00"/>
                </a:highlight>
                <a:cs typeface="Calibri"/>
              </a:rPr>
              <a:t>01</a:t>
            </a:r>
            <a:r>
              <a:rPr lang="es-CO" sz="2800" b="1" dirty="0">
                <a:cs typeface="Calibri"/>
              </a:rPr>
              <a:t> al </a:t>
            </a:r>
            <a:r>
              <a:rPr lang="es-CO" sz="2800" b="1" dirty="0">
                <a:highlight>
                  <a:srgbClr val="38AA00"/>
                </a:highlight>
                <a:cs typeface="Calibri"/>
              </a:rPr>
              <a:t>30/31</a:t>
            </a:r>
            <a:r>
              <a:rPr lang="es-CO" sz="2800" b="1" dirty="0">
                <a:cs typeface="Calibri"/>
              </a:rPr>
              <a:t> mes, acorde a las competencias del programa de formación.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E5E14CCE-E31B-A400-7242-D8D79FBCEBFA}"/>
              </a:ext>
            </a:extLst>
          </p:cNvPr>
          <p:cNvSpPr txBox="1"/>
          <p:nvPr/>
        </p:nvSpPr>
        <p:spPr>
          <a:xfrm>
            <a:off x="2933027" y="2100024"/>
            <a:ext cx="67279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38AA00"/>
                </a:solidFill>
                <a:cs typeface="Calibri"/>
              </a:rPr>
              <a:t>Se diligencia mensual</a:t>
            </a:r>
          </a:p>
        </p:txBody>
      </p:sp>
      <p:pic>
        <p:nvPicPr>
          <p:cNvPr id="7" name="Picture 4" descr="Imagen relacionada">
            <a:extLst>
              <a:ext uri="{FF2B5EF4-FFF2-40B4-BE49-F238E27FC236}">
                <a16:creationId xmlns:a16="http://schemas.microsoft.com/office/drawing/2014/main" id="{46809F38-C88F-25A1-EBE8-43DFC13F4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9876" y="1857399"/>
            <a:ext cx="5062124" cy="430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70E4E-939B-A379-7875-D65153E0D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EFACBCD6-6159-C3E5-2CF0-80F86DDE6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7A5F9E1-3D19-7E25-A8DF-CB86CC61E9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219155"/>
              </p:ext>
            </p:extLst>
          </p:nvPr>
        </p:nvGraphicFramePr>
        <p:xfrm>
          <a:off x="330315" y="1791675"/>
          <a:ext cx="11882667" cy="49450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11E860E8-E38E-CD84-CAB2-11C519E2A5CC}"/>
              </a:ext>
            </a:extLst>
          </p:cNvPr>
          <p:cNvSpPr txBox="1">
            <a:spLocks/>
          </p:cNvSpPr>
          <p:nvPr/>
        </p:nvSpPr>
        <p:spPr>
          <a:xfrm>
            <a:off x="0" y="121306"/>
            <a:ext cx="11645120" cy="7415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solidFill>
                  <a:schemeClr val="bg1"/>
                </a:solidFill>
                <a:latin typeface="Work Sans Medium"/>
              </a:rPr>
              <a:t>EVIDENCIAS DE ETAPA PRODUCTIVA  QUE  SE DEBEN ENVIAR AL CORREO ELECTRONICO</a:t>
            </a:r>
            <a:endParaRPr lang="es-CO" sz="3600" b="1" dirty="0">
              <a:solidFill>
                <a:schemeClr val="bg1"/>
              </a:solidFill>
              <a:latin typeface="Work Sans Medium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1578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1D603CD-CA25-DC0E-7119-E87BFC570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280" y="0"/>
            <a:ext cx="4380932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ED05E5C-C794-2FCF-F372-FCD4197BF08F}"/>
              </a:ext>
            </a:extLst>
          </p:cNvPr>
          <p:cNvSpPr txBox="1"/>
          <p:nvPr/>
        </p:nvSpPr>
        <p:spPr>
          <a:xfrm>
            <a:off x="349134" y="2644170"/>
            <a:ext cx="2809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highlight>
                  <a:srgbClr val="38AA00"/>
                </a:highlight>
                <a:latin typeface="Work Sans Medium" pitchFamily="2" charset="0"/>
              </a:rPr>
              <a:t>FORMATO DE BITACORA </a:t>
            </a:r>
            <a:endParaRPr lang="es-CO" sz="3200" b="1" dirty="0">
              <a:highlight>
                <a:srgbClr val="38AA00"/>
              </a:highlight>
              <a:latin typeface="Work Sans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13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68DB-06ED-0901-7A16-772317182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 conjunto de letras blancas en un fondo blanco&#10;&#10;El contenido generado por IA puede ser incorrecto.">
            <a:extLst>
              <a:ext uri="{FF2B5EF4-FFF2-40B4-BE49-F238E27FC236}">
                <a16:creationId xmlns:a16="http://schemas.microsoft.com/office/drawing/2014/main" id="{9734897B-444D-710A-2D76-6AE8C5714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53F65EB-0CAD-6D03-D723-EBB36FEB27AE}"/>
              </a:ext>
            </a:extLst>
          </p:cNvPr>
          <p:cNvSpPr txBox="1"/>
          <p:nvPr/>
        </p:nvSpPr>
        <p:spPr>
          <a:xfrm>
            <a:off x="1014153" y="2274838"/>
            <a:ext cx="105239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4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Bold Roman"/>
              </a:rPr>
              <a:t>ASPECTOS IMPORTANTES EN EL DESARROLLO DE LA ETAPA PRACTICA</a:t>
            </a:r>
          </a:p>
        </p:txBody>
      </p:sp>
    </p:spTree>
    <p:extLst>
      <p:ext uri="{BB962C8B-B14F-4D97-AF65-F5344CB8AC3E}">
        <p14:creationId xmlns:p14="http://schemas.microsoft.com/office/powerpoint/2010/main" val="8118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4F977-1E04-521B-9AC3-B393555B0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">
            <a:extLst>
              <a:ext uri="{FF2B5EF4-FFF2-40B4-BE49-F238E27FC236}">
                <a16:creationId xmlns:a16="http://schemas.microsoft.com/office/drawing/2014/main" id="{8C6ECC1B-B720-0A6F-4607-E86B0319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199A8CAC-FECB-2D84-D848-3323D25D1E15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D91740A-6748-CDB6-82C1-DDEAA1E6C8D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8341F7A-A12D-2579-D83C-717A00DF7F86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D50BAC15-5817-ED23-C86E-67ED5836951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7548E2C-3011-DF5E-510E-B0BC06964E3B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CEA375C-F4D5-8690-4968-D3F4CA128266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4" name="Google Shape;2520;p81">
            <a:extLst>
              <a:ext uri="{FF2B5EF4-FFF2-40B4-BE49-F238E27FC236}">
                <a16:creationId xmlns:a16="http://schemas.microsoft.com/office/drawing/2014/main" id="{760A2708-0DA2-B110-91A5-F79059355F58}"/>
              </a:ext>
            </a:extLst>
          </p:cNvPr>
          <p:cNvSpPr/>
          <p:nvPr/>
        </p:nvSpPr>
        <p:spPr>
          <a:xfrm rot="5400000">
            <a:off x="5414356" y="5687468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Google Shape;2521;p81">
            <a:extLst>
              <a:ext uri="{FF2B5EF4-FFF2-40B4-BE49-F238E27FC236}">
                <a16:creationId xmlns:a16="http://schemas.microsoft.com/office/drawing/2014/main" id="{80158D12-718E-A918-39CB-3120682C6AFB}"/>
              </a:ext>
            </a:extLst>
          </p:cNvPr>
          <p:cNvSpPr/>
          <p:nvPr/>
        </p:nvSpPr>
        <p:spPr>
          <a:xfrm rot="5400000">
            <a:off x="4899002" y="6125791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2" descr="Vector gratuito ilustración de concepto de nuevo empleado">
            <a:extLst>
              <a:ext uri="{FF2B5EF4-FFF2-40B4-BE49-F238E27FC236}">
                <a16:creationId xmlns:a16="http://schemas.microsoft.com/office/drawing/2014/main" id="{930DE1EC-01B9-F7B8-D146-C2A2A8EF7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4979" y="1964595"/>
            <a:ext cx="5962650" cy="397192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726A5AB-65E2-6688-BCDA-59085F504754}"/>
              </a:ext>
            </a:extLst>
          </p:cNvPr>
          <p:cNvSpPr txBox="1"/>
          <p:nvPr/>
        </p:nvSpPr>
        <p:spPr>
          <a:xfrm>
            <a:off x="0" y="179044"/>
            <a:ext cx="1102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Medium" pitchFamily="2" charset="0"/>
              </a:rPr>
              <a:t>Presentación Personal</a:t>
            </a:r>
            <a:endParaRPr lang="es-CO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Medium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7E1275-F769-B4A7-9602-33F922FFBF44}"/>
              </a:ext>
            </a:extLst>
          </p:cNvPr>
          <p:cNvSpPr txBox="1"/>
          <p:nvPr/>
        </p:nvSpPr>
        <p:spPr>
          <a:xfrm>
            <a:off x="308143" y="1493798"/>
            <a:ext cx="470631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latin typeface="Roboto Light"/>
                <a:cs typeface="Arial" panose="020B0604020202020204" pitchFamily="34" charset="0"/>
              </a:rPr>
              <a:t>Una persona que luce impecable será bien recibida en cualquier lugar.</a:t>
            </a:r>
          </a:p>
          <a:p>
            <a:pPr algn="ctr"/>
            <a:endParaRPr lang="es-MX" sz="2400" dirty="0"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latin typeface="Roboto Light"/>
                <a:cs typeface="Arial" panose="020B0604020202020204" pitchFamily="34" charset="0"/>
              </a:rPr>
              <a:t>La primera impresión está dada por su presentación personal.</a:t>
            </a:r>
          </a:p>
          <a:p>
            <a:pPr algn="ctr"/>
            <a:endParaRPr lang="es-MX" sz="2400" dirty="0"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latin typeface="Roboto Light"/>
                <a:cs typeface="Arial" panose="020B0604020202020204" pitchFamily="34" charset="0"/>
              </a:rPr>
              <a:t>La presentación personal del aprendiz SENA es tan importante,  no solo se esta preparando desde ahora para una vida laboral intachable, también, deja en alto el buen nombre de la institución.</a:t>
            </a:r>
            <a:endParaRPr lang="es-CO" sz="2400" dirty="0">
              <a:latin typeface="Roboto Ligh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49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F7340-7BDA-71C8-51D7-02A854BA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BA356B71-03CE-FAB8-8D2B-7F619012B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C9607A15-1055-337F-FEC8-1956C110397E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933B2FC-C459-EE74-468E-DB8B35EC218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5C7AB60-356A-E59B-8C52-7491AF850732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F5F0392-6E9A-2380-D912-8CF320AC34DD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2439FD64-B718-B8A1-5E6D-A45CC4B511FE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C434968-170D-AA76-E4B5-36DF99E9B54B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8E3E76C3-520D-B351-E395-BF51721FC77A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CD9E42D4-2276-DD05-DEB1-369CC523CCDA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AB39A75-5A3E-3634-F903-0030DD183E3B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336F7E-4518-4427-D84C-9AB3D4328977}"/>
              </a:ext>
            </a:extLst>
          </p:cNvPr>
          <p:cNvSpPr txBox="1"/>
          <p:nvPr/>
        </p:nvSpPr>
        <p:spPr>
          <a:xfrm>
            <a:off x="6269174" y="1446414"/>
            <a:ext cx="450084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400" dirty="0">
                <a:latin typeface="Roboto Light"/>
                <a:cs typeface="Arial" panose="020B0604020202020204" pitchFamily="34" charset="0"/>
              </a:rPr>
              <a:t>La puntualidad es la disciplina de estar a tiempo para cumplir nuestras compromisos y obligaciones en los diferentes contextos laborales, sociales y personales, se asocia a la responsabilidad que asumimos.</a:t>
            </a:r>
          </a:p>
          <a:p>
            <a:pPr algn="ctr"/>
            <a:endParaRPr lang="es-MX" sz="2400" dirty="0">
              <a:latin typeface="Roboto Light"/>
              <a:cs typeface="Arial" panose="020B0604020202020204" pitchFamily="34" charset="0"/>
            </a:endParaRPr>
          </a:p>
          <a:p>
            <a:pPr algn="ctr"/>
            <a:r>
              <a:rPr lang="es-MX" sz="2400" dirty="0">
                <a:latin typeface="Roboto Light"/>
                <a:cs typeface="Arial" panose="020B0604020202020204" pitchFamily="34" charset="0"/>
              </a:rPr>
              <a:t>Nuestra palabra genera valor, es la garantía para contar con nuestra presencia en el momento justo, preciso y necesario.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796BB9-B8B3-9AE8-408A-E8E3619CEBF0}"/>
              </a:ext>
            </a:extLst>
          </p:cNvPr>
          <p:cNvSpPr txBox="1"/>
          <p:nvPr/>
        </p:nvSpPr>
        <p:spPr>
          <a:xfrm>
            <a:off x="266007" y="413859"/>
            <a:ext cx="105365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Medium" pitchFamily="2" charset="0"/>
              </a:rPr>
              <a:t>Puntualidad y Responsabilidad</a:t>
            </a:r>
            <a:endParaRPr lang="es-CO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Medium" pitchFamily="2" charset="0"/>
            </a:endParaRPr>
          </a:p>
        </p:txBody>
      </p:sp>
      <p:pic>
        <p:nvPicPr>
          <p:cNvPr id="7" name="Picture 4" descr="Puntualidad Vectores Libres de Derechos - iStock">
            <a:extLst>
              <a:ext uri="{FF2B5EF4-FFF2-40B4-BE49-F238E27FC236}">
                <a16:creationId xmlns:a16="http://schemas.microsoft.com/office/drawing/2014/main" id="{DB7FAA2A-F969-6177-88E7-763FFEE37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038" y="1749935"/>
            <a:ext cx="4931228" cy="394561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118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C758B-12E6-02AA-4EB0-1E3EFA2D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93ABEA99-CB9F-9C75-F3A7-A14AA0053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F2E96F00-D2B9-EC7A-2EFE-A725230AF555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13CDC9A-93F4-5D8E-B57C-76953F8987AE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09D99CDC-FA7F-056D-867C-63E270053F58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12BE616-AB8C-C63D-E67E-1319EDD5B7A5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6BE2E863-54CC-6649-D846-10846B365A33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42286BA3-9C8C-0E8A-E495-953E1F4D410F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DD5515-74F1-C656-E751-026535EFE7AF}"/>
              </a:ext>
            </a:extLst>
          </p:cNvPr>
          <p:cNvSpPr/>
          <p:nvPr/>
        </p:nvSpPr>
        <p:spPr>
          <a:xfrm rot="5400000">
            <a:off x="4649146" y="5357124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82C154A9-65A4-2E69-8E89-8BEC36EDFF1F}"/>
              </a:ext>
            </a:extLst>
          </p:cNvPr>
          <p:cNvSpPr/>
          <p:nvPr/>
        </p:nvSpPr>
        <p:spPr>
          <a:xfrm rot="5400000">
            <a:off x="4678750" y="561239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FC03296-3E82-4D7A-2F32-A43DBB526672}"/>
              </a:ext>
            </a:extLst>
          </p:cNvPr>
          <p:cNvSpPr/>
          <p:nvPr/>
        </p:nvSpPr>
        <p:spPr>
          <a:xfrm rot="5400000">
            <a:off x="4196113" y="6095597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8578B62-5B9A-C5D0-FA7B-EB533E55B36C}"/>
              </a:ext>
            </a:extLst>
          </p:cNvPr>
          <p:cNvSpPr txBox="1"/>
          <p:nvPr/>
        </p:nvSpPr>
        <p:spPr>
          <a:xfrm>
            <a:off x="355355" y="1519925"/>
            <a:ext cx="4097532" cy="4442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3200" dirty="0">
                <a:latin typeface="Roboto Light"/>
                <a:cs typeface="Arial" panose="020B0604020202020204" pitchFamily="34" charset="0"/>
              </a:rPr>
              <a:t>La buena disposición, simpatía, amabilidad, cordialidad y autocontrol son esenciales en el proceso.</a:t>
            </a:r>
            <a:endParaRPr lang="es-CO" sz="3200" dirty="0"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FC6CC50-397D-A15E-4409-E91E5211CC0D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Disposición y Actitud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2" descr="Cómo mantener una actitud positiva en el trabajo">
            <a:extLst>
              <a:ext uri="{FF2B5EF4-FFF2-40B4-BE49-F238E27FC236}">
                <a16:creationId xmlns:a16="http://schemas.microsoft.com/office/drawing/2014/main" id="{97047F94-ECC6-FACB-12A7-3F12DD5C4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1521" y="1603044"/>
            <a:ext cx="5097242" cy="427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51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A17E99-3CA5-AA7D-6A5B-84EC0647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0A3A31D2-8F44-9214-C36B-16C4A0D17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05" name="Google Shape;452;p5">
            <a:extLst>
              <a:ext uri="{FF2B5EF4-FFF2-40B4-BE49-F238E27FC236}">
                <a16:creationId xmlns:a16="http://schemas.microsoft.com/office/drawing/2014/main" id="{9FBDF88B-43B9-B1F8-C3B6-B4399978ACE0}"/>
              </a:ext>
            </a:extLst>
          </p:cNvPr>
          <p:cNvSpPr txBox="1"/>
          <p:nvPr/>
        </p:nvSpPr>
        <p:spPr>
          <a:xfrm>
            <a:off x="6743272" y="118287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DFE40A39-09C6-C1A6-E58C-EBCCA51E88C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803E0A97-461C-719E-0976-86AB72E18B15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0EDA881-0FF8-93BF-2DF0-DB1C366459AD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EF16099-9903-24EC-81B3-136FCACE54F1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6DA9F69-0DC1-F9C1-66B0-EB9DFDD6527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9BE17024-BA15-0085-B63A-0E4681346987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4319E07C-0F5A-3FBE-5562-AEFF8F3078C2}"/>
              </a:ext>
            </a:extLst>
          </p:cNvPr>
          <p:cNvSpPr/>
          <p:nvPr/>
        </p:nvSpPr>
        <p:spPr>
          <a:xfrm rot="5400000">
            <a:off x="4649146" y="5438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7F479CE9-C6B2-4A3E-D9E8-1F4A4B1F9E93}"/>
              </a:ext>
            </a:extLst>
          </p:cNvPr>
          <p:cNvSpPr/>
          <p:nvPr/>
        </p:nvSpPr>
        <p:spPr>
          <a:xfrm rot="5400000">
            <a:off x="4678772" y="56776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346739D-C228-E6E8-4249-E42DB88E2F14}"/>
              </a:ext>
            </a:extLst>
          </p:cNvPr>
          <p:cNvSpPr/>
          <p:nvPr/>
        </p:nvSpPr>
        <p:spPr>
          <a:xfrm rot="5400000">
            <a:off x="4196113" y="6144585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91C8F9-1F19-0336-EFD3-2DD3CF6D0DB0}"/>
              </a:ext>
            </a:extLst>
          </p:cNvPr>
          <p:cNvSpPr txBox="1"/>
          <p:nvPr/>
        </p:nvSpPr>
        <p:spPr>
          <a:xfrm>
            <a:off x="1166866" y="381682"/>
            <a:ext cx="87117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Respeto y Confianza</a:t>
            </a:r>
            <a:endParaRPr lang="es-CO" sz="4000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6" name="Picture 2" descr="7 claves para ganar más respeto">
            <a:extLst>
              <a:ext uri="{FF2B5EF4-FFF2-40B4-BE49-F238E27FC236}">
                <a16:creationId xmlns:a16="http://schemas.microsoft.com/office/drawing/2014/main" id="{D83C8CEB-839B-C96E-00F8-C56D0647C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556" y="1966585"/>
            <a:ext cx="4399007" cy="301877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1AAD375-C678-CE56-44DF-D4D60AC2B381}"/>
              </a:ext>
            </a:extLst>
          </p:cNvPr>
          <p:cNvSpPr txBox="1"/>
          <p:nvPr/>
        </p:nvSpPr>
        <p:spPr>
          <a:xfrm>
            <a:off x="5975125" y="1487318"/>
            <a:ext cx="4500847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MX" sz="2800" dirty="0">
                <a:latin typeface="Roboto Light"/>
                <a:cs typeface="Arial" panose="020B0604020202020204" pitchFamily="34" charset="0"/>
              </a:rPr>
              <a:t>El respeto incrementa la credibilidad, fomenta la confianza de los compañeros, facilita la rápida solución de problemas, genera la productividad y es la base de la sana convivencia.</a:t>
            </a:r>
          </a:p>
        </p:txBody>
      </p:sp>
    </p:spTree>
    <p:extLst>
      <p:ext uri="{BB962C8B-B14F-4D97-AF65-F5344CB8AC3E}">
        <p14:creationId xmlns:p14="http://schemas.microsoft.com/office/powerpoint/2010/main" val="3414198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50B68-F721-A998-81E4-C84B71329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">
            <a:extLst>
              <a:ext uri="{FF2B5EF4-FFF2-40B4-BE49-F238E27FC236}">
                <a16:creationId xmlns:a16="http://schemas.microsoft.com/office/drawing/2014/main" id="{975967A7-9D77-B57F-EE4C-989BA670B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3001D54D-6B44-7637-9DFA-2A7546CEA548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2467CE0A-DD84-9360-0EE1-E480176ED29D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662FB381-90EC-B4D9-317B-34A12E719A67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F964E922-5878-2D31-F088-70A2EAB86659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DF101319-E883-BCC6-5526-EFF8BBDBC755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80D46F38-DD04-4E0B-1EEC-59071C2BA35E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DC652E60-B1DD-77F0-1A03-99C596B2E687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F9F1CB6F-98FB-4495-2DED-32A7BB725AF8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7B86F84D-70E1-7D1C-6149-39E3370082F4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0A3D3A2-4882-F8E3-B016-4ACE8E408435}"/>
              </a:ext>
            </a:extLst>
          </p:cNvPr>
          <p:cNvSpPr txBox="1"/>
          <p:nvPr/>
        </p:nvSpPr>
        <p:spPr>
          <a:xfrm>
            <a:off x="305422" y="1646198"/>
            <a:ext cx="45272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200" dirty="0">
                <a:latin typeface="Roboto Light"/>
                <a:cs typeface="Arial" panose="020B0604020202020204" pitchFamily="34" charset="0"/>
              </a:rPr>
              <a:t>El trabajo en equipo fomenta cumplimiento de objetivos, integra la participación, proactividad y fortalecimiento de las habilidades y destrezas en el desarrollo de la etapa practica.</a:t>
            </a:r>
          </a:p>
          <a:p>
            <a:pPr algn="just"/>
            <a:endParaRPr lang="es-CO" sz="2400" b="1" dirty="0">
              <a:solidFill>
                <a:schemeClr val="tx1">
                  <a:lumMod val="65000"/>
                  <a:lumOff val="35000"/>
                </a:schemeClr>
              </a:solidFill>
              <a:latin typeface="Roboto Light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2AD8CC-C3A0-AAF6-DE1D-F403C17029E5}"/>
              </a:ext>
            </a:extLst>
          </p:cNvPr>
          <p:cNvSpPr txBox="1"/>
          <p:nvPr/>
        </p:nvSpPr>
        <p:spPr>
          <a:xfrm>
            <a:off x="2569064" y="386625"/>
            <a:ext cx="69068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Trabajo en Equipo</a:t>
            </a:r>
            <a:endParaRPr lang="es-CO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4" descr="Los miembros del equipo stock de ilustración">
            <a:extLst>
              <a:ext uri="{FF2B5EF4-FFF2-40B4-BE49-F238E27FC236}">
                <a16:creationId xmlns:a16="http://schemas.microsoft.com/office/drawing/2014/main" id="{084BA176-1A27-19C1-4E90-4808DE8F6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677" y="2101516"/>
            <a:ext cx="4626584" cy="334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4361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DD66F-E5AE-37D8-6981-D4AF23DE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76441E51-FB04-5EDE-6526-3DDD5BE40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965F3C11-E8CA-B2C3-E005-3C17E397092F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D11735D1-A162-5D9E-72B9-64C7244F4717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B8C5CCF1-A64A-124D-ABB5-EF54E40612A1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B0251C1D-B3B4-52B7-5578-33DC17AB6A4C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0B127225-2578-5B3F-A717-AAC81FA8FD92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3E0F1954-7943-A682-FE50-B4C5FE89A421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FC3D5093-796A-4532-EFE4-EBB18250E5FA}"/>
              </a:ext>
            </a:extLst>
          </p:cNvPr>
          <p:cNvSpPr/>
          <p:nvPr/>
        </p:nvSpPr>
        <p:spPr>
          <a:xfrm rot="5400000">
            <a:off x="4765946" y="5083237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1C319AD0-0E89-779B-D423-FA1AA9A6119E}"/>
              </a:ext>
            </a:extLst>
          </p:cNvPr>
          <p:cNvSpPr/>
          <p:nvPr/>
        </p:nvSpPr>
        <p:spPr>
          <a:xfrm rot="5400000">
            <a:off x="4814747" y="5395134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38A6E756-958A-CBCF-9078-A0F7F204A7DB}"/>
              </a:ext>
            </a:extLst>
          </p:cNvPr>
          <p:cNvSpPr/>
          <p:nvPr/>
        </p:nvSpPr>
        <p:spPr>
          <a:xfrm rot="5400000">
            <a:off x="4308365" y="5921203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A90A6B2-3F19-2C20-69FA-A264A6E04884}"/>
              </a:ext>
            </a:extLst>
          </p:cNvPr>
          <p:cNvSpPr txBox="1"/>
          <p:nvPr/>
        </p:nvSpPr>
        <p:spPr>
          <a:xfrm>
            <a:off x="747242" y="1673161"/>
            <a:ext cx="47772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2400" b="1" dirty="0">
                <a:latin typeface="Roboto Light"/>
                <a:cs typeface="Arial" panose="020B0604020202020204" pitchFamily="34" charset="0"/>
              </a:rPr>
              <a:t>El seguimiento a la etapa productiva es obligatorio y se realizará de manera virtual y presencial, una vez cumplida la fase de etapa lectiva. </a:t>
            </a:r>
          </a:p>
          <a:p>
            <a:pPr algn="just"/>
            <a:endParaRPr lang="es-MX" sz="2400" b="1" dirty="0">
              <a:latin typeface="Roboto Light"/>
              <a:cs typeface="Arial" panose="020B0604020202020204" pitchFamily="34" charset="0"/>
            </a:endParaRPr>
          </a:p>
          <a:p>
            <a:pPr algn="just"/>
            <a:r>
              <a:rPr lang="es-MX" sz="2400" b="1" dirty="0">
                <a:latin typeface="Roboto Light"/>
                <a:cs typeface="Arial" panose="020B0604020202020204" pitchFamily="34" charset="0"/>
              </a:rPr>
              <a:t>Finalizada la etapa practica para el trámite del título académico, se exigen las evidencias del proceso.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BE0663-0B32-ADF6-4BFB-4DBCDCCE5259}"/>
              </a:ext>
            </a:extLst>
          </p:cNvPr>
          <p:cNvSpPr txBox="1"/>
          <p:nvPr/>
        </p:nvSpPr>
        <p:spPr>
          <a:xfrm>
            <a:off x="2549714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(1)</a:t>
            </a:r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8758B545-F712-AFF5-A1A6-6F09D94148A2}"/>
              </a:ext>
            </a:extLst>
          </p:cNvPr>
          <p:cNvSpPr/>
          <p:nvPr/>
        </p:nvSpPr>
        <p:spPr>
          <a:xfrm>
            <a:off x="6250402" y="1722589"/>
            <a:ext cx="2022228" cy="1708160"/>
          </a:xfrm>
          <a:prstGeom prst="hexagon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 dirty="0"/>
              <a:t>Bitácoras</a:t>
            </a:r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6E11D804-3B8E-300F-9309-E5DD4625BFA0}"/>
              </a:ext>
            </a:extLst>
          </p:cNvPr>
          <p:cNvSpPr/>
          <p:nvPr/>
        </p:nvSpPr>
        <p:spPr>
          <a:xfrm>
            <a:off x="8546146" y="1617774"/>
            <a:ext cx="1993517" cy="1708160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CO" sz="2000" b="1" dirty="0"/>
              <a:t>Lista asistencia Visita</a:t>
            </a:r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744827EA-8627-9440-6364-C32D3AF1796C}"/>
              </a:ext>
            </a:extLst>
          </p:cNvPr>
          <p:cNvSpPr/>
          <p:nvPr/>
        </p:nvSpPr>
        <p:spPr>
          <a:xfrm>
            <a:off x="6176210" y="3767958"/>
            <a:ext cx="2051220" cy="1708160"/>
          </a:xfrm>
          <a:prstGeom prst="hexagon">
            <a:avLst/>
          </a:prstGeom>
          <a:solidFill>
            <a:srgbClr val="33CC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300" b="1" dirty="0"/>
              <a:t>Formatos F023</a:t>
            </a:r>
          </a:p>
        </p:txBody>
      </p:sp>
      <p:sp>
        <p:nvSpPr>
          <p:cNvPr id="10" name="Hexágono 9">
            <a:extLst>
              <a:ext uri="{FF2B5EF4-FFF2-40B4-BE49-F238E27FC236}">
                <a16:creationId xmlns:a16="http://schemas.microsoft.com/office/drawing/2014/main" id="{D8B79ED1-F857-E14E-B386-A6C3CF9BEB86}"/>
              </a:ext>
            </a:extLst>
          </p:cNvPr>
          <p:cNvSpPr/>
          <p:nvPr/>
        </p:nvSpPr>
        <p:spPr>
          <a:xfrm>
            <a:off x="8432126" y="3800637"/>
            <a:ext cx="2107537" cy="1708160"/>
          </a:xfrm>
          <a:prstGeom prst="hexagon">
            <a:avLst/>
          </a:prstGeom>
          <a:solidFill>
            <a:srgbClr val="38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A0D8F9B-A4A3-4340-0CBC-08FAB4492630}"/>
              </a:ext>
            </a:extLst>
          </p:cNvPr>
          <p:cNvSpPr txBox="1"/>
          <p:nvPr/>
        </p:nvSpPr>
        <p:spPr>
          <a:xfrm>
            <a:off x="8733415" y="3936353"/>
            <a:ext cx="16879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>
                <a:solidFill>
                  <a:schemeClr val="bg1"/>
                </a:solidFill>
              </a:rPr>
              <a:t>Plataforma Zajuna o correo electrónico</a:t>
            </a:r>
          </a:p>
        </p:txBody>
      </p:sp>
    </p:spTree>
    <p:extLst>
      <p:ext uri="{BB962C8B-B14F-4D97-AF65-F5344CB8AC3E}">
        <p14:creationId xmlns:p14="http://schemas.microsoft.com/office/powerpoint/2010/main" val="4267184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1A4D2-6B4B-4F9D-0860-5EBBC5B8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11D33CB7-6BF8-6FE6-4072-355870760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sp>
        <p:nvSpPr>
          <p:cNvPr id="206" name="Google Shape;452;p5">
            <a:extLst>
              <a:ext uri="{FF2B5EF4-FFF2-40B4-BE49-F238E27FC236}">
                <a16:creationId xmlns:a16="http://schemas.microsoft.com/office/drawing/2014/main" id="{7A78C4D1-BE7B-9415-F299-95A49F089403}"/>
              </a:ext>
            </a:extLst>
          </p:cNvPr>
          <p:cNvSpPr txBox="1"/>
          <p:nvPr/>
        </p:nvSpPr>
        <p:spPr>
          <a:xfrm>
            <a:off x="6813207" y="2276565"/>
            <a:ext cx="3546195" cy="742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Soporte de Cámara de Comercio y RUT de la Empresa </a:t>
            </a:r>
            <a:r>
              <a:rPr lang="es-ES" sz="1600" b="0" i="0" u="sng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únicamente para pasantía y  Apoyo a una unidad Productiva Familiar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endParaRPr lang="es-ES" sz="1100" b="0" i="0" u="none" strike="noStrike" cap="none" dirty="0">
              <a:solidFill>
                <a:schemeClr val="bg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08" name="CuadroTexto 207">
            <a:extLst>
              <a:ext uri="{FF2B5EF4-FFF2-40B4-BE49-F238E27FC236}">
                <a16:creationId xmlns:a16="http://schemas.microsoft.com/office/drawing/2014/main" id="{6758986E-1A60-B7B9-AB61-E232D903858A}"/>
              </a:ext>
            </a:extLst>
          </p:cNvPr>
          <p:cNvSpPr txBox="1"/>
          <p:nvPr/>
        </p:nvSpPr>
        <p:spPr>
          <a:xfrm>
            <a:off x="6813770" y="3560981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54" name="Google Shape;452;p5">
            <a:extLst>
              <a:ext uri="{FF2B5EF4-FFF2-40B4-BE49-F238E27FC236}">
                <a16:creationId xmlns:a16="http://schemas.microsoft.com/office/drawing/2014/main" id="{83BE5F81-39CE-92A5-A2F2-FE819A50DF73}"/>
              </a:ext>
            </a:extLst>
          </p:cNvPr>
          <p:cNvSpPr txBox="1"/>
          <p:nvPr/>
        </p:nvSpPr>
        <p:spPr>
          <a:xfrm>
            <a:off x="6842564" y="14937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AF7CBD7-F02C-54E2-1F73-D1DF7EF8B144}"/>
              </a:ext>
            </a:extLst>
          </p:cNvPr>
          <p:cNvSpPr txBox="1"/>
          <p:nvPr/>
        </p:nvSpPr>
        <p:spPr>
          <a:xfrm>
            <a:off x="6743272" y="27400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45" name="Google Shape;452;p5">
            <a:extLst>
              <a:ext uri="{FF2B5EF4-FFF2-40B4-BE49-F238E27FC236}">
                <a16:creationId xmlns:a16="http://schemas.microsoft.com/office/drawing/2014/main" id="{F0DD8797-68F9-BC10-7086-E35C784DCDD7}"/>
              </a:ext>
            </a:extLst>
          </p:cNvPr>
          <p:cNvSpPr txBox="1"/>
          <p:nvPr/>
        </p:nvSpPr>
        <p:spPr>
          <a:xfrm>
            <a:off x="6994964" y="1646198"/>
            <a:ext cx="3367750" cy="60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Light"/>
              <a:buNone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C</a:t>
            </a:r>
            <a:r>
              <a:rPr lang="es-ES" sz="1600" b="0" i="0" u="none" strike="noStrike" cap="none" dirty="0">
                <a:solidFill>
                  <a:schemeClr val="bg1"/>
                </a:solidFill>
                <a:latin typeface="Roboto Light"/>
                <a:ea typeface="Roboto Light"/>
                <a:cs typeface="Roboto Light"/>
                <a:sym typeface="Roboto Light"/>
              </a:rPr>
              <a:t>arta de solicitud de ejecución etapa productiva (modelo establecido BLOG CSF)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C6B145F7-36D5-0E05-DF3A-6199989B1F04}"/>
              </a:ext>
            </a:extLst>
          </p:cNvPr>
          <p:cNvSpPr txBox="1"/>
          <p:nvPr/>
        </p:nvSpPr>
        <p:spPr>
          <a:xfrm>
            <a:off x="6895672" y="2892475"/>
            <a:ext cx="298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s-ES" sz="1600" dirty="0">
                <a:solidFill>
                  <a:schemeClr val="bg1"/>
                </a:solidFill>
                <a:latin typeface="Roboto Light"/>
                <a:ea typeface="Roboto Light"/>
                <a:sym typeface="Roboto Light"/>
              </a:rPr>
              <a:t>Formato de verificación de alternativa etapa productiva coordinación académica</a:t>
            </a:r>
            <a:endParaRPr lang="es-ES" sz="1600" dirty="0">
              <a:solidFill>
                <a:schemeClr val="bg1"/>
              </a:solidFill>
              <a:latin typeface="Roboto Light"/>
              <a:ea typeface="Roboto Light"/>
            </a:endParaRPr>
          </a:p>
        </p:txBody>
      </p:sp>
      <p:sp>
        <p:nvSpPr>
          <p:cNvPr id="2" name="Google Shape;2519;p81">
            <a:extLst>
              <a:ext uri="{FF2B5EF4-FFF2-40B4-BE49-F238E27FC236}">
                <a16:creationId xmlns:a16="http://schemas.microsoft.com/office/drawing/2014/main" id="{9B2BD5C3-DAD0-839A-6D70-94B1F3B1C6C6}"/>
              </a:ext>
            </a:extLst>
          </p:cNvPr>
          <p:cNvSpPr/>
          <p:nvPr/>
        </p:nvSpPr>
        <p:spPr>
          <a:xfrm rot="5400000">
            <a:off x="4363089" y="5802770"/>
            <a:ext cx="412206" cy="599333"/>
          </a:xfrm>
          <a:custGeom>
            <a:avLst/>
            <a:gdLst/>
            <a:ahLst/>
            <a:cxnLst/>
            <a:rect l="l" t="t" r="r" b="b"/>
            <a:pathLst>
              <a:path w="17420" h="31243" extrusionOk="0">
                <a:moveTo>
                  <a:pt x="3155" y="1"/>
                </a:moveTo>
                <a:lnTo>
                  <a:pt x="3155" y="1"/>
                </a:lnTo>
                <a:cubicBezTo>
                  <a:pt x="3524" y="5430"/>
                  <a:pt x="0" y="9085"/>
                  <a:pt x="2060" y="14634"/>
                </a:cubicBezTo>
                <a:cubicBezTo>
                  <a:pt x="2941" y="17003"/>
                  <a:pt x="3572" y="19289"/>
                  <a:pt x="4060" y="21777"/>
                </a:cubicBezTo>
                <a:cubicBezTo>
                  <a:pt x="4656" y="24778"/>
                  <a:pt x="6382" y="25826"/>
                  <a:pt x="8787" y="27385"/>
                </a:cubicBezTo>
                <a:cubicBezTo>
                  <a:pt x="10799" y="28707"/>
                  <a:pt x="12966" y="30278"/>
                  <a:pt x="15335" y="31243"/>
                </a:cubicBezTo>
                <a:cubicBezTo>
                  <a:pt x="13204" y="24980"/>
                  <a:pt x="17419" y="19099"/>
                  <a:pt x="14728" y="13110"/>
                </a:cubicBezTo>
                <a:cubicBezTo>
                  <a:pt x="13728" y="10895"/>
                  <a:pt x="11764" y="8883"/>
                  <a:pt x="9882" y="7252"/>
                </a:cubicBezTo>
                <a:cubicBezTo>
                  <a:pt x="7108" y="4835"/>
                  <a:pt x="5179" y="3085"/>
                  <a:pt x="3155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Google Shape;2520;p81">
            <a:extLst>
              <a:ext uri="{FF2B5EF4-FFF2-40B4-BE49-F238E27FC236}">
                <a16:creationId xmlns:a16="http://schemas.microsoft.com/office/drawing/2014/main" id="{6D9DE700-BF3A-2476-FCA3-522FA46D22F3}"/>
              </a:ext>
            </a:extLst>
          </p:cNvPr>
          <p:cNvSpPr/>
          <p:nvPr/>
        </p:nvSpPr>
        <p:spPr>
          <a:xfrm rot="5400000">
            <a:off x="4392716" y="5872932"/>
            <a:ext cx="586601" cy="832981"/>
          </a:xfrm>
          <a:custGeom>
            <a:avLst/>
            <a:gdLst/>
            <a:ahLst/>
            <a:cxnLst/>
            <a:rect l="l" t="t" r="r" b="b"/>
            <a:pathLst>
              <a:path w="24790" h="43423" extrusionOk="0">
                <a:moveTo>
                  <a:pt x="17229" y="1"/>
                </a:moveTo>
                <a:cubicBezTo>
                  <a:pt x="16943" y="1275"/>
                  <a:pt x="15324" y="2430"/>
                  <a:pt x="14252" y="3668"/>
                </a:cubicBezTo>
                <a:cubicBezTo>
                  <a:pt x="12026" y="6228"/>
                  <a:pt x="10978" y="8561"/>
                  <a:pt x="11014" y="12014"/>
                </a:cubicBezTo>
                <a:cubicBezTo>
                  <a:pt x="11073" y="16539"/>
                  <a:pt x="13062" y="20384"/>
                  <a:pt x="11811" y="24861"/>
                </a:cubicBezTo>
                <a:cubicBezTo>
                  <a:pt x="10383" y="30005"/>
                  <a:pt x="0" y="37494"/>
                  <a:pt x="5239" y="43423"/>
                </a:cubicBezTo>
                <a:cubicBezTo>
                  <a:pt x="8180" y="43066"/>
                  <a:pt x="10954" y="41458"/>
                  <a:pt x="13562" y="40089"/>
                </a:cubicBezTo>
                <a:cubicBezTo>
                  <a:pt x="17205" y="38196"/>
                  <a:pt x="18324" y="36660"/>
                  <a:pt x="18134" y="32493"/>
                </a:cubicBezTo>
                <a:cubicBezTo>
                  <a:pt x="17943" y="28195"/>
                  <a:pt x="19455" y="25933"/>
                  <a:pt x="21194" y="22063"/>
                </a:cubicBezTo>
                <a:cubicBezTo>
                  <a:pt x="24789" y="14110"/>
                  <a:pt x="16538" y="7740"/>
                  <a:pt x="17229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2521;p81">
            <a:extLst>
              <a:ext uri="{FF2B5EF4-FFF2-40B4-BE49-F238E27FC236}">
                <a16:creationId xmlns:a16="http://schemas.microsoft.com/office/drawing/2014/main" id="{F5B4A82A-F638-FD61-95D8-BB6FF1B676BA}"/>
              </a:ext>
            </a:extLst>
          </p:cNvPr>
          <p:cNvSpPr/>
          <p:nvPr/>
        </p:nvSpPr>
        <p:spPr>
          <a:xfrm rot="5400000">
            <a:off x="4002067" y="6310468"/>
            <a:ext cx="728033" cy="294938"/>
          </a:xfrm>
          <a:custGeom>
            <a:avLst/>
            <a:gdLst/>
            <a:ahLst/>
            <a:cxnLst/>
            <a:rect l="l" t="t" r="r" b="b"/>
            <a:pathLst>
              <a:path w="30767" h="15375" extrusionOk="0">
                <a:moveTo>
                  <a:pt x="30767" y="1"/>
                </a:moveTo>
                <a:lnTo>
                  <a:pt x="30767" y="1"/>
                </a:lnTo>
                <a:cubicBezTo>
                  <a:pt x="26516" y="715"/>
                  <a:pt x="21778" y="37"/>
                  <a:pt x="18456" y="3489"/>
                </a:cubicBezTo>
                <a:cubicBezTo>
                  <a:pt x="17444" y="4549"/>
                  <a:pt x="16896" y="5716"/>
                  <a:pt x="15515" y="6406"/>
                </a:cubicBezTo>
                <a:cubicBezTo>
                  <a:pt x="14146" y="7109"/>
                  <a:pt x="12264" y="7514"/>
                  <a:pt x="10764" y="7704"/>
                </a:cubicBezTo>
                <a:cubicBezTo>
                  <a:pt x="7966" y="8073"/>
                  <a:pt x="1" y="7109"/>
                  <a:pt x="180" y="11907"/>
                </a:cubicBezTo>
                <a:cubicBezTo>
                  <a:pt x="1418" y="12872"/>
                  <a:pt x="3490" y="13479"/>
                  <a:pt x="5002" y="14026"/>
                </a:cubicBezTo>
                <a:cubicBezTo>
                  <a:pt x="7336" y="14888"/>
                  <a:pt x="9827" y="15374"/>
                  <a:pt x="12306" y="15374"/>
                </a:cubicBezTo>
                <a:cubicBezTo>
                  <a:pt x="15036" y="15374"/>
                  <a:pt x="17752" y="14784"/>
                  <a:pt x="20230" y="13455"/>
                </a:cubicBezTo>
                <a:cubicBezTo>
                  <a:pt x="25802" y="10455"/>
                  <a:pt x="27647" y="5025"/>
                  <a:pt x="30767" y="1"/>
                </a:cubicBezTo>
                <a:close/>
              </a:path>
            </a:pathLst>
          </a:custGeom>
          <a:solidFill>
            <a:srgbClr val="38AA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1977F39-F05E-9083-1932-5C5CD67A085A}"/>
              </a:ext>
            </a:extLst>
          </p:cNvPr>
          <p:cNvSpPr txBox="1"/>
          <p:nvPr/>
        </p:nvSpPr>
        <p:spPr>
          <a:xfrm>
            <a:off x="3351577" y="1697689"/>
            <a:ext cx="74758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latin typeface="Roboto Light"/>
                <a:cs typeface="Arial" panose="020B0604020202020204" pitchFamily="34" charset="0"/>
              </a:rPr>
              <a:t>Recuerde que no esta permitido renunciar unilateralmente al Contrato de Aprendizaje.</a:t>
            </a:r>
          </a:p>
          <a:p>
            <a:pPr algn="just"/>
            <a:endParaRPr lang="es-MX" sz="2400" b="1" dirty="0"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latin typeface="Roboto Light"/>
                <a:cs typeface="Arial" panose="020B0604020202020204" pitchFamily="34" charset="0"/>
              </a:rPr>
              <a:t>Antes de tomar alguna decisión consulte con las personas encargadas.</a:t>
            </a:r>
          </a:p>
          <a:p>
            <a:pPr algn="just"/>
            <a:endParaRPr lang="es-MX" sz="2400" b="1" dirty="0"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latin typeface="Roboto Light"/>
                <a:cs typeface="Arial" panose="020B0604020202020204" pitchFamily="34" charset="0"/>
              </a:rPr>
              <a:t>Recuerde que con tres fallas consecutivas sin justa causa, se cancela el registro de matricula.</a:t>
            </a:r>
          </a:p>
          <a:p>
            <a:pPr algn="just"/>
            <a:endParaRPr lang="es-MX" sz="2400" b="1" dirty="0">
              <a:latin typeface="Roboto Light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s-MX" sz="2400" b="1" dirty="0">
                <a:latin typeface="Roboto Light"/>
                <a:cs typeface="Arial" panose="020B0604020202020204" pitchFamily="34" charset="0"/>
              </a:rPr>
              <a:t>El Reglamento del Aprendiz Acuerdo 007 de 2012- Acuerdo 009 de 2024 en  el Blog CSF, consulta continua.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3B992C-BCAF-0210-C416-A9C5121FC1E1}"/>
              </a:ext>
            </a:extLst>
          </p:cNvPr>
          <p:cNvSpPr txBox="1"/>
          <p:nvPr/>
        </p:nvSpPr>
        <p:spPr>
          <a:xfrm>
            <a:off x="3501187" y="381682"/>
            <a:ext cx="609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Seguimiento a la Etapa Practica </a:t>
            </a:r>
            <a:r>
              <a:rPr lang="es-E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 Condensed" panose="020B0502040204020203" pitchFamily="34" charset="0"/>
              </a:rPr>
              <a:t>(2)</a:t>
            </a:r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 Condensed" panose="020B0502040204020203" pitchFamily="34" charset="0"/>
            </a:endParaRPr>
          </a:p>
        </p:txBody>
      </p:sp>
      <p:pic>
        <p:nvPicPr>
          <p:cNvPr id="7" name="Picture 12" descr="Imágenes de Lista 3d - Descarga gratuita en Freepik">
            <a:extLst>
              <a:ext uri="{FF2B5EF4-FFF2-40B4-BE49-F238E27FC236}">
                <a16:creationId xmlns:a16="http://schemas.microsoft.com/office/drawing/2014/main" id="{668CF0C0-53F8-52C9-AC00-A373D5E75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954" y="1932506"/>
            <a:ext cx="2665884" cy="358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0904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41dd0a9e-964d-48c8-9389-7445c2a187f7" xsi:nil="true"/>
    <lcf76f155ced4ddcb4097134ff3c332f xmlns="edbb1c21-1b45-407e-8894-c97732534993">
      <Terms xmlns="http://schemas.microsoft.com/office/infopath/2007/PartnerControls"/>
    </lcf76f155ced4ddcb4097134ff3c332f>
    <_Flow_SignoffStatus xmlns="edbb1c21-1b45-407e-8894-c97732534993" xsi:nil="true"/>
    <_ip_UnifiedCompliancePolicyProperties xmlns="http://schemas.microsoft.com/sharepoint/v3" xsi:nil="true"/>
    <FechayHora xmlns="edbb1c21-1b45-407e-8894-c97732534993" xsi:nil="true"/>
    <_x0031_010005470 xmlns="edbb1c21-1b45-407e-8894-c97732534993">
      <UserInfo>
        <DisplayName/>
        <AccountId xsi:nil="true"/>
        <AccountType/>
      </UserInfo>
    </_x0031_010005470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0239B14884FBB46AB47CE62E6B5D997" ma:contentTypeVersion="24" ma:contentTypeDescription="Crear nuevo documento." ma:contentTypeScope="" ma:versionID="b6ab89fea7834a800ef4aa7b4dcf2bfc">
  <xsd:schema xmlns:xsd="http://www.w3.org/2001/XMLSchema" xmlns:xs="http://www.w3.org/2001/XMLSchema" xmlns:p="http://schemas.microsoft.com/office/2006/metadata/properties" xmlns:ns1="http://schemas.microsoft.com/sharepoint/v3" xmlns:ns2="edbb1c21-1b45-407e-8894-c97732534993" xmlns:ns3="41dd0a9e-964d-48c8-9389-7445c2a187f7" targetNamespace="http://schemas.microsoft.com/office/2006/metadata/properties" ma:root="true" ma:fieldsID="a5276f219cdfe425c8736ddd53308c8b" ns1:_="" ns2:_="" ns3:_="">
    <xsd:import namespace="http://schemas.microsoft.com/sharepoint/v3"/>
    <xsd:import namespace="edbb1c21-1b45-407e-8894-c97732534993"/>
    <xsd:import namespace="41dd0a9e-964d-48c8-9389-7445c2a187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_Flow_SignoffStatus" minOccurs="0"/>
                <xsd:element ref="ns2:FechayHora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  <xsd:element ref="ns2:_x0031_01000547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bb1c21-1b45-407e-8894-c977325349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_Flow_SignoffStatus" ma:index="20" nillable="true" ma:displayName="Estado de aprobación" ma:internalName="Estado_x0020_de_x0020_aprobaci_x00f3_n">
      <xsd:simpleType>
        <xsd:restriction base="dms:Text"/>
      </xsd:simpleType>
    </xsd:element>
    <xsd:element name="FechayHora" ma:index="21" nillable="true" ma:displayName="Fecha y Hora" ma:description="Fecha y Hora" ma:format="DateTime" ma:internalName="FechayHora">
      <xsd:simpleType>
        <xsd:restriction base="dms:DateTime"/>
      </xsd:simpleType>
    </xsd:element>
    <xsd:element name="lcf76f155ced4ddcb4097134ff3c332f" ma:index="23" nillable="true" ma:taxonomy="true" ma:internalName="lcf76f155ced4ddcb4097134ff3c332f" ma:taxonomyFieldName="MediaServiceImageTags" ma:displayName="Etiquetas de imagen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0031_010005470" ma:index="31" nillable="true" ma:displayName="1010005470" ma:format="Dropdown" ma:list="UserInfo" ma:SharePointGroup="0" ma:internalName="_x0031_010005470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d0a9e-964d-48c8-9389-7445c2a187f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f955bbf-853c-4bfd-87ed-1b9a3029639f}" ma:internalName="TaxCatchAll" ma:showField="CatchAllData" ma:web="41dd0a9e-964d-48c8-9389-7445c2a187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3B763EB-6EA6-4482-8FD4-5691A680E0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860E70-C8B7-4B0D-92E7-A0C804F08688}">
  <ds:schemaRefs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edbb1c21-1b45-407e-8894-c97732534993"/>
    <ds:schemaRef ds:uri="http://purl.org/dc/dcmitype/"/>
    <ds:schemaRef ds:uri="http://purl.org/dc/elements/1.1/"/>
    <ds:schemaRef ds:uri="41dd0a9e-964d-48c8-9389-7445c2a187f7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911BD68-228B-419D-A219-07AAD2898EB1}"/>
</file>

<file path=docProps/app.xml><?xml version="1.0" encoding="utf-8"?>
<Properties xmlns="http://schemas.openxmlformats.org/officeDocument/2006/extended-properties" xmlns:vt="http://schemas.openxmlformats.org/officeDocument/2006/docPropsVTypes">
  <TotalTime>4069</TotalTime>
  <Words>1135</Words>
  <Application>Microsoft Office PowerPoint</Application>
  <PresentationFormat>Panorámica</PresentationFormat>
  <Paragraphs>111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6" baseType="lpstr">
      <vt:lpstr>Arial</vt:lpstr>
      <vt:lpstr>Bahnschrift SemiLight Condensed</vt:lpstr>
      <vt:lpstr>Calibri</vt:lpstr>
      <vt:lpstr>Calibri Light</vt:lpstr>
      <vt:lpstr>Roboto Light</vt:lpstr>
      <vt:lpstr>Wingdings</vt:lpstr>
      <vt:lpstr>Work Sans</vt:lpstr>
      <vt:lpstr>Work Sans Bold Roman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etapaproductivacsf</cp:lastModifiedBy>
  <cp:revision>85</cp:revision>
  <dcterms:created xsi:type="dcterms:W3CDTF">2020-10-01T23:51:28Z</dcterms:created>
  <dcterms:modified xsi:type="dcterms:W3CDTF">2025-10-16T20:21:51Z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0x01010080239B14884FBB46AB47CE62E6B5D997</vt:lpwstr>
  </property>
  <property fmtid="{D5CDD505-2E9C-101B-9397-08002B2CF9AE}" pid="3" name="MediaServiceImageTags">
    <vt:lpwstr/>
  </property>
  <property fmtid="{D5CDD505-2E9C-101B-9397-08002B2CF9AE}" pid="4" name="MSIP_Label_fc111285-cafa-4fc9-8a9a-bd902089b24f_Enabled">
    <vt:lpwstr>true</vt:lpwstr>
  </property>
  <property fmtid="{D5CDD505-2E9C-101B-9397-08002B2CF9AE}" pid="5" name="MSIP_Label_fc111285-cafa-4fc9-8a9a-bd902089b24f_SetDate">
    <vt:lpwstr>2025-10-16T16:48:45Z</vt:lpwstr>
  </property>
  <property fmtid="{D5CDD505-2E9C-101B-9397-08002B2CF9AE}" pid="6" name="MSIP_Label_fc111285-cafa-4fc9-8a9a-bd902089b24f_Method">
    <vt:lpwstr>Privileged</vt:lpwstr>
  </property>
  <property fmtid="{D5CDD505-2E9C-101B-9397-08002B2CF9AE}" pid="7" name="MSIP_Label_fc111285-cafa-4fc9-8a9a-bd902089b24f_Name">
    <vt:lpwstr>Public</vt:lpwstr>
  </property>
  <property fmtid="{D5CDD505-2E9C-101B-9397-08002B2CF9AE}" pid="8" name="MSIP_Label_fc111285-cafa-4fc9-8a9a-bd902089b24f_SiteId">
    <vt:lpwstr>cbc2c381-2f2e-4d93-91d1-506c9316ace7</vt:lpwstr>
  </property>
  <property fmtid="{D5CDD505-2E9C-101B-9397-08002B2CF9AE}" pid="9" name="MSIP_Label_fc111285-cafa-4fc9-8a9a-bd902089b24f_ActionId">
    <vt:lpwstr>394474dc-4314-4ec2-b22f-4bf0544b5608</vt:lpwstr>
  </property>
  <property fmtid="{D5CDD505-2E9C-101B-9397-08002B2CF9AE}" pid="10" name="MSIP_Label_fc111285-cafa-4fc9-8a9a-bd902089b24f_ContentBits">
    <vt:lpwstr>0</vt:lpwstr>
  </property>
  <property fmtid="{D5CDD505-2E9C-101B-9397-08002B2CF9AE}" pid="11" name="MSIP_Label_fc111285-cafa-4fc9-8a9a-bd902089b24f_Tag">
    <vt:lpwstr>10, 0, 1, 1</vt:lpwstr>
  </property>
</Properties>
</file>