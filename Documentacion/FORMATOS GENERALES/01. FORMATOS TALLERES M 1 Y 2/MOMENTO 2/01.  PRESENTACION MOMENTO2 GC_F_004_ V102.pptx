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538" r:id="rId5"/>
    <p:sldId id="536" r:id="rId6"/>
    <p:sldId id="540" r:id="rId7"/>
    <p:sldId id="572" r:id="rId8"/>
    <p:sldId id="571" r:id="rId9"/>
    <p:sldId id="561" r:id="rId10"/>
    <p:sldId id="560" r:id="rId11"/>
    <p:sldId id="566" r:id="rId12"/>
    <p:sldId id="564" r:id="rId13"/>
    <p:sldId id="565" r:id="rId14"/>
    <p:sldId id="563" r:id="rId15"/>
    <p:sldId id="568" r:id="rId16"/>
    <p:sldId id="567" r:id="rId17"/>
    <p:sldId id="531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40F397-E582-D084-FB9E-59A6398C1F9B}" v="6" dt="2025-05-03T15:00:13.8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28"/>
    <p:restoredTop sz="97242"/>
  </p:normalViewPr>
  <p:slideViewPr>
    <p:cSldViewPr snapToGrid="0">
      <p:cViewPr varScale="1">
        <p:scale>
          <a:sx n="73" d="100"/>
          <a:sy n="73" d="100"/>
        </p:scale>
        <p:origin x="1038" y="78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yam Yolanda Mesa" userId="S::mymesa@sena.edu.co::3d795226-2461-4506-bf33-79f1ce255d79" providerId="AD" clId="Web-{9240F397-E582-D084-FB9E-59A6398C1F9B}"/>
    <pc:docChg chg="modSld">
      <pc:chgData name="Miryam Yolanda Mesa" userId="S::mymesa@sena.edu.co::3d795226-2461-4506-bf33-79f1ce255d79" providerId="AD" clId="Web-{9240F397-E582-D084-FB9E-59A6398C1F9B}" dt="2025-05-03T15:00:13.893" v="5" actId="14100"/>
      <pc:docMkLst>
        <pc:docMk/>
      </pc:docMkLst>
      <pc:sldChg chg="modSp">
        <pc:chgData name="Miryam Yolanda Mesa" userId="S::mymesa@sena.edu.co::3d795226-2461-4506-bf33-79f1ce255d79" providerId="AD" clId="Web-{9240F397-E582-D084-FB9E-59A6398C1F9B}" dt="2025-05-03T15:00:13.893" v="5" actId="14100"/>
        <pc:sldMkLst>
          <pc:docMk/>
          <pc:sldMk cId="86351028" sldId="564"/>
        </pc:sldMkLst>
        <pc:spChg chg="mod">
          <ac:chgData name="Miryam Yolanda Mesa" userId="S::mymesa@sena.edu.co::3d795226-2461-4506-bf33-79f1ce255d79" providerId="AD" clId="Web-{9240F397-E582-D084-FB9E-59A6398C1F9B}" dt="2025-05-03T15:00:13.893" v="5" actId="14100"/>
          <ac:spMkLst>
            <pc:docMk/>
            <pc:sldMk cId="86351028" sldId="564"/>
            <ac:spMk id="5" creationId="{E8578B62-5B9A-C5D0-FA7B-EB533E55B36C}"/>
          </ac:spMkLst>
        </pc:spChg>
        <pc:picChg chg="mod">
          <ac:chgData name="Miryam Yolanda Mesa" userId="S::mymesa@sena.edu.co::3d795226-2461-4506-bf33-79f1ce255d79" providerId="AD" clId="Web-{9240F397-E582-D084-FB9E-59A6398C1F9B}" dt="2025-05-03T14:59:59.392" v="3" actId="14100"/>
          <ac:picMkLst>
            <pc:docMk/>
            <pc:sldMk cId="86351028" sldId="564"/>
            <ac:picMk id="7" creationId="{97047F94-ECC6-FACB-12A7-3F12DD5C41A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C01CDF-66F4-4D0B-B20A-81A7B760FCAD}" type="doc">
      <dgm:prSet loTypeId="urn:microsoft.com/office/officeart/2005/8/layout/vList6" loCatId="list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539276B5-532C-4D67-8B98-7BFCED12A0C6}">
      <dgm:prSet phldrT="[Texto]" custT="1"/>
      <dgm:spPr/>
      <dgm:t>
        <a:bodyPr/>
        <a:lstStyle/>
        <a:p>
          <a:r>
            <a:rPr lang="es-CO" sz="2800" b="1" dirty="0"/>
            <a:t>EVIDENCIA ALTERNATIVA</a:t>
          </a:r>
        </a:p>
      </dgm:t>
    </dgm:pt>
    <dgm:pt modelId="{DEBF2CBC-4336-4559-9243-C37CBAAE1B05}" type="parTrans" cxnId="{EEF99828-D81E-493A-B909-E9D14E2C82B0}">
      <dgm:prSet/>
      <dgm:spPr/>
      <dgm:t>
        <a:bodyPr/>
        <a:lstStyle/>
        <a:p>
          <a:endParaRPr lang="es-CO" sz="1100"/>
        </a:p>
      </dgm:t>
    </dgm:pt>
    <dgm:pt modelId="{81519339-9F7D-4012-9A74-E4959563EC7D}" type="sibTrans" cxnId="{EEF99828-D81E-493A-B909-E9D14E2C82B0}">
      <dgm:prSet custT="1"/>
      <dgm:spPr/>
      <dgm:t>
        <a:bodyPr/>
        <a:lstStyle/>
        <a:p>
          <a:endParaRPr lang="es-CO"/>
        </a:p>
      </dgm:t>
    </dgm:pt>
    <dgm:pt modelId="{B16FCC86-A871-4353-ACB1-3DB5388A2EAC}">
      <dgm:prSet custT="1"/>
      <dgm:spPr/>
      <dgm:t>
        <a:bodyPr/>
        <a:lstStyle/>
        <a:p>
          <a:r>
            <a:rPr lang="es-ES" sz="2000" b="1" dirty="0"/>
            <a:t>COPIA CONTRATO DE APRENDIZAJE O CORREO DE APROBACIÓN DE OTRA ALTERNATIVA</a:t>
          </a:r>
        </a:p>
      </dgm:t>
    </dgm:pt>
    <dgm:pt modelId="{DDA12133-DE6B-49E2-9487-F5E1125760BA}" type="parTrans" cxnId="{AADF3DCA-2BC5-4467-8DCF-28F8826D2B0E}">
      <dgm:prSet/>
      <dgm:spPr/>
      <dgm:t>
        <a:bodyPr/>
        <a:lstStyle/>
        <a:p>
          <a:endParaRPr lang="es-ES"/>
        </a:p>
      </dgm:t>
    </dgm:pt>
    <dgm:pt modelId="{E8083468-EE00-4E9D-A986-17AD522F221F}" type="sibTrans" cxnId="{AADF3DCA-2BC5-4467-8DCF-28F8826D2B0E}">
      <dgm:prSet/>
      <dgm:spPr/>
      <dgm:t>
        <a:bodyPr/>
        <a:lstStyle/>
        <a:p>
          <a:endParaRPr lang="es-ES"/>
        </a:p>
      </dgm:t>
    </dgm:pt>
    <dgm:pt modelId="{573184B2-DB3D-4A24-9C9C-8E702832342D}">
      <dgm:prSet custT="1"/>
      <dgm:spPr/>
      <dgm:t>
        <a:bodyPr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>
              <a:latin typeface="Calibri" panose="020F0502020204030204"/>
              <a:ea typeface="+mn-ea"/>
              <a:cs typeface="+mn-cs"/>
            </a:rPr>
            <a:t>GFPI-F-023-V3</a:t>
          </a:r>
          <a:endParaRPr lang="es-ES" sz="2800" b="1" kern="1200" dirty="0">
            <a:latin typeface="Calibri" panose="020F0502020204030204"/>
            <a:ea typeface="+mn-ea"/>
            <a:cs typeface="+mn-cs"/>
          </a:endParaRPr>
        </a:p>
      </dgm:t>
    </dgm:pt>
    <dgm:pt modelId="{1AE81AD0-F373-4EFB-9B91-73AEBD96F24D}" type="parTrans" cxnId="{37A9CE60-CC9F-4060-B4EC-1B2B75FF2605}">
      <dgm:prSet/>
      <dgm:spPr/>
      <dgm:t>
        <a:bodyPr/>
        <a:lstStyle/>
        <a:p>
          <a:endParaRPr lang="es-ES"/>
        </a:p>
      </dgm:t>
    </dgm:pt>
    <dgm:pt modelId="{C6482559-C83C-4CEE-95B1-41D929BC20A0}" type="sibTrans" cxnId="{37A9CE60-CC9F-4060-B4EC-1B2B75FF2605}">
      <dgm:prSet/>
      <dgm:spPr/>
      <dgm:t>
        <a:bodyPr/>
        <a:lstStyle/>
        <a:p>
          <a:endParaRPr lang="es-ES"/>
        </a:p>
      </dgm:t>
    </dgm:pt>
    <dgm:pt modelId="{CE643850-161D-440C-BC80-FB56C77556CC}">
      <dgm:prSet custT="1"/>
      <dgm:spPr/>
      <dgm:t>
        <a:bodyPr/>
        <a:lstStyle/>
        <a:p>
          <a:r>
            <a:rPr lang="es-ES" sz="2800" b="1" kern="1200">
              <a:latin typeface="Calibri" panose="020F0502020204030204"/>
              <a:ea typeface="+mn-ea"/>
              <a:cs typeface="+mn-cs"/>
            </a:rPr>
            <a:t>CERTIFICADO DE AFILIACIÓN</a:t>
          </a:r>
          <a:endParaRPr lang="es-ES" sz="2800" b="1" kern="1200" dirty="0">
            <a:latin typeface="Calibri" panose="020F0502020204030204"/>
            <a:ea typeface="+mn-ea"/>
            <a:cs typeface="+mn-cs"/>
          </a:endParaRPr>
        </a:p>
      </dgm:t>
    </dgm:pt>
    <dgm:pt modelId="{05354C19-AEF0-4F39-9F22-71A4609A7482}" type="parTrans" cxnId="{6EC2686B-C2EA-435E-8DA8-5630389358C3}">
      <dgm:prSet/>
      <dgm:spPr/>
      <dgm:t>
        <a:bodyPr/>
        <a:lstStyle/>
        <a:p>
          <a:endParaRPr lang="es-ES"/>
        </a:p>
      </dgm:t>
    </dgm:pt>
    <dgm:pt modelId="{6315DA07-DB95-4B6E-85B0-AB5D11577842}" type="sibTrans" cxnId="{6EC2686B-C2EA-435E-8DA8-5630389358C3}">
      <dgm:prSet/>
      <dgm:spPr/>
      <dgm:t>
        <a:bodyPr/>
        <a:lstStyle/>
        <a:p>
          <a:endParaRPr lang="es-ES"/>
        </a:p>
      </dgm:t>
    </dgm:pt>
    <dgm:pt modelId="{2233EE40-2C3C-49BD-A569-7B8376C16863}">
      <dgm:prSet custT="1"/>
      <dgm:spPr/>
      <dgm:t>
        <a:bodyPr/>
        <a:lstStyle/>
        <a:p>
          <a:r>
            <a:rPr lang="es-ES" sz="2400" b="1" dirty="0"/>
            <a:t>ARL</a:t>
          </a:r>
        </a:p>
      </dgm:t>
    </dgm:pt>
    <dgm:pt modelId="{625AE72F-CB39-4C71-B78F-AA673417CAE0}" type="parTrans" cxnId="{1F203B3C-0555-4EE1-B3BF-91FAA3A5C7DB}">
      <dgm:prSet/>
      <dgm:spPr/>
      <dgm:t>
        <a:bodyPr/>
        <a:lstStyle/>
        <a:p>
          <a:endParaRPr lang="es-ES"/>
        </a:p>
      </dgm:t>
    </dgm:pt>
    <dgm:pt modelId="{65DAE98A-A5C1-4FC6-8CF6-612694D775BF}" type="sibTrans" cxnId="{1F203B3C-0555-4EE1-B3BF-91FAA3A5C7DB}">
      <dgm:prSet/>
      <dgm:spPr/>
      <dgm:t>
        <a:bodyPr/>
        <a:lstStyle/>
        <a:p>
          <a:endParaRPr lang="es-ES"/>
        </a:p>
      </dgm:t>
    </dgm:pt>
    <dgm:pt modelId="{AE94FE2B-C28B-4E97-846A-E66030BAA292}">
      <dgm:prSet custT="1"/>
      <dgm:spPr/>
      <dgm:t>
        <a:bodyPr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latin typeface="Calibri" panose="020F0502020204030204"/>
              <a:ea typeface="+mn-ea"/>
              <a:cs typeface="+mn-cs"/>
            </a:rPr>
            <a:t>BITÁCORA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latin typeface="Calibri" panose="020F0502020204030204"/>
              <a:ea typeface="+mn-ea"/>
              <a:cs typeface="+mn-cs"/>
            </a:rPr>
            <a:t>GFPI-F-147 V02</a:t>
          </a:r>
        </a:p>
      </dgm:t>
    </dgm:pt>
    <dgm:pt modelId="{FDEAB402-B1DD-4BE4-B336-49A706EE0FAF}" type="parTrans" cxnId="{9456DC94-DB6B-4D3E-A23B-F52FA9C19AF3}">
      <dgm:prSet/>
      <dgm:spPr/>
      <dgm:t>
        <a:bodyPr/>
        <a:lstStyle/>
        <a:p>
          <a:endParaRPr lang="es-ES"/>
        </a:p>
      </dgm:t>
    </dgm:pt>
    <dgm:pt modelId="{082D1758-3918-4E92-A36B-EE9137722B7B}" type="sibTrans" cxnId="{9456DC94-DB6B-4D3E-A23B-F52FA9C19AF3}">
      <dgm:prSet/>
      <dgm:spPr/>
      <dgm:t>
        <a:bodyPr/>
        <a:lstStyle/>
        <a:p>
          <a:endParaRPr lang="es-ES"/>
        </a:p>
      </dgm:t>
    </dgm:pt>
    <dgm:pt modelId="{784DBA99-46DD-4985-A718-8E9842F1C02E}">
      <dgm:prSet custT="1"/>
      <dgm:spPr/>
      <dgm:t>
        <a:bodyPr/>
        <a:lstStyle/>
        <a:p>
          <a:r>
            <a:rPr lang="es-ES" sz="1800" b="1" dirty="0"/>
            <a:t>Práctica de 6 meses (12 bitácoras)</a:t>
          </a:r>
        </a:p>
      </dgm:t>
    </dgm:pt>
    <dgm:pt modelId="{1687D3F0-8927-42D8-A031-1925B2496B07}" type="parTrans" cxnId="{41892B71-28FC-462A-9302-F912D7AEF56E}">
      <dgm:prSet/>
      <dgm:spPr/>
      <dgm:t>
        <a:bodyPr/>
        <a:lstStyle/>
        <a:p>
          <a:endParaRPr lang="es-ES"/>
        </a:p>
      </dgm:t>
    </dgm:pt>
    <dgm:pt modelId="{32082735-7FC3-48B4-B2EC-14EDF1E2A77C}" type="sibTrans" cxnId="{41892B71-28FC-462A-9302-F912D7AEF56E}">
      <dgm:prSet/>
      <dgm:spPr/>
      <dgm:t>
        <a:bodyPr/>
        <a:lstStyle/>
        <a:p>
          <a:endParaRPr lang="es-ES"/>
        </a:p>
      </dgm:t>
    </dgm:pt>
    <dgm:pt modelId="{EDEF3776-B59C-42FB-9D85-678B3E1876A9}">
      <dgm:prSet custT="1"/>
      <dgm:spPr/>
      <dgm:t>
        <a:bodyPr/>
        <a:lstStyle/>
        <a:p>
          <a:r>
            <a:rPr lang="es-ES" sz="1800" b="1" dirty="0"/>
            <a:t> Práctica de 9 meses (18 bitácoras)</a:t>
          </a:r>
        </a:p>
      </dgm:t>
    </dgm:pt>
    <dgm:pt modelId="{2FE78D17-9E58-4873-A216-72A86D3CF490}" type="parTrans" cxnId="{830B1803-F336-4386-87C1-E5D1BC2B67B2}">
      <dgm:prSet/>
      <dgm:spPr/>
      <dgm:t>
        <a:bodyPr/>
        <a:lstStyle/>
        <a:p>
          <a:endParaRPr lang="es-ES"/>
        </a:p>
      </dgm:t>
    </dgm:pt>
    <dgm:pt modelId="{4677608C-3908-449D-B8A8-A8942E338412}" type="sibTrans" cxnId="{830B1803-F336-4386-87C1-E5D1BC2B67B2}">
      <dgm:prSet/>
      <dgm:spPr/>
      <dgm:t>
        <a:bodyPr/>
        <a:lstStyle/>
        <a:p>
          <a:endParaRPr lang="es-ES"/>
        </a:p>
      </dgm:t>
    </dgm:pt>
    <dgm:pt modelId="{23731353-D4BB-4918-814B-F8314267F9A3}">
      <dgm:prSet custT="1"/>
      <dgm:spPr/>
      <dgm:t>
        <a:bodyPr/>
        <a:lstStyle/>
        <a:p>
          <a:r>
            <a:rPr lang="es-ES" sz="1800" b="1" dirty="0"/>
            <a:t> Práctica de 12 meses (24 bitácoras)</a:t>
          </a:r>
          <a:r>
            <a:rPr lang="es-ES" sz="1800" dirty="0"/>
            <a:t> </a:t>
          </a:r>
        </a:p>
      </dgm:t>
    </dgm:pt>
    <dgm:pt modelId="{50D34BFB-2328-4753-BD2D-A5F3AD52678C}" type="parTrans" cxnId="{BB869F14-666C-4567-B6C3-AF43844DDEE1}">
      <dgm:prSet/>
      <dgm:spPr/>
      <dgm:t>
        <a:bodyPr/>
        <a:lstStyle/>
        <a:p>
          <a:endParaRPr lang="es-ES"/>
        </a:p>
      </dgm:t>
    </dgm:pt>
    <dgm:pt modelId="{BF7FFCFD-2F82-48AD-B3CF-6C7EF26448DA}" type="sibTrans" cxnId="{BB869F14-666C-4567-B6C3-AF43844DDEE1}">
      <dgm:prSet/>
      <dgm:spPr/>
      <dgm:t>
        <a:bodyPr/>
        <a:lstStyle/>
        <a:p>
          <a:endParaRPr lang="es-ES"/>
        </a:p>
      </dgm:t>
    </dgm:pt>
    <dgm:pt modelId="{6081BAC3-6A84-465B-9072-8A1340173B91}">
      <dgm:prSet/>
      <dgm:spPr/>
      <dgm:t>
        <a:bodyPr/>
        <a:lstStyle/>
        <a:p>
          <a:endParaRPr lang="es-ES" sz="1400"/>
        </a:p>
      </dgm:t>
    </dgm:pt>
    <dgm:pt modelId="{83A98842-046E-45D3-B587-9A3BFCB4C6CE}" type="parTrans" cxnId="{83DD94C6-3CEF-4885-B6CD-F52AFDFFB882}">
      <dgm:prSet/>
      <dgm:spPr/>
      <dgm:t>
        <a:bodyPr/>
        <a:lstStyle/>
        <a:p>
          <a:endParaRPr lang="es-ES"/>
        </a:p>
      </dgm:t>
    </dgm:pt>
    <dgm:pt modelId="{DF2E9CA9-A77B-49DC-A5FF-7E55928D502B}" type="sibTrans" cxnId="{83DD94C6-3CEF-4885-B6CD-F52AFDFFB882}">
      <dgm:prSet/>
      <dgm:spPr/>
      <dgm:t>
        <a:bodyPr/>
        <a:lstStyle/>
        <a:p>
          <a:endParaRPr lang="es-ES"/>
        </a:p>
      </dgm:t>
    </dgm:pt>
    <dgm:pt modelId="{38097EA9-9C5D-4863-9B29-D0AEB7CA5078}">
      <dgm:prSet custT="1"/>
      <dgm:spPr/>
      <dgm:t>
        <a:bodyPr/>
        <a:lstStyle/>
        <a:p>
          <a:r>
            <a:rPr lang="es-ES" sz="1800" b="1" dirty="0"/>
            <a:t>CONCERTACIÓN DE ACTIVIDADES, EVALUACIÓN PARCIAL Y FINAL</a:t>
          </a:r>
        </a:p>
      </dgm:t>
    </dgm:pt>
    <dgm:pt modelId="{BCBBDF31-7501-424E-BEF8-AAFE9F8FE8E6}" type="parTrans" cxnId="{241937F4-013A-4D3B-8EF2-6E176F3A1413}">
      <dgm:prSet/>
      <dgm:spPr/>
      <dgm:t>
        <a:bodyPr/>
        <a:lstStyle/>
        <a:p>
          <a:endParaRPr lang="es-ES"/>
        </a:p>
      </dgm:t>
    </dgm:pt>
    <dgm:pt modelId="{6B7822B0-D7CA-4B0F-AB0C-031E957C71CD}" type="sibTrans" cxnId="{241937F4-013A-4D3B-8EF2-6E176F3A1413}">
      <dgm:prSet/>
      <dgm:spPr/>
      <dgm:t>
        <a:bodyPr/>
        <a:lstStyle/>
        <a:p>
          <a:endParaRPr lang="es-ES"/>
        </a:p>
      </dgm:t>
    </dgm:pt>
    <dgm:pt modelId="{137AB269-9049-4989-B5D9-33F87A977533}">
      <dgm:prSet custT="1"/>
      <dgm:spPr/>
      <dgm:t>
        <a:bodyPr/>
        <a:lstStyle/>
        <a:p>
          <a:endParaRPr lang="es-ES" sz="1800" b="1" dirty="0"/>
        </a:p>
      </dgm:t>
    </dgm:pt>
    <dgm:pt modelId="{C5A6B782-5984-4EAD-894C-2649ACCF7A78}" type="parTrans" cxnId="{678E1036-DEF7-4729-99A5-F491604741F5}">
      <dgm:prSet/>
      <dgm:spPr/>
      <dgm:t>
        <a:bodyPr/>
        <a:lstStyle/>
        <a:p>
          <a:endParaRPr lang="es-ES"/>
        </a:p>
      </dgm:t>
    </dgm:pt>
    <dgm:pt modelId="{E32ABE4A-A49C-4FB7-A1D4-B2AB3B7C990F}" type="sibTrans" cxnId="{678E1036-DEF7-4729-99A5-F491604741F5}">
      <dgm:prSet/>
      <dgm:spPr/>
      <dgm:t>
        <a:bodyPr/>
        <a:lstStyle/>
        <a:p>
          <a:endParaRPr lang="es-ES"/>
        </a:p>
      </dgm:t>
    </dgm:pt>
    <dgm:pt modelId="{F1B1B8BA-3A17-46FB-9802-0F92599E5AD3}">
      <dgm:prSet custT="1"/>
      <dgm:spPr/>
      <dgm:t>
        <a:bodyPr/>
        <a:lstStyle/>
        <a:p>
          <a:endParaRPr lang="es-ES" sz="2400" b="1" dirty="0"/>
        </a:p>
      </dgm:t>
    </dgm:pt>
    <dgm:pt modelId="{493B637A-58A3-41B0-B0AF-F7FF1AAD941E}" type="parTrans" cxnId="{A2C24088-85EC-4131-B020-CE4A2CE47EB4}">
      <dgm:prSet/>
      <dgm:spPr/>
      <dgm:t>
        <a:bodyPr/>
        <a:lstStyle/>
        <a:p>
          <a:endParaRPr lang="es-ES"/>
        </a:p>
      </dgm:t>
    </dgm:pt>
    <dgm:pt modelId="{DE128FC1-86CD-4045-AB09-4CEF1E2B5227}" type="sibTrans" cxnId="{A2C24088-85EC-4131-B020-CE4A2CE47EB4}">
      <dgm:prSet/>
      <dgm:spPr/>
      <dgm:t>
        <a:bodyPr/>
        <a:lstStyle/>
        <a:p>
          <a:endParaRPr lang="es-ES"/>
        </a:p>
      </dgm:t>
    </dgm:pt>
    <dgm:pt modelId="{4EFC023A-12E8-469B-9B47-98344E01C21B}" type="pres">
      <dgm:prSet presAssocID="{A8C01CDF-66F4-4D0B-B20A-81A7B760FCAD}" presName="Name0" presStyleCnt="0">
        <dgm:presLayoutVars>
          <dgm:dir/>
          <dgm:animLvl val="lvl"/>
          <dgm:resizeHandles/>
        </dgm:presLayoutVars>
      </dgm:prSet>
      <dgm:spPr/>
    </dgm:pt>
    <dgm:pt modelId="{1AE78EDD-FFCD-4CAF-A17A-4429DD0AA93E}" type="pres">
      <dgm:prSet presAssocID="{539276B5-532C-4D67-8B98-7BFCED12A0C6}" presName="linNode" presStyleCnt="0"/>
      <dgm:spPr/>
    </dgm:pt>
    <dgm:pt modelId="{F9D111DB-E99D-4A90-BD9A-0B327E70622C}" type="pres">
      <dgm:prSet presAssocID="{539276B5-532C-4D67-8B98-7BFCED12A0C6}" presName="parentShp" presStyleLbl="node1" presStyleIdx="0" presStyleCnt="4">
        <dgm:presLayoutVars>
          <dgm:bulletEnabled val="1"/>
        </dgm:presLayoutVars>
      </dgm:prSet>
      <dgm:spPr/>
    </dgm:pt>
    <dgm:pt modelId="{08CF3453-DA67-419A-B7FC-0E8AB681A1A0}" type="pres">
      <dgm:prSet presAssocID="{539276B5-532C-4D67-8B98-7BFCED12A0C6}" presName="childShp" presStyleLbl="bgAccFollowNode1" presStyleIdx="0" presStyleCnt="4">
        <dgm:presLayoutVars>
          <dgm:bulletEnabled val="1"/>
        </dgm:presLayoutVars>
      </dgm:prSet>
      <dgm:spPr/>
    </dgm:pt>
    <dgm:pt modelId="{23792754-6D10-475F-AE03-028803030676}" type="pres">
      <dgm:prSet presAssocID="{81519339-9F7D-4012-9A74-E4959563EC7D}" presName="spacing" presStyleCnt="0"/>
      <dgm:spPr/>
    </dgm:pt>
    <dgm:pt modelId="{C65A4A0C-7C6F-4DB4-BC65-3DDEB65ADCCC}" type="pres">
      <dgm:prSet presAssocID="{CE643850-161D-440C-BC80-FB56C77556CC}" presName="linNode" presStyleCnt="0"/>
      <dgm:spPr/>
    </dgm:pt>
    <dgm:pt modelId="{42BF2A1C-3F18-42D1-A0BB-6852406F89EA}" type="pres">
      <dgm:prSet presAssocID="{CE643850-161D-440C-BC80-FB56C77556CC}" presName="parentShp" presStyleLbl="node1" presStyleIdx="1" presStyleCnt="4">
        <dgm:presLayoutVars>
          <dgm:bulletEnabled val="1"/>
        </dgm:presLayoutVars>
      </dgm:prSet>
      <dgm:spPr/>
    </dgm:pt>
    <dgm:pt modelId="{28434159-B259-4B51-82B5-CA1630AF5701}" type="pres">
      <dgm:prSet presAssocID="{CE643850-161D-440C-BC80-FB56C77556CC}" presName="childShp" presStyleLbl="bgAccFollowNode1" presStyleIdx="1" presStyleCnt="4">
        <dgm:presLayoutVars>
          <dgm:bulletEnabled val="1"/>
        </dgm:presLayoutVars>
      </dgm:prSet>
      <dgm:spPr/>
    </dgm:pt>
    <dgm:pt modelId="{48FB5F5C-0F97-48F8-9042-047E90A9D9B3}" type="pres">
      <dgm:prSet presAssocID="{6315DA07-DB95-4B6E-85B0-AB5D11577842}" presName="spacing" presStyleCnt="0"/>
      <dgm:spPr/>
    </dgm:pt>
    <dgm:pt modelId="{9D2B1651-1A11-4866-B379-89441ED1589D}" type="pres">
      <dgm:prSet presAssocID="{573184B2-DB3D-4A24-9C9C-8E702832342D}" presName="linNode" presStyleCnt="0"/>
      <dgm:spPr/>
    </dgm:pt>
    <dgm:pt modelId="{67EDFF86-D075-46E6-B2A1-CBBF5CB0EED9}" type="pres">
      <dgm:prSet presAssocID="{573184B2-DB3D-4A24-9C9C-8E702832342D}" presName="parentShp" presStyleLbl="node1" presStyleIdx="2" presStyleCnt="4">
        <dgm:presLayoutVars>
          <dgm:bulletEnabled val="1"/>
        </dgm:presLayoutVars>
      </dgm:prSet>
      <dgm:spPr/>
    </dgm:pt>
    <dgm:pt modelId="{5A94C2AC-1423-46AD-978A-E15DE5C9C3D7}" type="pres">
      <dgm:prSet presAssocID="{573184B2-DB3D-4A24-9C9C-8E702832342D}" presName="childShp" presStyleLbl="bgAccFollowNode1" presStyleIdx="2" presStyleCnt="4">
        <dgm:presLayoutVars>
          <dgm:bulletEnabled val="1"/>
        </dgm:presLayoutVars>
      </dgm:prSet>
      <dgm:spPr/>
    </dgm:pt>
    <dgm:pt modelId="{3585FEC0-36CE-4C64-92D3-E64A142CB716}" type="pres">
      <dgm:prSet presAssocID="{C6482559-C83C-4CEE-95B1-41D929BC20A0}" presName="spacing" presStyleCnt="0"/>
      <dgm:spPr/>
    </dgm:pt>
    <dgm:pt modelId="{B4406385-1C98-4B0D-8BBF-F8293D01E049}" type="pres">
      <dgm:prSet presAssocID="{AE94FE2B-C28B-4E97-846A-E66030BAA292}" presName="linNode" presStyleCnt="0"/>
      <dgm:spPr/>
    </dgm:pt>
    <dgm:pt modelId="{ACBFAFE8-7877-41A5-BBF2-DBDDA3A528AF}" type="pres">
      <dgm:prSet presAssocID="{AE94FE2B-C28B-4E97-846A-E66030BAA292}" presName="parentShp" presStyleLbl="node1" presStyleIdx="3" presStyleCnt="4">
        <dgm:presLayoutVars>
          <dgm:bulletEnabled val="1"/>
        </dgm:presLayoutVars>
      </dgm:prSet>
      <dgm:spPr/>
    </dgm:pt>
    <dgm:pt modelId="{ABE7F801-E803-4CC0-BAA4-45B8EA0D7689}" type="pres">
      <dgm:prSet presAssocID="{AE94FE2B-C28B-4E97-846A-E66030BAA292}" presName="childShp" presStyleLbl="bgAccFollowNode1" presStyleIdx="3" presStyleCnt="4">
        <dgm:presLayoutVars>
          <dgm:bulletEnabled val="1"/>
        </dgm:presLayoutVars>
      </dgm:prSet>
      <dgm:spPr/>
    </dgm:pt>
  </dgm:ptLst>
  <dgm:cxnLst>
    <dgm:cxn modelId="{E0A82900-739C-4D6D-A945-C72D770733E9}" type="presOf" srcId="{573184B2-DB3D-4A24-9C9C-8E702832342D}" destId="{67EDFF86-D075-46E6-B2A1-CBBF5CB0EED9}" srcOrd="0" destOrd="0" presId="urn:microsoft.com/office/officeart/2005/8/layout/vList6"/>
    <dgm:cxn modelId="{830B1803-F336-4386-87C1-E5D1BC2B67B2}" srcId="{AE94FE2B-C28B-4E97-846A-E66030BAA292}" destId="{EDEF3776-B59C-42FB-9D85-678B3E1876A9}" srcOrd="1" destOrd="0" parTransId="{2FE78D17-9E58-4873-A216-72A86D3CF490}" sibTransId="{4677608C-3908-449D-B8A8-A8942E338412}"/>
    <dgm:cxn modelId="{BB869F14-666C-4567-B6C3-AF43844DDEE1}" srcId="{AE94FE2B-C28B-4E97-846A-E66030BAA292}" destId="{23731353-D4BB-4918-814B-F8314267F9A3}" srcOrd="2" destOrd="0" parTransId="{50D34BFB-2328-4753-BD2D-A5F3AD52678C}" sibTransId="{BF7FFCFD-2F82-48AD-B3CF-6C7EF26448DA}"/>
    <dgm:cxn modelId="{9D2DF41B-46CF-41FB-BDF0-C66E27989C69}" type="presOf" srcId="{539276B5-532C-4D67-8B98-7BFCED12A0C6}" destId="{F9D111DB-E99D-4A90-BD9A-0B327E70622C}" srcOrd="0" destOrd="0" presId="urn:microsoft.com/office/officeart/2005/8/layout/vList6"/>
    <dgm:cxn modelId="{EEF99828-D81E-493A-B909-E9D14E2C82B0}" srcId="{A8C01CDF-66F4-4D0B-B20A-81A7B760FCAD}" destId="{539276B5-532C-4D67-8B98-7BFCED12A0C6}" srcOrd="0" destOrd="0" parTransId="{DEBF2CBC-4336-4559-9243-C37CBAAE1B05}" sibTransId="{81519339-9F7D-4012-9A74-E4959563EC7D}"/>
    <dgm:cxn modelId="{678E1036-DEF7-4729-99A5-F491604741F5}" srcId="{573184B2-DB3D-4A24-9C9C-8E702832342D}" destId="{137AB269-9049-4989-B5D9-33F87A977533}" srcOrd="0" destOrd="0" parTransId="{C5A6B782-5984-4EAD-894C-2649ACCF7A78}" sibTransId="{E32ABE4A-A49C-4FB7-A1D4-B2AB3B7C990F}"/>
    <dgm:cxn modelId="{1F203B3C-0555-4EE1-B3BF-91FAA3A5C7DB}" srcId="{CE643850-161D-440C-BC80-FB56C77556CC}" destId="{2233EE40-2C3C-49BD-A569-7B8376C16863}" srcOrd="1" destOrd="0" parTransId="{625AE72F-CB39-4C71-B78F-AA673417CAE0}" sibTransId="{65DAE98A-A5C1-4FC6-8CF6-612694D775BF}"/>
    <dgm:cxn modelId="{9FC88D5B-164E-4FA1-AFF5-9DAC1738950A}" type="presOf" srcId="{6081BAC3-6A84-465B-9072-8A1340173B91}" destId="{ABE7F801-E803-4CC0-BAA4-45B8EA0D7689}" srcOrd="0" destOrd="3" presId="urn:microsoft.com/office/officeart/2005/8/layout/vList6"/>
    <dgm:cxn modelId="{37A9CE60-CC9F-4060-B4EC-1B2B75FF2605}" srcId="{A8C01CDF-66F4-4D0B-B20A-81A7B760FCAD}" destId="{573184B2-DB3D-4A24-9C9C-8E702832342D}" srcOrd="2" destOrd="0" parTransId="{1AE81AD0-F373-4EFB-9B91-73AEBD96F24D}" sibTransId="{C6482559-C83C-4CEE-95B1-41D929BC20A0}"/>
    <dgm:cxn modelId="{6595E260-40FD-40B1-BF0D-459D657559FC}" type="presOf" srcId="{A8C01CDF-66F4-4D0B-B20A-81A7B760FCAD}" destId="{4EFC023A-12E8-469B-9B47-98344E01C21B}" srcOrd="0" destOrd="0" presId="urn:microsoft.com/office/officeart/2005/8/layout/vList6"/>
    <dgm:cxn modelId="{8A681C69-AE58-48A0-A6C1-7D64E03A098F}" type="presOf" srcId="{2233EE40-2C3C-49BD-A569-7B8376C16863}" destId="{28434159-B259-4B51-82B5-CA1630AF5701}" srcOrd="0" destOrd="1" presId="urn:microsoft.com/office/officeart/2005/8/layout/vList6"/>
    <dgm:cxn modelId="{6EC2686B-C2EA-435E-8DA8-5630389358C3}" srcId="{A8C01CDF-66F4-4D0B-B20A-81A7B760FCAD}" destId="{CE643850-161D-440C-BC80-FB56C77556CC}" srcOrd="1" destOrd="0" parTransId="{05354C19-AEF0-4F39-9F22-71A4609A7482}" sibTransId="{6315DA07-DB95-4B6E-85B0-AB5D11577842}"/>
    <dgm:cxn modelId="{41892B71-28FC-462A-9302-F912D7AEF56E}" srcId="{AE94FE2B-C28B-4E97-846A-E66030BAA292}" destId="{784DBA99-46DD-4985-A718-8E9842F1C02E}" srcOrd="0" destOrd="0" parTransId="{1687D3F0-8927-42D8-A031-1925B2496B07}" sibTransId="{32082735-7FC3-48B4-B2EC-14EDF1E2A77C}"/>
    <dgm:cxn modelId="{0DDE1A77-20A3-4FAB-B212-B488601BF8F7}" type="presOf" srcId="{38097EA9-9C5D-4863-9B29-D0AEB7CA5078}" destId="{5A94C2AC-1423-46AD-978A-E15DE5C9C3D7}" srcOrd="0" destOrd="1" presId="urn:microsoft.com/office/officeart/2005/8/layout/vList6"/>
    <dgm:cxn modelId="{2137F37B-4702-4208-A81C-401CF114028A}" type="presOf" srcId="{B16FCC86-A871-4353-ACB1-3DB5388A2EAC}" destId="{08CF3453-DA67-419A-B7FC-0E8AB681A1A0}" srcOrd="0" destOrd="0" presId="urn:microsoft.com/office/officeart/2005/8/layout/vList6"/>
    <dgm:cxn modelId="{A2C24088-85EC-4131-B020-CE4A2CE47EB4}" srcId="{CE643850-161D-440C-BC80-FB56C77556CC}" destId="{F1B1B8BA-3A17-46FB-9802-0F92599E5AD3}" srcOrd="0" destOrd="0" parTransId="{493B637A-58A3-41B0-B0AF-F7FF1AAD941E}" sibTransId="{DE128FC1-86CD-4045-AB09-4CEF1E2B5227}"/>
    <dgm:cxn modelId="{CF3FB088-DE33-44AA-A8F1-80BC0B62CF89}" type="presOf" srcId="{EDEF3776-B59C-42FB-9D85-678B3E1876A9}" destId="{ABE7F801-E803-4CC0-BAA4-45B8EA0D7689}" srcOrd="0" destOrd="1" presId="urn:microsoft.com/office/officeart/2005/8/layout/vList6"/>
    <dgm:cxn modelId="{9456DC94-DB6B-4D3E-A23B-F52FA9C19AF3}" srcId="{A8C01CDF-66F4-4D0B-B20A-81A7B760FCAD}" destId="{AE94FE2B-C28B-4E97-846A-E66030BAA292}" srcOrd="3" destOrd="0" parTransId="{FDEAB402-B1DD-4BE4-B336-49A706EE0FAF}" sibTransId="{082D1758-3918-4E92-A36B-EE9137722B7B}"/>
    <dgm:cxn modelId="{E1D61597-22C5-468F-956C-72976AB72E26}" type="presOf" srcId="{AE94FE2B-C28B-4E97-846A-E66030BAA292}" destId="{ACBFAFE8-7877-41A5-BBF2-DBDDA3A528AF}" srcOrd="0" destOrd="0" presId="urn:microsoft.com/office/officeart/2005/8/layout/vList6"/>
    <dgm:cxn modelId="{E390D1B8-2265-4430-9365-81F74A61C74B}" type="presOf" srcId="{784DBA99-46DD-4985-A718-8E9842F1C02E}" destId="{ABE7F801-E803-4CC0-BAA4-45B8EA0D7689}" srcOrd="0" destOrd="0" presId="urn:microsoft.com/office/officeart/2005/8/layout/vList6"/>
    <dgm:cxn modelId="{6DE581C0-9E33-48A7-8A5D-D3C0F3C7C55F}" type="presOf" srcId="{137AB269-9049-4989-B5D9-33F87A977533}" destId="{5A94C2AC-1423-46AD-978A-E15DE5C9C3D7}" srcOrd="0" destOrd="0" presId="urn:microsoft.com/office/officeart/2005/8/layout/vList6"/>
    <dgm:cxn modelId="{83DD94C6-3CEF-4885-B6CD-F52AFDFFB882}" srcId="{AE94FE2B-C28B-4E97-846A-E66030BAA292}" destId="{6081BAC3-6A84-465B-9072-8A1340173B91}" srcOrd="3" destOrd="0" parTransId="{83A98842-046E-45D3-B587-9A3BFCB4C6CE}" sibTransId="{DF2E9CA9-A77B-49DC-A5FF-7E55928D502B}"/>
    <dgm:cxn modelId="{AADF3DCA-2BC5-4467-8DCF-28F8826D2B0E}" srcId="{539276B5-532C-4D67-8B98-7BFCED12A0C6}" destId="{B16FCC86-A871-4353-ACB1-3DB5388A2EAC}" srcOrd="0" destOrd="0" parTransId="{DDA12133-DE6B-49E2-9487-F5E1125760BA}" sibTransId="{E8083468-EE00-4E9D-A986-17AD522F221F}"/>
    <dgm:cxn modelId="{B60724CB-14ED-45BA-AEB7-F97A4CD4CA60}" type="presOf" srcId="{F1B1B8BA-3A17-46FB-9802-0F92599E5AD3}" destId="{28434159-B259-4B51-82B5-CA1630AF5701}" srcOrd="0" destOrd="0" presId="urn:microsoft.com/office/officeart/2005/8/layout/vList6"/>
    <dgm:cxn modelId="{6E410ADA-49C0-49D0-9F92-470B8CBB1AAA}" type="presOf" srcId="{23731353-D4BB-4918-814B-F8314267F9A3}" destId="{ABE7F801-E803-4CC0-BAA4-45B8EA0D7689}" srcOrd="0" destOrd="2" presId="urn:microsoft.com/office/officeart/2005/8/layout/vList6"/>
    <dgm:cxn modelId="{33BFAEE0-08F6-4D90-93DF-24B6A10182AD}" type="presOf" srcId="{CE643850-161D-440C-BC80-FB56C77556CC}" destId="{42BF2A1C-3F18-42D1-A0BB-6852406F89EA}" srcOrd="0" destOrd="0" presId="urn:microsoft.com/office/officeart/2005/8/layout/vList6"/>
    <dgm:cxn modelId="{241937F4-013A-4D3B-8EF2-6E176F3A1413}" srcId="{573184B2-DB3D-4A24-9C9C-8E702832342D}" destId="{38097EA9-9C5D-4863-9B29-D0AEB7CA5078}" srcOrd="1" destOrd="0" parTransId="{BCBBDF31-7501-424E-BEF8-AAFE9F8FE8E6}" sibTransId="{6B7822B0-D7CA-4B0F-AB0C-031E957C71CD}"/>
    <dgm:cxn modelId="{258A96DB-1C48-4A0B-8F57-A204C3B5A5CB}" type="presParOf" srcId="{4EFC023A-12E8-469B-9B47-98344E01C21B}" destId="{1AE78EDD-FFCD-4CAF-A17A-4429DD0AA93E}" srcOrd="0" destOrd="0" presId="urn:microsoft.com/office/officeart/2005/8/layout/vList6"/>
    <dgm:cxn modelId="{21909AC1-9D9E-47AE-897E-18AA5DBB7316}" type="presParOf" srcId="{1AE78EDD-FFCD-4CAF-A17A-4429DD0AA93E}" destId="{F9D111DB-E99D-4A90-BD9A-0B327E70622C}" srcOrd="0" destOrd="0" presId="urn:microsoft.com/office/officeart/2005/8/layout/vList6"/>
    <dgm:cxn modelId="{A9130633-9B73-43E2-8C84-80518718A17D}" type="presParOf" srcId="{1AE78EDD-FFCD-4CAF-A17A-4429DD0AA93E}" destId="{08CF3453-DA67-419A-B7FC-0E8AB681A1A0}" srcOrd="1" destOrd="0" presId="urn:microsoft.com/office/officeart/2005/8/layout/vList6"/>
    <dgm:cxn modelId="{1E7F538F-7B33-4933-8D55-BEA56C36DBB5}" type="presParOf" srcId="{4EFC023A-12E8-469B-9B47-98344E01C21B}" destId="{23792754-6D10-475F-AE03-028803030676}" srcOrd="1" destOrd="0" presId="urn:microsoft.com/office/officeart/2005/8/layout/vList6"/>
    <dgm:cxn modelId="{5A62FB4A-73DA-4C0A-9C60-92308EFC30AB}" type="presParOf" srcId="{4EFC023A-12E8-469B-9B47-98344E01C21B}" destId="{C65A4A0C-7C6F-4DB4-BC65-3DDEB65ADCCC}" srcOrd="2" destOrd="0" presId="urn:microsoft.com/office/officeart/2005/8/layout/vList6"/>
    <dgm:cxn modelId="{A67534FB-F1FA-4F7F-87B2-627C06FAF970}" type="presParOf" srcId="{C65A4A0C-7C6F-4DB4-BC65-3DDEB65ADCCC}" destId="{42BF2A1C-3F18-42D1-A0BB-6852406F89EA}" srcOrd="0" destOrd="0" presId="urn:microsoft.com/office/officeart/2005/8/layout/vList6"/>
    <dgm:cxn modelId="{5AE42824-CC43-43CB-873C-16C7827BC286}" type="presParOf" srcId="{C65A4A0C-7C6F-4DB4-BC65-3DDEB65ADCCC}" destId="{28434159-B259-4B51-82B5-CA1630AF5701}" srcOrd="1" destOrd="0" presId="urn:microsoft.com/office/officeart/2005/8/layout/vList6"/>
    <dgm:cxn modelId="{01AC3618-429A-4777-AA4A-56C14E44F08B}" type="presParOf" srcId="{4EFC023A-12E8-469B-9B47-98344E01C21B}" destId="{48FB5F5C-0F97-48F8-9042-047E90A9D9B3}" srcOrd="3" destOrd="0" presId="urn:microsoft.com/office/officeart/2005/8/layout/vList6"/>
    <dgm:cxn modelId="{36D89893-E890-4A96-8B97-275BFE1CD096}" type="presParOf" srcId="{4EFC023A-12E8-469B-9B47-98344E01C21B}" destId="{9D2B1651-1A11-4866-B379-89441ED1589D}" srcOrd="4" destOrd="0" presId="urn:microsoft.com/office/officeart/2005/8/layout/vList6"/>
    <dgm:cxn modelId="{9FFE141C-B310-4674-8D01-7CA9A3156883}" type="presParOf" srcId="{9D2B1651-1A11-4866-B379-89441ED1589D}" destId="{67EDFF86-D075-46E6-B2A1-CBBF5CB0EED9}" srcOrd="0" destOrd="0" presId="urn:microsoft.com/office/officeart/2005/8/layout/vList6"/>
    <dgm:cxn modelId="{E28887F8-FCE2-4C43-BCBC-0747B643CEB3}" type="presParOf" srcId="{9D2B1651-1A11-4866-B379-89441ED1589D}" destId="{5A94C2AC-1423-46AD-978A-E15DE5C9C3D7}" srcOrd="1" destOrd="0" presId="urn:microsoft.com/office/officeart/2005/8/layout/vList6"/>
    <dgm:cxn modelId="{F6C2B383-4029-4C47-A227-9D186C0F2D22}" type="presParOf" srcId="{4EFC023A-12E8-469B-9B47-98344E01C21B}" destId="{3585FEC0-36CE-4C64-92D3-E64A142CB716}" srcOrd="5" destOrd="0" presId="urn:microsoft.com/office/officeart/2005/8/layout/vList6"/>
    <dgm:cxn modelId="{F60A929C-B254-49CA-97A3-E346B45782E7}" type="presParOf" srcId="{4EFC023A-12E8-469B-9B47-98344E01C21B}" destId="{B4406385-1C98-4B0D-8BBF-F8293D01E049}" srcOrd="6" destOrd="0" presId="urn:microsoft.com/office/officeart/2005/8/layout/vList6"/>
    <dgm:cxn modelId="{987510C3-C82B-4303-A376-B44FAE8256E5}" type="presParOf" srcId="{B4406385-1C98-4B0D-8BBF-F8293D01E049}" destId="{ACBFAFE8-7877-41A5-BBF2-DBDDA3A528AF}" srcOrd="0" destOrd="0" presId="urn:microsoft.com/office/officeart/2005/8/layout/vList6"/>
    <dgm:cxn modelId="{BDB2ED8C-D206-4D09-9542-92D921C5B604}" type="presParOf" srcId="{B4406385-1C98-4B0D-8BBF-F8293D01E049}" destId="{ABE7F801-E803-4CC0-BAA4-45B8EA0D7689}" srcOrd="1" destOrd="0" presId="urn:microsoft.com/office/officeart/2005/8/layout/vList6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CF3453-DA67-419A-B7FC-0E8AB681A1A0}">
      <dsp:nvSpPr>
        <dsp:cNvPr id="0" name=""/>
        <dsp:cNvSpPr/>
      </dsp:nvSpPr>
      <dsp:spPr>
        <a:xfrm>
          <a:off x="3094387" y="1638"/>
          <a:ext cx="4641580" cy="130022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000" b="1" kern="1200" dirty="0"/>
            <a:t>COPIA CONTRATO DE APRENDIZAJE O CORREO DE APROBACIÓN DE OTRA ALTERNATIVA</a:t>
          </a:r>
        </a:p>
      </dsp:txBody>
      <dsp:txXfrm>
        <a:off x="3094387" y="164166"/>
        <a:ext cx="4153996" cy="975167"/>
      </dsp:txXfrm>
    </dsp:sp>
    <dsp:sp modelId="{F9D111DB-E99D-4A90-BD9A-0B327E70622C}">
      <dsp:nvSpPr>
        <dsp:cNvPr id="0" name=""/>
        <dsp:cNvSpPr/>
      </dsp:nvSpPr>
      <dsp:spPr>
        <a:xfrm>
          <a:off x="0" y="1638"/>
          <a:ext cx="3094387" cy="130022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800" b="1" kern="1200" dirty="0"/>
            <a:t>EVIDENCIA ALTERNATIVA</a:t>
          </a:r>
        </a:p>
      </dsp:txBody>
      <dsp:txXfrm>
        <a:off x="63472" y="65110"/>
        <a:ext cx="2967443" cy="1173279"/>
      </dsp:txXfrm>
    </dsp:sp>
    <dsp:sp modelId="{28434159-B259-4B51-82B5-CA1630AF5701}">
      <dsp:nvSpPr>
        <dsp:cNvPr id="0" name=""/>
        <dsp:cNvSpPr/>
      </dsp:nvSpPr>
      <dsp:spPr>
        <a:xfrm>
          <a:off x="3094387" y="1431885"/>
          <a:ext cx="4641580" cy="130022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3620642"/>
            <a:satOff val="-17082"/>
            <a:lumOff val="-617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3620642"/>
              <a:satOff val="-17082"/>
              <a:lumOff val="-617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2400" b="1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b="1" kern="1200" dirty="0"/>
            <a:t>ARL</a:t>
          </a:r>
        </a:p>
      </dsp:txBody>
      <dsp:txXfrm>
        <a:off x="3094387" y="1594413"/>
        <a:ext cx="4153996" cy="975167"/>
      </dsp:txXfrm>
    </dsp:sp>
    <dsp:sp modelId="{42BF2A1C-3F18-42D1-A0BB-6852406F89EA}">
      <dsp:nvSpPr>
        <dsp:cNvPr id="0" name=""/>
        <dsp:cNvSpPr/>
      </dsp:nvSpPr>
      <dsp:spPr>
        <a:xfrm>
          <a:off x="0" y="1431885"/>
          <a:ext cx="3094387" cy="1300223"/>
        </a:xfrm>
        <a:prstGeom prst="roundRect">
          <a:avLst/>
        </a:prstGeom>
        <a:gradFill rotWithShape="0">
          <a:gsLst>
            <a:gs pos="0">
              <a:schemeClr val="accent4">
                <a:hueOff val="3266964"/>
                <a:satOff val="-13592"/>
                <a:lumOff val="32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266964"/>
                <a:satOff val="-13592"/>
                <a:lumOff val="32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266964"/>
                <a:satOff val="-13592"/>
                <a:lumOff val="32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>
              <a:latin typeface="Calibri" panose="020F0502020204030204"/>
              <a:ea typeface="+mn-ea"/>
              <a:cs typeface="+mn-cs"/>
            </a:rPr>
            <a:t>CERTIFICADO DE AFILIACIÓN</a:t>
          </a:r>
          <a:endParaRPr lang="es-ES" sz="2800" b="1" kern="1200" dirty="0">
            <a:latin typeface="Calibri" panose="020F0502020204030204"/>
            <a:ea typeface="+mn-ea"/>
            <a:cs typeface="+mn-cs"/>
          </a:endParaRPr>
        </a:p>
      </dsp:txBody>
      <dsp:txXfrm>
        <a:off x="63472" y="1495357"/>
        <a:ext cx="2967443" cy="1173279"/>
      </dsp:txXfrm>
    </dsp:sp>
    <dsp:sp modelId="{5A94C2AC-1423-46AD-978A-E15DE5C9C3D7}">
      <dsp:nvSpPr>
        <dsp:cNvPr id="0" name=""/>
        <dsp:cNvSpPr/>
      </dsp:nvSpPr>
      <dsp:spPr>
        <a:xfrm>
          <a:off x="3094387" y="2862131"/>
          <a:ext cx="4641580" cy="130022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7241284"/>
            <a:satOff val="-34163"/>
            <a:lumOff val="-1234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7241284"/>
              <a:satOff val="-34163"/>
              <a:lumOff val="-123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8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1" kern="1200" dirty="0"/>
            <a:t>CONCERTACIÓN DE ACTIVIDADES, EVALUACIÓN PARCIAL Y FINAL</a:t>
          </a:r>
        </a:p>
      </dsp:txBody>
      <dsp:txXfrm>
        <a:off x="3094387" y="3024659"/>
        <a:ext cx="4153996" cy="975167"/>
      </dsp:txXfrm>
    </dsp:sp>
    <dsp:sp modelId="{67EDFF86-D075-46E6-B2A1-CBBF5CB0EED9}">
      <dsp:nvSpPr>
        <dsp:cNvPr id="0" name=""/>
        <dsp:cNvSpPr/>
      </dsp:nvSpPr>
      <dsp:spPr>
        <a:xfrm>
          <a:off x="0" y="2862131"/>
          <a:ext cx="3094387" cy="1300223"/>
        </a:xfrm>
        <a:prstGeom prst="roundRect">
          <a:avLst/>
        </a:prstGeom>
        <a:gradFill rotWithShape="0">
          <a:gsLst>
            <a:gs pos="0">
              <a:schemeClr val="accent4">
                <a:hueOff val="6533927"/>
                <a:satOff val="-27185"/>
                <a:lumOff val="64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33927"/>
                <a:satOff val="-27185"/>
                <a:lumOff val="64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33927"/>
                <a:satOff val="-27185"/>
                <a:lumOff val="64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>
              <a:latin typeface="Calibri" panose="020F0502020204030204"/>
              <a:ea typeface="+mn-ea"/>
              <a:cs typeface="+mn-cs"/>
            </a:rPr>
            <a:t>GFPI-F-023-V3</a:t>
          </a:r>
          <a:endParaRPr lang="es-ES" sz="2800" b="1" kern="1200" dirty="0">
            <a:latin typeface="Calibri" panose="020F0502020204030204"/>
            <a:ea typeface="+mn-ea"/>
            <a:cs typeface="+mn-cs"/>
          </a:endParaRPr>
        </a:p>
      </dsp:txBody>
      <dsp:txXfrm>
        <a:off x="63472" y="2925603"/>
        <a:ext cx="2967443" cy="1173279"/>
      </dsp:txXfrm>
    </dsp:sp>
    <dsp:sp modelId="{ABE7F801-E803-4CC0-BAA4-45B8EA0D7689}">
      <dsp:nvSpPr>
        <dsp:cNvPr id="0" name=""/>
        <dsp:cNvSpPr/>
      </dsp:nvSpPr>
      <dsp:spPr>
        <a:xfrm>
          <a:off x="3094387" y="4292377"/>
          <a:ext cx="4641580" cy="1300223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10861925"/>
            <a:satOff val="-51245"/>
            <a:lumOff val="-1851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10861925"/>
              <a:satOff val="-51245"/>
              <a:lumOff val="-1851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1" kern="1200" dirty="0"/>
            <a:t>Práctica de 6 meses (12 bitácoras)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1" kern="1200" dirty="0"/>
            <a:t> Práctica de 9 meses (18 bitácoras)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b="1" kern="1200" dirty="0"/>
            <a:t> Práctica de 12 meses (24 bitácoras)</a:t>
          </a:r>
          <a:r>
            <a:rPr lang="es-ES" sz="1800" kern="1200" dirty="0"/>
            <a:t>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400" kern="1200"/>
        </a:p>
      </dsp:txBody>
      <dsp:txXfrm>
        <a:off x="3094387" y="4454905"/>
        <a:ext cx="4153996" cy="975167"/>
      </dsp:txXfrm>
    </dsp:sp>
    <dsp:sp modelId="{ACBFAFE8-7877-41A5-BBF2-DBDDA3A528AF}">
      <dsp:nvSpPr>
        <dsp:cNvPr id="0" name=""/>
        <dsp:cNvSpPr/>
      </dsp:nvSpPr>
      <dsp:spPr>
        <a:xfrm>
          <a:off x="0" y="4292377"/>
          <a:ext cx="3094387" cy="1300223"/>
        </a:xfrm>
        <a:prstGeom prst="roundRect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latin typeface="Calibri" panose="020F0502020204030204"/>
              <a:ea typeface="+mn-ea"/>
              <a:cs typeface="+mn-cs"/>
            </a:rPr>
            <a:t>BITÁCORA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>
              <a:latin typeface="Calibri" panose="020F0502020204030204"/>
              <a:ea typeface="+mn-ea"/>
              <a:cs typeface="+mn-cs"/>
            </a:rPr>
            <a:t>GFPI-F-147 V02</a:t>
          </a:r>
        </a:p>
      </dsp:txBody>
      <dsp:txXfrm>
        <a:off x="63472" y="4355849"/>
        <a:ext cx="2967443" cy="1173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3/05/2025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3/05/2025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3/05/2025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3/05/2025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3/05/2025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3/05/2025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GFPI-F-023V5FormatoPlaneacionSeguimientoyEvaluacionEtapaProductiva.xlsx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../../../2023/07.%20FORMATOS%20GENERALES/FORMATOS/GFPI-F-023_CONCERTACION%20ACTIVIDADES.pdf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../../../2023/07.%20FORMATOS%20GENERALES/FORMATOS/GFPI-F-023_EVALUACION%20FINAL.pdf" TargetMode="External"/><Relationship Id="rId4" Type="http://schemas.openxmlformats.org/officeDocument/2006/relationships/hyperlink" Target="../../../2023/07.%20FORMATOS%20GENERALES/FORMATOS/GFPI-F-023_EVALUACION%20PARCIAL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Presentacion%2025%20Marzo%202025/GFPI-F-147V4FormatoBitacoraSeguimientoEtapaProductiva%20actualizada.xlsx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51FEA25-26C5-82BD-0713-84CEF433E1C6}"/>
              </a:ext>
            </a:extLst>
          </p:cNvPr>
          <p:cNvSpPr txBox="1"/>
          <p:nvPr/>
        </p:nvSpPr>
        <p:spPr>
          <a:xfrm>
            <a:off x="893618" y="1508579"/>
            <a:ext cx="1037012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Momento 2 -Seguimiento </a:t>
            </a:r>
          </a:p>
          <a:p>
            <a:r>
              <a:rPr lang="es-ES" sz="5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y Evaluación Etapa Productiva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C4E986-D001-7DC8-D031-D68DB5AAD415}"/>
              </a:ext>
            </a:extLst>
          </p:cNvPr>
          <p:cNvSpPr txBox="1"/>
          <p:nvPr/>
        </p:nvSpPr>
        <p:spPr>
          <a:xfrm>
            <a:off x="893618" y="3976906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dirty="0">
                <a:solidFill>
                  <a:srgbClr val="38AA00"/>
                </a:solidFill>
                <a:latin typeface="Work Sans Light" pitchFamily="2" charset="77"/>
              </a:rPr>
              <a:t>Centro de Servicios Financieros</a:t>
            </a:r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34035E8-D1DB-861B-DA95-9603C7141DFE}"/>
              </a:ext>
            </a:extLst>
          </p:cNvPr>
          <p:cNvSpPr txBox="1">
            <a:spLocks/>
          </p:cNvSpPr>
          <p:nvPr/>
        </p:nvSpPr>
        <p:spPr>
          <a:xfrm>
            <a:off x="394452" y="241480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Actividades que debe realizar el Aprendiz</a:t>
            </a:r>
          </a:p>
        </p:txBody>
      </p:sp>
      <p:grpSp>
        <p:nvGrpSpPr>
          <p:cNvPr id="5" name="1 Grupo">
            <a:extLst>
              <a:ext uri="{FF2B5EF4-FFF2-40B4-BE49-F238E27FC236}">
                <a16:creationId xmlns:a16="http://schemas.microsoft.com/office/drawing/2014/main" id="{EF4E0054-575F-FB19-7D44-DABF41DC5238}"/>
              </a:ext>
            </a:extLst>
          </p:cNvPr>
          <p:cNvGrpSpPr/>
          <p:nvPr/>
        </p:nvGrpSpPr>
        <p:grpSpPr>
          <a:xfrm>
            <a:off x="1499982" y="796022"/>
            <a:ext cx="10275059" cy="5841836"/>
            <a:chOff x="821068" y="173275"/>
            <a:chExt cx="7389001" cy="5415379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76492497-39DC-44EA-0650-7C5A3CC14648}"/>
                </a:ext>
              </a:extLst>
            </p:cNvPr>
            <p:cNvSpPr txBox="1"/>
            <p:nvPr/>
          </p:nvSpPr>
          <p:spPr>
            <a:xfrm>
              <a:off x="821068" y="2603817"/>
              <a:ext cx="914400" cy="914400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l"/>
              <a:endParaRPr lang="es-ES" sz="8000" b="1" dirty="0">
                <a:solidFill>
                  <a:srgbClr val="92D050"/>
                </a:solidFill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EC9287D-F5AF-EDA9-3126-5D508D4942D4}"/>
                </a:ext>
              </a:extLst>
            </p:cNvPr>
            <p:cNvSpPr txBox="1"/>
            <p:nvPr/>
          </p:nvSpPr>
          <p:spPr>
            <a:xfrm>
              <a:off x="4788329" y="173275"/>
              <a:ext cx="3421740" cy="427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ES" sz="2400" b="1" dirty="0">
                <a:solidFill>
                  <a:srgbClr val="38AA00"/>
                </a:solidFill>
                <a:latin typeface="Calibri"/>
                <a:cs typeface="Calibri"/>
              </a:endParaRPr>
            </a:p>
          </p:txBody>
        </p:sp>
        <p:sp>
          <p:nvSpPr>
            <p:cNvPr id="8" name="CuadroTexto 4">
              <a:extLst>
                <a:ext uri="{FF2B5EF4-FFF2-40B4-BE49-F238E27FC236}">
                  <a16:creationId xmlns:a16="http://schemas.microsoft.com/office/drawing/2014/main" id="{424E7D3B-A059-34D1-D9A1-001BFEBE814F}"/>
                </a:ext>
              </a:extLst>
            </p:cNvPr>
            <p:cNvSpPr txBox="1"/>
            <p:nvPr/>
          </p:nvSpPr>
          <p:spPr>
            <a:xfrm>
              <a:off x="4353898" y="353240"/>
              <a:ext cx="3838567" cy="523541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342900" indent="-342900" algn="just">
                <a:buFont typeface="+mj-lt"/>
                <a:buAutoNum type="arabicPeriod"/>
              </a:pPr>
              <a:r>
                <a:rPr lang="es-ES" sz="1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Calibri"/>
                </a:rPr>
                <a:t>Diligenciar el formato de Evaluación y Seguimiento (</a:t>
              </a:r>
              <a:r>
                <a:rPr lang="es-ES" sz="1900" b="1" dirty="0">
                  <a:solidFill>
                    <a:schemeClr val="accent1">
                      <a:lumMod val="75000"/>
                    </a:schemeClr>
                  </a:solidFill>
                  <a:latin typeface="+mj-lt"/>
                  <a:cs typeface="Calibri"/>
                  <a:hlinkClick r:id="rId3" action="ppaction://hlinkfile"/>
                </a:rPr>
                <a:t>F-023 V5</a:t>
              </a:r>
              <a:r>
                <a:rPr lang="es-ES" sz="1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Calibri"/>
                </a:rPr>
                <a:t>) junto con su Jefe Inmediato. (Concertación, Evaluación parcial y Evaluación Final)</a:t>
              </a:r>
            </a:p>
            <a:p>
              <a:pPr marL="342900" indent="-342900">
                <a:buFont typeface="+mj-lt"/>
                <a:buAutoNum type="arabicPeriod"/>
              </a:pPr>
              <a:endParaRPr lang="es-ES" sz="1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Calibri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lang="es-ES" sz="1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Calibri"/>
                </a:rPr>
                <a:t>Diligenciar una bitácora QUINCENAL, en donde señalara las actividades ejecutadas en el desarrollo de su etapa productiva, en cualquiera que sea su alternativa.</a:t>
              </a:r>
            </a:p>
            <a:p>
              <a:pPr marL="342900" indent="-342900">
                <a:buFont typeface="+mj-lt"/>
                <a:buAutoNum type="arabicPeriod"/>
              </a:pPr>
              <a:endParaRPr lang="es-ES" sz="1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Calibri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lang="es-ES" sz="1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Calibri"/>
                </a:rPr>
                <a:t>Acceder a las actividades de retroalimentación a través de la Plataforma y asistir a reuniones de Seguimiento en el Centro de Formación con el Instructor. </a:t>
              </a:r>
            </a:p>
            <a:p>
              <a:pPr marL="342900" indent="-342900" algn="just">
                <a:buFont typeface="+mj-lt"/>
                <a:buAutoNum type="arabicPeriod"/>
              </a:pPr>
              <a:endParaRPr lang="es-ES" sz="1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Calibri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lang="es-ES" sz="19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Calibri"/>
                </a:rPr>
                <a:t>Si la situación los amerita, ya sea por que el empresario o el aprendiz lo solicite, se realizara seguimiento en la empresa junto con el Jefe Inmediato y el instructor. </a:t>
              </a:r>
            </a:p>
          </p:txBody>
        </p:sp>
      </p:grp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9FAFF70-2313-84CF-944A-75A7895DCE7F}"/>
              </a:ext>
            </a:extLst>
          </p:cNvPr>
          <p:cNvCxnSpPr>
            <a:cxnSpLocks/>
          </p:cNvCxnSpPr>
          <p:nvPr/>
        </p:nvCxnSpPr>
        <p:spPr>
          <a:xfrm flipV="1">
            <a:off x="6407586" y="2398022"/>
            <a:ext cx="0" cy="2846090"/>
          </a:xfrm>
          <a:prstGeom prst="line">
            <a:avLst/>
          </a:prstGeom>
          <a:noFill/>
          <a:ln w="47625" cap="flat">
            <a:solidFill>
              <a:srgbClr val="92D05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B516B1D-717D-BF21-09AA-0AAEEB11A39D}"/>
              </a:ext>
            </a:extLst>
          </p:cNvPr>
          <p:cNvSpPr/>
          <p:nvPr/>
        </p:nvSpPr>
        <p:spPr>
          <a:xfrm>
            <a:off x="305378" y="2206465"/>
            <a:ext cx="3336721" cy="3599760"/>
          </a:xfrm>
          <a:prstGeom prst="roundRect">
            <a:avLst>
              <a:gd name="adj" fmla="val 1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11" name="CuadroTexto 4">
            <a:extLst>
              <a:ext uri="{FF2B5EF4-FFF2-40B4-BE49-F238E27FC236}">
                <a16:creationId xmlns:a16="http://schemas.microsoft.com/office/drawing/2014/main" id="{1A2CE767-5563-DB04-7419-16F5FB0856D5}"/>
              </a:ext>
            </a:extLst>
          </p:cNvPr>
          <p:cNvSpPr txBox="1"/>
          <p:nvPr/>
        </p:nvSpPr>
        <p:spPr>
          <a:xfrm>
            <a:off x="669770" y="2452073"/>
            <a:ext cx="260793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+mj-lt"/>
                <a:cs typeface="Calibri"/>
              </a:rPr>
              <a:t>El Seguimiento y Evaluación de etapa productiva es </a:t>
            </a:r>
            <a:r>
              <a:rPr lang="es-ES" sz="2800" b="1" u="sng" dirty="0">
                <a:latin typeface="+mj-lt"/>
                <a:cs typeface="Calibri"/>
              </a:rPr>
              <a:t>OBLIGATORIO</a:t>
            </a:r>
            <a:r>
              <a:rPr lang="es-ES" sz="2800" b="1" dirty="0">
                <a:latin typeface="+mj-lt"/>
                <a:cs typeface="Calibri"/>
              </a:rPr>
              <a:t> y se realizara de manera virtual y presencial.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E0575E45-4B9E-8D8F-0792-8ADDC3E5C9BE}"/>
              </a:ext>
            </a:extLst>
          </p:cNvPr>
          <p:cNvSpPr/>
          <p:nvPr/>
        </p:nvSpPr>
        <p:spPr>
          <a:xfrm>
            <a:off x="4227503" y="3417968"/>
            <a:ext cx="1431155" cy="676598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pic>
        <p:nvPicPr>
          <p:cNvPr id="13" name="Picture 6" descr="thumb image">
            <a:extLst>
              <a:ext uri="{FF2B5EF4-FFF2-40B4-BE49-F238E27FC236}">
                <a16:creationId xmlns:a16="http://schemas.microsoft.com/office/drawing/2014/main" id="{2D6D9B5C-D130-88F7-ADCD-8F132C6D7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800" y="5213793"/>
            <a:ext cx="1368318" cy="1368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n relacionada">
            <a:extLst>
              <a:ext uri="{FF2B5EF4-FFF2-40B4-BE49-F238E27FC236}">
                <a16:creationId xmlns:a16="http://schemas.microsoft.com/office/drawing/2014/main" id="{26962C4F-C4C2-ECBA-1A90-5C741A1D1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419034" y="5244112"/>
            <a:ext cx="1921850" cy="1368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741BC-1390-9A2A-8697-69041BE37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CA755-97F4-9ED0-8D51-DE9F7715C2CD}"/>
              </a:ext>
            </a:extLst>
          </p:cNvPr>
          <p:cNvSpPr txBox="1">
            <a:spLocks/>
          </p:cNvSpPr>
          <p:nvPr/>
        </p:nvSpPr>
        <p:spPr>
          <a:xfrm>
            <a:off x="151701" y="-296601"/>
            <a:ext cx="10515600" cy="162347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s-ES" sz="4000" dirty="0">
                <a:latin typeface="Work Sans Medium" pitchFamily="2" charset="77"/>
              </a:rPr>
            </a:br>
            <a:br>
              <a:rPr lang="es-ES" sz="4000" dirty="0">
                <a:latin typeface="Work Sans Medium" pitchFamily="2" charset="77"/>
              </a:rPr>
            </a:br>
            <a:br>
              <a:rPr lang="es-ES" sz="14400" dirty="0">
                <a:latin typeface="Work Sans Medium" pitchFamily="2" charset="77"/>
              </a:rPr>
            </a:br>
            <a:r>
              <a:rPr lang="es-ES" sz="13600" dirty="0">
                <a:solidFill>
                  <a:schemeClr val="bg1"/>
                </a:solidFill>
                <a:latin typeface="Work Sans Medium"/>
              </a:rPr>
              <a:t>Formato Planeación, Seguimiento y Evaluación Etapa Productiva </a:t>
            </a:r>
            <a:r>
              <a:rPr lang="es-ES" sz="11200" b="1" dirty="0">
                <a:solidFill>
                  <a:schemeClr val="bg1"/>
                </a:solidFill>
                <a:latin typeface="Work Sans Medium"/>
              </a:rPr>
              <a:t>GFPI-F-023 V5</a:t>
            </a:r>
            <a:br>
              <a:rPr lang="es-ES" dirty="0">
                <a:latin typeface="Work Sans Medium" pitchFamily="2" charset="77"/>
              </a:rPr>
            </a:br>
            <a:br>
              <a:rPr lang="es-ES" dirty="0">
                <a:latin typeface="Work Sans Medium" pitchFamily="2" charset="77"/>
              </a:rPr>
            </a:b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3" name="CuadroTexto 2">
            <a:hlinkClick r:id="rId3" action="ppaction://hlinkfile"/>
            <a:extLst>
              <a:ext uri="{FF2B5EF4-FFF2-40B4-BE49-F238E27FC236}">
                <a16:creationId xmlns:a16="http://schemas.microsoft.com/office/drawing/2014/main" id="{63FCB557-89BF-CE4A-4344-E9C3286EF312}"/>
              </a:ext>
            </a:extLst>
          </p:cNvPr>
          <p:cNvSpPr txBox="1"/>
          <p:nvPr/>
        </p:nvSpPr>
        <p:spPr>
          <a:xfrm>
            <a:off x="2879517" y="2714776"/>
            <a:ext cx="421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5E5C5D"/>
                </a:solidFill>
                <a:cs typeface="Calibri"/>
              </a:rPr>
              <a:t>Concertación de las actividades a desarrollar</a:t>
            </a:r>
          </a:p>
        </p:txBody>
      </p:sp>
      <p:sp>
        <p:nvSpPr>
          <p:cNvPr id="4" name="CuadroTexto 5">
            <a:hlinkClick r:id="rId4" action="ppaction://hlinkfile"/>
            <a:extLst>
              <a:ext uri="{FF2B5EF4-FFF2-40B4-BE49-F238E27FC236}">
                <a16:creationId xmlns:a16="http://schemas.microsoft.com/office/drawing/2014/main" id="{E6DB7519-01D8-1387-EFF5-CB7E95A2E462}"/>
              </a:ext>
            </a:extLst>
          </p:cNvPr>
          <p:cNvSpPr txBox="1"/>
          <p:nvPr/>
        </p:nvSpPr>
        <p:spPr>
          <a:xfrm>
            <a:off x="2863220" y="4054671"/>
            <a:ext cx="4766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5E5C5D"/>
                </a:solidFill>
                <a:cs typeface="Calibri"/>
              </a:rPr>
              <a:t>Evaluación Parcial (Trimestral)</a:t>
            </a:r>
          </a:p>
        </p:txBody>
      </p:sp>
      <p:sp>
        <p:nvSpPr>
          <p:cNvPr id="5" name="CuadroTexto 5">
            <a:hlinkClick r:id="rId5" action="ppaction://hlinkfile"/>
            <a:extLst>
              <a:ext uri="{FF2B5EF4-FFF2-40B4-BE49-F238E27FC236}">
                <a16:creationId xmlns:a16="http://schemas.microsoft.com/office/drawing/2014/main" id="{572F6C1C-7365-8691-3293-53F2B539FF9A}"/>
              </a:ext>
            </a:extLst>
          </p:cNvPr>
          <p:cNvSpPr txBox="1"/>
          <p:nvPr/>
        </p:nvSpPr>
        <p:spPr>
          <a:xfrm>
            <a:off x="2847375" y="5199545"/>
            <a:ext cx="4766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5E5C5D"/>
                </a:solidFill>
                <a:latin typeface="Calibri"/>
                <a:cs typeface="Calibri"/>
              </a:rPr>
              <a:t>Evaluación Final (Finalizando)</a:t>
            </a:r>
            <a:endParaRPr lang="es-ES" sz="2800" b="1" dirty="0">
              <a:solidFill>
                <a:srgbClr val="5E5C5D"/>
              </a:solidFill>
              <a:latin typeface="Calibri"/>
              <a:cs typeface="Calibri"/>
            </a:endParaRPr>
          </a:p>
        </p:txBody>
      </p:sp>
      <p:sp>
        <p:nvSpPr>
          <p:cNvPr id="6" name="Text Box 32">
            <a:extLst>
              <a:ext uri="{FF2B5EF4-FFF2-40B4-BE49-F238E27FC236}">
                <a16:creationId xmlns:a16="http://schemas.microsoft.com/office/drawing/2014/main" id="{969FD2FE-A5DA-F30F-A690-9EDF3670F6F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895878" y="2946738"/>
            <a:ext cx="5408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/>
              <a:t>1</a:t>
            </a:r>
          </a:p>
        </p:txBody>
      </p:sp>
      <p:pic>
        <p:nvPicPr>
          <p:cNvPr id="7" name="Picture 30" descr="1">
            <a:extLst>
              <a:ext uri="{FF2B5EF4-FFF2-40B4-BE49-F238E27FC236}">
                <a16:creationId xmlns:a16="http://schemas.microsoft.com/office/drawing/2014/main" id="{BC7F8573-EDFF-8191-F15D-4C9A53EF8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453101" y="2737975"/>
            <a:ext cx="1086059" cy="1301530"/>
          </a:xfrm>
          <a:prstGeom prst="rect">
            <a:avLst/>
          </a:prstGeom>
          <a:noFill/>
        </p:spPr>
      </p:pic>
      <p:sp>
        <p:nvSpPr>
          <p:cNvPr id="8" name="Text Box 33">
            <a:extLst>
              <a:ext uri="{FF2B5EF4-FFF2-40B4-BE49-F238E27FC236}">
                <a16:creationId xmlns:a16="http://schemas.microsoft.com/office/drawing/2014/main" id="{CA3AFBDB-B772-508C-D174-1B89AD86E63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953134" y="4043875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/>
              <a:t>2</a:t>
            </a:r>
          </a:p>
        </p:txBody>
      </p:sp>
      <p:sp>
        <p:nvSpPr>
          <p:cNvPr id="9" name="Text Box 34">
            <a:extLst>
              <a:ext uri="{FF2B5EF4-FFF2-40B4-BE49-F238E27FC236}">
                <a16:creationId xmlns:a16="http://schemas.microsoft.com/office/drawing/2014/main" id="{B602981D-AE5A-CAE8-F7D5-97ED8F55402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975808" y="520401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/>
              <a:t>3</a:t>
            </a:r>
          </a:p>
        </p:txBody>
      </p:sp>
      <p:pic>
        <p:nvPicPr>
          <p:cNvPr id="10" name="Picture 30" descr="1">
            <a:extLst>
              <a:ext uri="{FF2B5EF4-FFF2-40B4-BE49-F238E27FC236}">
                <a16:creationId xmlns:a16="http://schemas.microsoft.com/office/drawing/2014/main" id="{F53B93B0-30CA-BED3-A5EC-DED448487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424048" y="3791933"/>
            <a:ext cx="1086059" cy="1301530"/>
          </a:xfrm>
          <a:prstGeom prst="rect">
            <a:avLst/>
          </a:prstGeom>
          <a:noFill/>
        </p:spPr>
      </p:pic>
      <p:pic>
        <p:nvPicPr>
          <p:cNvPr id="11" name="Picture 30" descr="1">
            <a:extLst>
              <a:ext uri="{FF2B5EF4-FFF2-40B4-BE49-F238E27FC236}">
                <a16:creationId xmlns:a16="http://schemas.microsoft.com/office/drawing/2014/main" id="{68D1CA3C-DB0C-E152-05F5-492099AFB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453100" y="4956438"/>
            <a:ext cx="1086059" cy="1301530"/>
          </a:xfrm>
          <a:prstGeom prst="rect">
            <a:avLst/>
          </a:prstGeom>
          <a:noFill/>
        </p:spPr>
      </p:pic>
      <p:sp>
        <p:nvSpPr>
          <p:cNvPr id="12" name="CuadroTexto 10">
            <a:extLst>
              <a:ext uri="{FF2B5EF4-FFF2-40B4-BE49-F238E27FC236}">
                <a16:creationId xmlns:a16="http://schemas.microsoft.com/office/drawing/2014/main" id="{24995BC3-CBE2-D152-74A8-EA736C2E4A8C}"/>
              </a:ext>
            </a:extLst>
          </p:cNvPr>
          <p:cNvSpPr txBox="1"/>
          <p:nvPr/>
        </p:nvSpPr>
        <p:spPr>
          <a:xfrm>
            <a:off x="2017966" y="1883214"/>
            <a:ext cx="67279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rgbClr val="38AA00"/>
                </a:solidFill>
                <a:cs typeface="Calibri"/>
              </a:rPr>
              <a:t>Se</a:t>
            </a:r>
            <a:r>
              <a:rPr lang="es-ES" sz="3200" b="1" dirty="0">
                <a:solidFill>
                  <a:srgbClr val="FF9220"/>
                </a:solidFill>
                <a:cs typeface="Calibri"/>
              </a:rPr>
              <a:t> </a:t>
            </a:r>
            <a:r>
              <a:rPr lang="es-ES" sz="3200" b="1" dirty="0">
                <a:solidFill>
                  <a:srgbClr val="38AA00"/>
                </a:solidFill>
                <a:cs typeface="Calibri"/>
              </a:rPr>
              <a:t>diligencia en tres (3) momentos</a:t>
            </a:r>
            <a:endParaRPr lang="es-ES" sz="3200" b="1" dirty="0">
              <a:solidFill>
                <a:srgbClr val="38AA00"/>
              </a:solidFill>
              <a:latin typeface="Calibri"/>
              <a:cs typeface="Calibri"/>
            </a:endParaRPr>
          </a:p>
        </p:txBody>
      </p:sp>
      <p:pic>
        <p:nvPicPr>
          <p:cNvPr id="13" name="Picture 4" descr="Imagen relacionada">
            <a:extLst>
              <a:ext uri="{FF2B5EF4-FFF2-40B4-BE49-F238E27FC236}">
                <a16:creationId xmlns:a16="http://schemas.microsoft.com/office/drawing/2014/main" id="{E20C8699-FA0A-3AD1-2641-B4C3F2A1C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752909" y="1379477"/>
            <a:ext cx="3373035" cy="4824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88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230FD-3CB7-53CE-3406-8C961FD32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C558DD8-A96C-AB28-45C6-02CC0116DDE7}"/>
              </a:ext>
            </a:extLst>
          </p:cNvPr>
          <p:cNvSpPr txBox="1"/>
          <p:nvPr/>
        </p:nvSpPr>
        <p:spPr>
          <a:xfrm>
            <a:off x="280770" y="333143"/>
            <a:ext cx="10300104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Work Sans Medium"/>
                <a:ea typeface="+mj-ea"/>
                <a:cs typeface="+mj-cs"/>
              </a:rPr>
              <a:t>FORMATO BITÁCORA </a:t>
            </a:r>
            <a:r>
              <a:rPr lang="es-ES" sz="3600" b="1" dirty="0">
                <a:solidFill>
                  <a:schemeClr val="bg1"/>
                </a:solidFill>
                <a:latin typeface="Work Sans Medium"/>
                <a:ea typeface="+mj-ea"/>
                <a:cs typeface="+mj-cs"/>
                <a:hlinkClick r:id="rId3" action="ppaction://hlinkfile"/>
              </a:rPr>
              <a:t>GFPI-F-147 Versión: 03</a:t>
            </a:r>
            <a:endParaRPr lang="es-ES" sz="3600" b="1" dirty="0">
              <a:solidFill>
                <a:schemeClr val="bg1"/>
              </a:solidFill>
              <a:latin typeface="Work Sans Medium" pitchFamily="2" charset="77"/>
              <a:ea typeface="+mj-ea"/>
              <a:cs typeface="+mj-cs"/>
            </a:endParaRPr>
          </a:p>
        </p:txBody>
      </p:sp>
      <p:sp>
        <p:nvSpPr>
          <p:cNvPr id="3" name="Text Box 32">
            <a:extLst>
              <a:ext uri="{FF2B5EF4-FFF2-40B4-BE49-F238E27FC236}">
                <a16:creationId xmlns:a16="http://schemas.microsoft.com/office/drawing/2014/main" id="{927525F5-9CCC-91E3-E344-2F9CF0FFC1B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139192" y="3930686"/>
            <a:ext cx="8960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1</a:t>
            </a:r>
          </a:p>
        </p:txBody>
      </p:sp>
      <p:pic>
        <p:nvPicPr>
          <p:cNvPr id="4" name="Picture 30" descr="1">
            <a:extLst>
              <a:ext uri="{FF2B5EF4-FFF2-40B4-BE49-F238E27FC236}">
                <a16:creationId xmlns:a16="http://schemas.microsoft.com/office/drawing/2014/main" id="{A0170B9E-52B8-3F56-C656-6B5DA2A63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776232" y="3699527"/>
            <a:ext cx="1258980" cy="1508758"/>
          </a:xfrm>
          <a:prstGeom prst="rect">
            <a:avLst/>
          </a:prstGeom>
          <a:noFill/>
        </p:spPr>
      </p:pic>
      <p:sp>
        <p:nvSpPr>
          <p:cNvPr id="5" name="CuadroTexto 5">
            <a:extLst>
              <a:ext uri="{FF2B5EF4-FFF2-40B4-BE49-F238E27FC236}">
                <a16:creationId xmlns:a16="http://schemas.microsoft.com/office/drawing/2014/main" id="{4977EB50-4D1D-53E0-150A-AF504631FB02}"/>
              </a:ext>
            </a:extLst>
          </p:cNvPr>
          <p:cNvSpPr txBox="1"/>
          <p:nvPr/>
        </p:nvSpPr>
        <p:spPr>
          <a:xfrm>
            <a:off x="3035212" y="3177569"/>
            <a:ext cx="46457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>
                <a:solidFill>
                  <a:srgbClr val="5E5C5D"/>
                </a:solidFill>
                <a:cs typeface="Calibri"/>
              </a:rPr>
              <a:t>Indicando la descripción de la actividad desarrollada  durante el periodo </a:t>
            </a:r>
            <a:r>
              <a:rPr lang="es-CO" sz="2800" b="1" dirty="0">
                <a:solidFill>
                  <a:srgbClr val="FF0000"/>
                </a:solidFill>
                <a:cs typeface="Calibri"/>
              </a:rPr>
              <a:t>01 al 15 y 16 al 30/31 mes</a:t>
            </a:r>
            <a:r>
              <a:rPr lang="es-CO" sz="2800" b="1" dirty="0">
                <a:solidFill>
                  <a:srgbClr val="5E5C5D"/>
                </a:solidFill>
                <a:cs typeface="Calibri"/>
              </a:rPr>
              <a:t>, acorde a las competencias del programa de formación.</a:t>
            </a: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E5E14CCE-E31B-A400-7242-D8D79FBCEBFA}"/>
              </a:ext>
            </a:extLst>
          </p:cNvPr>
          <p:cNvSpPr txBox="1"/>
          <p:nvPr/>
        </p:nvSpPr>
        <p:spPr>
          <a:xfrm>
            <a:off x="2823294" y="2278829"/>
            <a:ext cx="6727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38AA00"/>
                </a:solidFill>
                <a:cs typeface="Calibri"/>
              </a:rPr>
              <a:t>Se diligencia quincenalmente</a:t>
            </a:r>
          </a:p>
        </p:txBody>
      </p:sp>
      <p:pic>
        <p:nvPicPr>
          <p:cNvPr id="7" name="Picture 4" descr="Imagen relacionada">
            <a:extLst>
              <a:ext uri="{FF2B5EF4-FFF2-40B4-BE49-F238E27FC236}">
                <a16:creationId xmlns:a16="http://schemas.microsoft.com/office/drawing/2014/main" id="{46809F38-C88F-25A1-EBE8-43DFC13F4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876" y="1857399"/>
            <a:ext cx="5062124" cy="4305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230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70E4E-939B-A379-7875-D65153E0D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7A5F9E1-3D19-7E25-A8DF-CB86CC61E9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3776439"/>
              </p:ext>
            </p:extLst>
          </p:nvPr>
        </p:nvGraphicFramePr>
        <p:xfrm>
          <a:off x="2519336" y="847071"/>
          <a:ext cx="7735968" cy="5594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11E860E8-E38E-CD84-CAB2-11C519E2A5CC}"/>
              </a:ext>
            </a:extLst>
          </p:cNvPr>
          <p:cNvSpPr txBox="1">
            <a:spLocks/>
          </p:cNvSpPr>
          <p:nvPr/>
        </p:nvSpPr>
        <p:spPr>
          <a:xfrm>
            <a:off x="1129520" y="121306"/>
            <a:ext cx="10515600" cy="74156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dirty="0">
                <a:latin typeface="Work Sans Medium"/>
              </a:rPr>
              <a:t>EVIDENCIAS CORREO ELECTRONICO</a:t>
            </a:r>
            <a:endParaRPr lang="es-CO" sz="4000" dirty="0">
              <a:latin typeface="Work Sa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15782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3373F-02EC-A9A1-9AB1-FE6D6CF34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67184208-4CE6-DBCA-A321-DB1B13EC438E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6ADF4CAE-FCE5-14E3-BA9B-214C666D3308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CCBA3849-18EB-1A90-74BE-0DD5DA0EA41E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9789522E-CEC1-DEF6-40D8-DEF0F5E6EA3D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3084D887-F1AB-E741-7834-DC02853AF331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AD4C0EBD-1F19-8792-4449-9D74F8B35489}"/>
              </a:ext>
            </a:extLst>
          </p:cNvPr>
          <p:cNvSpPr/>
          <p:nvPr/>
        </p:nvSpPr>
        <p:spPr>
          <a:xfrm>
            <a:off x="11347310" y="1144302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8C1DC71B-3B83-49A5-BFF0-EC908300C0F5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E0376B2C-A612-A0C5-7970-584DD3706E3F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3491A10-FDD1-D749-635C-984065D2AB56}"/>
              </a:ext>
            </a:extLst>
          </p:cNvPr>
          <p:cNvSpPr txBox="1"/>
          <p:nvPr/>
        </p:nvSpPr>
        <p:spPr>
          <a:xfrm>
            <a:off x="304800" y="1231660"/>
            <a:ext cx="109606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8000" b="1" i="1" dirty="0">
                <a:solidFill>
                  <a:srgbClr val="2F8E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Aspectos importantes en el desarrollo de la Etapa Practica</a:t>
            </a:r>
          </a:p>
        </p:txBody>
      </p:sp>
    </p:spTree>
    <p:extLst>
      <p:ext uri="{BB962C8B-B14F-4D97-AF65-F5344CB8AC3E}">
        <p14:creationId xmlns:p14="http://schemas.microsoft.com/office/powerpoint/2010/main" val="3532858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4F977-1E04-521B-9AC3-B393555B0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199A8CAC-FECB-2D84-D848-3323D25D1E15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DD91740A-6748-CDB6-82C1-DDEAA1E6C8D8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68341F7A-A12D-2579-D83C-717A00DF7F86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D50BAC15-5817-ED23-C86E-67ED5836951D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7548E2C-3011-DF5E-510E-B0BC06964E3B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9B5048BC-3B1D-9BD3-B741-6454C2A49309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9CEA375C-F4D5-8690-4968-D3F4CA128266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336;p22">
            <a:extLst>
              <a:ext uri="{FF2B5EF4-FFF2-40B4-BE49-F238E27FC236}">
                <a16:creationId xmlns:a16="http://schemas.microsoft.com/office/drawing/2014/main" id="{A6657E85-B000-5653-B7D5-E8BFFD847922}"/>
              </a:ext>
            </a:extLst>
          </p:cNvPr>
          <p:cNvSpPr/>
          <p:nvPr/>
        </p:nvSpPr>
        <p:spPr>
          <a:xfrm>
            <a:off x="10467947" y="1253141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2520;p81">
            <a:extLst>
              <a:ext uri="{FF2B5EF4-FFF2-40B4-BE49-F238E27FC236}">
                <a16:creationId xmlns:a16="http://schemas.microsoft.com/office/drawing/2014/main" id="{760A2708-0DA2-B110-91A5-F79059355F58}"/>
              </a:ext>
            </a:extLst>
          </p:cNvPr>
          <p:cNvSpPr/>
          <p:nvPr/>
        </p:nvSpPr>
        <p:spPr>
          <a:xfrm rot="5400000">
            <a:off x="5386209" y="5662772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Google Shape;2521;p81">
            <a:extLst>
              <a:ext uri="{FF2B5EF4-FFF2-40B4-BE49-F238E27FC236}">
                <a16:creationId xmlns:a16="http://schemas.microsoft.com/office/drawing/2014/main" id="{80158D12-718E-A918-39CB-3120682C6AFB}"/>
              </a:ext>
            </a:extLst>
          </p:cNvPr>
          <p:cNvSpPr/>
          <p:nvPr/>
        </p:nvSpPr>
        <p:spPr>
          <a:xfrm rot="5400000">
            <a:off x="4899002" y="6125791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Picture 2" descr="Vector gratuito ilustración de concepto de nuevo empleado">
            <a:extLst>
              <a:ext uri="{FF2B5EF4-FFF2-40B4-BE49-F238E27FC236}">
                <a16:creationId xmlns:a16="http://schemas.microsoft.com/office/drawing/2014/main" id="{930DE1EC-01B9-F7B8-D146-C2A2A8EF7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752" y="1791758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726A5AB-65E2-6688-BCDA-59085F504754}"/>
              </a:ext>
            </a:extLst>
          </p:cNvPr>
          <p:cNvSpPr txBox="1"/>
          <p:nvPr/>
        </p:nvSpPr>
        <p:spPr>
          <a:xfrm>
            <a:off x="1087672" y="179044"/>
            <a:ext cx="8711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Presentación Personal</a:t>
            </a:r>
            <a:endParaRPr lang="es-CO" sz="48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7E1275-F769-B4A7-9602-33F922FFBF44}"/>
              </a:ext>
            </a:extLst>
          </p:cNvPr>
          <p:cNvSpPr txBox="1"/>
          <p:nvPr/>
        </p:nvSpPr>
        <p:spPr>
          <a:xfrm>
            <a:off x="308143" y="1146230"/>
            <a:ext cx="450084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Una persona que luce impecable será bien recibida en cualquier lugar.</a:t>
            </a:r>
          </a:p>
          <a:p>
            <a:pPr algn="ctr"/>
            <a:endParaRPr lang="es-MX" sz="2400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algn="ctr"/>
            <a:r>
              <a:rPr lang="es-MX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La primera impresión está dada por su presentación personal.</a:t>
            </a:r>
          </a:p>
          <a:p>
            <a:pPr algn="ctr"/>
            <a:endParaRPr lang="es-MX" sz="2400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algn="ctr"/>
            <a:r>
              <a:rPr lang="es-MX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La presentación personal del aprendiz SENA es tan importante,  no solo se esta preparando desde ahora para una vida laboral intachable, también, deja en alto el buen nombre de la institución.</a:t>
            </a:r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49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1F7340-7BDA-71C8-51D7-02A854BA8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E37A1C91-C8BB-1DB5-AA51-2761D871965E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C9607A15-1055-337F-FEC8-1956C110397E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2933B2FC-C459-EE74-468E-DB8B35EC2185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05C7AB60-356A-E59B-8C52-7491AF850732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F5F0392-6E9A-2380-D912-8CF320AC34DD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30FEFFE9-AD52-ECB7-D3E3-5D59D1F8C952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2439FD64-B718-B8A1-5E6D-A45CC4B511FE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CC434968-170D-AA76-E4B5-36DF99E9B54B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8E3E76C3-520D-B351-E395-BF51721FC77A}"/>
              </a:ext>
            </a:extLst>
          </p:cNvPr>
          <p:cNvSpPr/>
          <p:nvPr/>
        </p:nvSpPr>
        <p:spPr>
          <a:xfrm rot="5400000">
            <a:off x="4649146" y="5438770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CD9E42D4-2276-DD05-DEB1-369CC523CCDA}"/>
              </a:ext>
            </a:extLst>
          </p:cNvPr>
          <p:cNvSpPr/>
          <p:nvPr/>
        </p:nvSpPr>
        <p:spPr>
          <a:xfrm rot="5400000">
            <a:off x="4678772" y="567763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FAB39A75-5A3E-3634-F903-0030DD183E3B}"/>
              </a:ext>
            </a:extLst>
          </p:cNvPr>
          <p:cNvSpPr/>
          <p:nvPr/>
        </p:nvSpPr>
        <p:spPr>
          <a:xfrm rot="5400000">
            <a:off x="4196113" y="6144585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336F7E-4518-4427-D84C-9AB3D4328977}"/>
              </a:ext>
            </a:extLst>
          </p:cNvPr>
          <p:cNvSpPr txBox="1"/>
          <p:nvPr/>
        </p:nvSpPr>
        <p:spPr>
          <a:xfrm>
            <a:off x="6269174" y="1446414"/>
            <a:ext cx="450084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La puntualidad es la disciplina de estar a tiempo para cumplir nuestras compromisos y obligaciones en los diferentes contextos laborales, sociales y personales, se asocia a la responsabilidad que asumimos.</a:t>
            </a:r>
          </a:p>
          <a:p>
            <a:pPr algn="ctr"/>
            <a:endParaRPr lang="es-MX" sz="2400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algn="ctr"/>
            <a:r>
              <a:rPr lang="es-MX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Nuestra palabra genera valor, es la garantía para contar con nuestra presencia en el momento justo, preciso y necesario.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4796BB9-B8B3-9AE8-408A-E8E3619CEBF0}"/>
              </a:ext>
            </a:extLst>
          </p:cNvPr>
          <p:cNvSpPr txBox="1"/>
          <p:nvPr/>
        </p:nvSpPr>
        <p:spPr>
          <a:xfrm>
            <a:off x="1166866" y="413859"/>
            <a:ext cx="8711749" cy="643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Puntualidad y Responsabilidad</a:t>
            </a:r>
            <a:endParaRPr lang="es-CO" sz="40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7" name="Picture 4" descr="Puntualidad Vectores Libres de Derechos - iStock">
            <a:extLst>
              <a:ext uri="{FF2B5EF4-FFF2-40B4-BE49-F238E27FC236}">
                <a16:creationId xmlns:a16="http://schemas.microsoft.com/office/drawing/2014/main" id="{DB7FAA2A-F969-6177-88E7-763FFEE37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29" y="1603044"/>
            <a:ext cx="4931228" cy="394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186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C758B-12E6-02AA-4EB0-1E3EFA2DC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E012C78A-A97D-0A2D-D314-76B1CB10E822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F2E96F00-D2B9-EC7A-2EFE-A725230AF555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613CDC9A-93F4-5D8E-B57C-76953F8987AE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09D99CDC-FA7F-056D-867C-63E270053F58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12BE616-AB8C-C63D-E67E-1319EDD5B7A5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CADA8649-2C63-29BC-47C3-1BBC7749568B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6BE2E863-54CC-6649-D846-10846B365A33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42286BA3-9C8C-0E8A-E495-953E1F4D410F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9BDD5515-74F1-C656-E751-026535EFE7AF}"/>
              </a:ext>
            </a:extLst>
          </p:cNvPr>
          <p:cNvSpPr/>
          <p:nvPr/>
        </p:nvSpPr>
        <p:spPr>
          <a:xfrm rot="5400000">
            <a:off x="4649146" y="5357124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82C154A9-65A4-2E69-8E89-8BEC36EDFF1F}"/>
              </a:ext>
            </a:extLst>
          </p:cNvPr>
          <p:cNvSpPr/>
          <p:nvPr/>
        </p:nvSpPr>
        <p:spPr>
          <a:xfrm rot="5400000">
            <a:off x="4678750" y="561239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FFC03296-3E82-4D7A-2F32-A43DBB526672}"/>
              </a:ext>
            </a:extLst>
          </p:cNvPr>
          <p:cNvSpPr/>
          <p:nvPr/>
        </p:nvSpPr>
        <p:spPr>
          <a:xfrm rot="5400000">
            <a:off x="4196113" y="6095597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578B62-5B9A-C5D0-FA7B-EB533E55B36C}"/>
              </a:ext>
            </a:extLst>
          </p:cNvPr>
          <p:cNvSpPr txBox="1"/>
          <p:nvPr/>
        </p:nvSpPr>
        <p:spPr>
          <a:xfrm>
            <a:off x="355355" y="1478171"/>
            <a:ext cx="4348052" cy="4410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La buena disposición, simpatía, amabilidad, cordialidad y autocontrol son esenciales en el proceso.</a:t>
            </a:r>
            <a:endParaRPr lang="es-CO" sz="3200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FC6CC50-397D-A15E-4409-E91E5211CC0D}"/>
              </a:ext>
            </a:extLst>
          </p:cNvPr>
          <p:cNvSpPr txBox="1"/>
          <p:nvPr/>
        </p:nvSpPr>
        <p:spPr>
          <a:xfrm>
            <a:off x="1166866" y="381682"/>
            <a:ext cx="87117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Disposición y Actitud</a:t>
            </a:r>
            <a:endParaRPr lang="es-CO" sz="40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7" name="Picture 2" descr="Cómo mantener una actitud positiva en el trabajo">
            <a:extLst>
              <a:ext uri="{FF2B5EF4-FFF2-40B4-BE49-F238E27FC236}">
                <a16:creationId xmlns:a16="http://schemas.microsoft.com/office/drawing/2014/main" id="{97047F94-ECC6-FACB-12A7-3F12DD5C4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397" y="1477784"/>
            <a:ext cx="5337324" cy="4766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51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17E99-3CA5-AA7D-6A5B-84EC0647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9FBDF88B-43B9-B1F8-C3B6-B4399978ACE0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DFE40A39-09C6-C1A6-E58C-EBCCA51E88C3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803E0A97-461C-719E-0976-86AB72E18B15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60EDA881-0FF8-93BF-2DF0-DB1C366459AD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EF16099-9903-24EC-81B3-136FCACE54F1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DA5A4722-7A05-269E-1822-2B3AD16328FB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06DA9F69-0DC1-F9C1-66B0-EB9DFDD65277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9BE17024-BA15-0085-B63A-0E4681346987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4319E07C-0F5A-3FBE-5562-AEFF8F3078C2}"/>
              </a:ext>
            </a:extLst>
          </p:cNvPr>
          <p:cNvSpPr/>
          <p:nvPr/>
        </p:nvSpPr>
        <p:spPr>
          <a:xfrm rot="5400000">
            <a:off x="4649146" y="5438770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7F479CE9-C6B2-4A3E-D9E8-1F4A4B1F9E93}"/>
              </a:ext>
            </a:extLst>
          </p:cNvPr>
          <p:cNvSpPr/>
          <p:nvPr/>
        </p:nvSpPr>
        <p:spPr>
          <a:xfrm rot="5400000">
            <a:off x="4678772" y="567763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7346739D-C228-E6E8-4249-E42DB88E2F14}"/>
              </a:ext>
            </a:extLst>
          </p:cNvPr>
          <p:cNvSpPr/>
          <p:nvPr/>
        </p:nvSpPr>
        <p:spPr>
          <a:xfrm rot="5400000">
            <a:off x="4196113" y="6144585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91C8F9-1F19-0336-EFD3-2DD3CF6D0DB0}"/>
              </a:ext>
            </a:extLst>
          </p:cNvPr>
          <p:cNvSpPr txBox="1"/>
          <p:nvPr/>
        </p:nvSpPr>
        <p:spPr>
          <a:xfrm>
            <a:off x="1166866" y="381682"/>
            <a:ext cx="87117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Respeto y Confianza</a:t>
            </a:r>
            <a:endParaRPr lang="es-CO" sz="40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6" name="Picture 2" descr="7 claves para ganar más respeto">
            <a:extLst>
              <a:ext uri="{FF2B5EF4-FFF2-40B4-BE49-F238E27FC236}">
                <a16:creationId xmlns:a16="http://schemas.microsoft.com/office/drawing/2014/main" id="{D83C8CEB-839B-C96E-00F8-C56D0647C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56" y="1966585"/>
            <a:ext cx="4399007" cy="3018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1AAD375-C678-CE56-44DF-D4D60AC2B381}"/>
              </a:ext>
            </a:extLst>
          </p:cNvPr>
          <p:cNvSpPr txBox="1"/>
          <p:nvPr/>
        </p:nvSpPr>
        <p:spPr>
          <a:xfrm>
            <a:off x="5979233" y="1208946"/>
            <a:ext cx="4500847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El respeto incrementa la credibilidad, fomenta la confianza de los compañeros, facilita la rápida solución de problemas, genera la productividad y es la base de la sana convivencia.</a:t>
            </a:r>
          </a:p>
        </p:txBody>
      </p:sp>
    </p:spTree>
    <p:extLst>
      <p:ext uri="{BB962C8B-B14F-4D97-AF65-F5344CB8AC3E}">
        <p14:creationId xmlns:p14="http://schemas.microsoft.com/office/powerpoint/2010/main" val="3414198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50B68-F721-A998-81E4-C84B7132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C4131D53-4388-04FD-25B8-317AA304407A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3001D54D-6B44-7637-9DFA-2A7546CEA548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2467CE0A-DD84-9360-0EE1-E480176ED29D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662FB381-90EC-B4D9-317B-34A12E719A67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964E922-5878-2D31-F088-70A2EAB86659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76C15A41-2DAB-0596-65FD-481912D0A51C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DF101319-E883-BCC6-5526-EFF8BBDBC755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80D46F38-DD04-4E0B-1EEC-59071C2BA35E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DC652E60-B1DD-77F0-1A03-99C596B2E687}"/>
              </a:ext>
            </a:extLst>
          </p:cNvPr>
          <p:cNvSpPr/>
          <p:nvPr/>
        </p:nvSpPr>
        <p:spPr>
          <a:xfrm rot="5400000">
            <a:off x="4765946" y="5083237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F9F1CB6F-98FB-4495-2DED-32A7BB725AF8}"/>
              </a:ext>
            </a:extLst>
          </p:cNvPr>
          <p:cNvSpPr/>
          <p:nvPr/>
        </p:nvSpPr>
        <p:spPr>
          <a:xfrm rot="5400000">
            <a:off x="4814747" y="539513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7B86F84D-70E1-7D1C-6149-39E3370082F4}"/>
              </a:ext>
            </a:extLst>
          </p:cNvPr>
          <p:cNvSpPr/>
          <p:nvPr/>
        </p:nvSpPr>
        <p:spPr>
          <a:xfrm rot="5400000">
            <a:off x="4308365" y="5921203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0A3D3A2-4882-F8E3-B016-4ACE8E408435}"/>
              </a:ext>
            </a:extLst>
          </p:cNvPr>
          <p:cNvSpPr txBox="1"/>
          <p:nvPr/>
        </p:nvSpPr>
        <p:spPr>
          <a:xfrm>
            <a:off x="306426" y="1268993"/>
            <a:ext cx="452728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El trabajo en equipo fomenta cumplimiento de objetivos, integra la participación, proactividad y fortalecimiento de las habilidades y destrezas en el desarrollo de la etapa practica.</a:t>
            </a:r>
          </a:p>
          <a:p>
            <a:pPr algn="just"/>
            <a:endParaRPr lang="es-CO" sz="2400" b="1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52AD8CC-C3A0-AAF6-DE1D-F403C17029E5}"/>
              </a:ext>
            </a:extLst>
          </p:cNvPr>
          <p:cNvSpPr txBox="1"/>
          <p:nvPr/>
        </p:nvSpPr>
        <p:spPr>
          <a:xfrm>
            <a:off x="2971800" y="381682"/>
            <a:ext cx="6906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Trabajo en Equipo</a:t>
            </a:r>
            <a:endParaRPr lang="es-CO" sz="40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7" name="Picture 4" descr="Los miembros del equipo stock de ilustración">
            <a:extLst>
              <a:ext uri="{FF2B5EF4-FFF2-40B4-BE49-F238E27FC236}">
                <a16:creationId xmlns:a16="http://schemas.microsoft.com/office/drawing/2014/main" id="{084BA176-1A27-19C1-4E90-4808DE8F6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677" y="2101516"/>
            <a:ext cx="4626584" cy="334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4361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DD66F-E5AE-37D8-6981-D4AF23DE0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7242A3EF-C41F-4453-A16D-DDBE3C69264F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965F3C11-E8CA-B2C3-E005-3C17E397092F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D11735D1-A162-5D9E-72B9-64C7244F4717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B8C5CCF1-A64A-124D-ABB5-EF54E40612A1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0251C1D-B3B4-52B7-5578-33DC17AB6A4C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A67AB470-30DF-8FEE-5E77-012F6B2CDE43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0B127225-2578-5B3F-A717-AAC81FA8FD92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3E0F1954-7943-A682-FE50-B4C5FE89A421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FC3D5093-796A-4532-EFE4-EBB18250E5FA}"/>
              </a:ext>
            </a:extLst>
          </p:cNvPr>
          <p:cNvSpPr/>
          <p:nvPr/>
        </p:nvSpPr>
        <p:spPr>
          <a:xfrm rot="5400000">
            <a:off x="4765946" y="5083237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1C319AD0-0E89-779B-D423-FA1AA9A6119E}"/>
              </a:ext>
            </a:extLst>
          </p:cNvPr>
          <p:cNvSpPr/>
          <p:nvPr/>
        </p:nvSpPr>
        <p:spPr>
          <a:xfrm rot="5400000">
            <a:off x="4814747" y="539513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38A6E756-958A-CBCF-9078-A0F7F204A7DB}"/>
              </a:ext>
            </a:extLst>
          </p:cNvPr>
          <p:cNvSpPr/>
          <p:nvPr/>
        </p:nvSpPr>
        <p:spPr>
          <a:xfrm rot="5400000">
            <a:off x="4308365" y="5921203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A90A6B2-3F19-2C20-69FA-A264A6E04884}"/>
              </a:ext>
            </a:extLst>
          </p:cNvPr>
          <p:cNvSpPr txBox="1"/>
          <p:nvPr/>
        </p:nvSpPr>
        <p:spPr>
          <a:xfrm>
            <a:off x="747242" y="1673161"/>
            <a:ext cx="47772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El seguimiento a la etapa productiva es obligatorio y se realizará de manera virtual y </a:t>
            </a:r>
            <a:r>
              <a:rPr lang="es-MX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Roboto Light"/>
                <a:cs typeface="Arial" panose="020B0604020202020204" pitchFamily="34" charset="0"/>
              </a:rPr>
              <a:t>presencial</a:t>
            </a:r>
            <a:r>
              <a:rPr lang="es-MX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, una vez cumplida la fase de etapa lectiva. </a:t>
            </a:r>
          </a:p>
          <a:p>
            <a:pPr algn="just"/>
            <a:endParaRPr lang="es-MX" sz="2400" b="1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algn="just"/>
            <a:r>
              <a:rPr lang="es-MX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Finalizada la etapa practica para el trámite del título académico, se exigen las evidencias del proceso.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BE0663-0B32-ADF6-4BFB-4DBCDCCE5259}"/>
              </a:ext>
            </a:extLst>
          </p:cNvPr>
          <p:cNvSpPr txBox="1"/>
          <p:nvPr/>
        </p:nvSpPr>
        <p:spPr>
          <a:xfrm>
            <a:off x="2549714" y="381682"/>
            <a:ext cx="6091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Seguimiento a la Etapa Practica </a:t>
            </a:r>
            <a:r>
              <a:rPr lang="es-ES" sz="24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(1)</a:t>
            </a:r>
            <a:endParaRPr lang="es-CO" sz="16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8758B545-F712-AFF5-A1A6-6F09D94148A2}"/>
              </a:ext>
            </a:extLst>
          </p:cNvPr>
          <p:cNvSpPr/>
          <p:nvPr/>
        </p:nvSpPr>
        <p:spPr>
          <a:xfrm>
            <a:off x="6250402" y="1722589"/>
            <a:ext cx="2022228" cy="1708160"/>
          </a:xfrm>
          <a:prstGeom prst="hexagon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300" b="1" dirty="0"/>
              <a:t>Bitácoras</a:t>
            </a:r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6E11D804-3B8E-300F-9309-E5DD4625BFA0}"/>
              </a:ext>
            </a:extLst>
          </p:cNvPr>
          <p:cNvSpPr/>
          <p:nvPr/>
        </p:nvSpPr>
        <p:spPr>
          <a:xfrm>
            <a:off x="8546146" y="1617774"/>
            <a:ext cx="1993517" cy="1708160"/>
          </a:xfrm>
          <a:prstGeom prst="hexago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O" sz="2000" b="1" dirty="0"/>
              <a:t>Lista asistencia Visita</a:t>
            </a:r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744827EA-8627-9440-6364-C32D3AF1796C}"/>
              </a:ext>
            </a:extLst>
          </p:cNvPr>
          <p:cNvSpPr/>
          <p:nvPr/>
        </p:nvSpPr>
        <p:spPr>
          <a:xfrm>
            <a:off x="6176210" y="3767958"/>
            <a:ext cx="2051220" cy="1708160"/>
          </a:xfrm>
          <a:prstGeom prst="hexagon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300" b="1" dirty="0"/>
              <a:t>Formatos F023</a:t>
            </a:r>
          </a:p>
        </p:txBody>
      </p:sp>
      <p:sp>
        <p:nvSpPr>
          <p:cNvPr id="10" name="Hexágono 9">
            <a:extLst>
              <a:ext uri="{FF2B5EF4-FFF2-40B4-BE49-F238E27FC236}">
                <a16:creationId xmlns:a16="http://schemas.microsoft.com/office/drawing/2014/main" id="{D8B79ED1-F857-E14E-B386-A6C3CF9BEB86}"/>
              </a:ext>
            </a:extLst>
          </p:cNvPr>
          <p:cNvSpPr/>
          <p:nvPr/>
        </p:nvSpPr>
        <p:spPr>
          <a:xfrm>
            <a:off x="8432126" y="3800637"/>
            <a:ext cx="2107537" cy="1708160"/>
          </a:xfrm>
          <a:prstGeom prst="hexagon">
            <a:avLst/>
          </a:prstGeom>
          <a:solidFill>
            <a:srgbClr val="38AA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A0D8F9B-A4A3-4340-0CBC-08FAB4492630}"/>
              </a:ext>
            </a:extLst>
          </p:cNvPr>
          <p:cNvSpPr txBox="1"/>
          <p:nvPr/>
        </p:nvSpPr>
        <p:spPr>
          <a:xfrm>
            <a:off x="8733415" y="3936353"/>
            <a:ext cx="16879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>
                <a:solidFill>
                  <a:schemeClr val="bg1"/>
                </a:solidFill>
              </a:rPr>
              <a:t>Plataforma Zajuna o correo electrónico</a:t>
            </a:r>
          </a:p>
        </p:txBody>
      </p:sp>
    </p:spTree>
    <p:extLst>
      <p:ext uri="{BB962C8B-B14F-4D97-AF65-F5344CB8AC3E}">
        <p14:creationId xmlns:p14="http://schemas.microsoft.com/office/powerpoint/2010/main" val="4267184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1A4D2-6B4B-4F9D-0860-5EBBC5B8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7A770070-10A6-29F8-AC28-8BA927FC03D6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formal por parte del representante de la empresa con horario y funciones a desarrollar.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7A78C4D1-BE7B-9415-F299-95A49F089403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6758986E-1A60-B7B9-AB61-E232D903858A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83BE5F81-39CE-92A5-A2F2-FE819A50DF73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8AF7CBD7-F02C-54E2-1F73-D1DF7EF8B144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8" name="Google Shape;336;p22">
            <a:extLst>
              <a:ext uri="{FF2B5EF4-FFF2-40B4-BE49-F238E27FC236}">
                <a16:creationId xmlns:a16="http://schemas.microsoft.com/office/drawing/2014/main" id="{76358C23-4B4C-A3BC-D464-3FC19E1BEF39}"/>
              </a:ext>
            </a:extLst>
          </p:cNvPr>
          <p:cNvSpPr/>
          <p:nvPr/>
        </p:nvSpPr>
        <p:spPr>
          <a:xfrm>
            <a:off x="10802526" y="1160794"/>
            <a:ext cx="206902" cy="5089582"/>
          </a:xfrm>
          <a:prstGeom prst="rect">
            <a:avLst/>
          </a:pr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F0DD8797-68F9-BC10-7086-E35C784DCDD7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C6B145F7-36D5-0E05-DF3A-6199989B1F04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9B2BD5C3-DAD0-839A-6D70-94B1F3B1C6C6}"/>
              </a:ext>
            </a:extLst>
          </p:cNvPr>
          <p:cNvSpPr/>
          <p:nvPr/>
        </p:nvSpPr>
        <p:spPr>
          <a:xfrm rot="5400000">
            <a:off x="4765944" y="5295296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6D9DE700-BF3A-2476-FCA3-522FA46D22F3}"/>
              </a:ext>
            </a:extLst>
          </p:cNvPr>
          <p:cNvSpPr/>
          <p:nvPr/>
        </p:nvSpPr>
        <p:spPr>
          <a:xfrm rot="5400000">
            <a:off x="4790033" y="5531061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F5B4A82A-F638-FD61-95D8-BB6FF1B676BA}"/>
              </a:ext>
            </a:extLst>
          </p:cNvPr>
          <p:cNvSpPr/>
          <p:nvPr/>
        </p:nvSpPr>
        <p:spPr>
          <a:xfrm rot="5400000">
            <a:off x="4317951" y="5957913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1977F39-F05E-9083-1932-5C5CD67A085A}"/>
              </a:ext>
            </a:extLst>
          </p:cNvPr>
          <p:cNvSpPr txBox="1"/>
          <p:nvPr/>
        </p:nvSpPr>
        <p:spPr>
          <a:xfrm>
            <a:off x="3231351" y="1354960"/>
            <a:ext cx="747583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Recuerde que no esta permitido renunciar unilateralmente al Contrato de Aprendizaje.</a:t>
            </a:r>
          </a:p>
          <a:p>
            <a:pPr algn="just"/>
            <a:endParaRPr lang="es-MX" sz="2400" b="1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Antes de tomar alguna decisión consulte con las personas encargadas.</a:t>
            </a:r>
          </a:p>
          <a:p>
            <a:pPr algn="just"/>
            <a:endParaRPr lang="es-MX" sz="2400" b="1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Recuerde que con tres fallas consecutivas sin justa causa, se cancela el registro de matricula.</a:t>
            </a:r>
          </a:p>
          <a:p>
            <a:pPr algn="just"/>
            <a:endParaRPr lang="es-MX" sz="2400" b="1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/>
                <a:cs typeface="Arial" panose="020B0604020202020204" pitchFamily="34" charset="0"/>
              </a:rPr>
              <a:t>El Reglamento del Aprendiz Acuerdo 007 de 2012 y el Blog CSF, consulta continua.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3B992C-BCAF-0210-C416-A9C5121FC1E1}"/>
              </a:ext>
            </a:extLst>
          </p:cNvPr>
          <p:cNvSpPr txBox="1"/>
          <p:nvPr/>
        </p:nvSpPr>
        <p:spPr>
          <a:xfrm>
            <a:off x="3501187" y="381682"/>
            <a:ext cx="6091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Seguimiento a la Etapa Practica </a:t>
            </a:r>
            <a:r>
              <a:rPr lang="es-ES" sz="24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(2)</a:t>
            </a:r>
            <a:endParaRPr lang="es-CO" sz="16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7" name="Picture 12" descr="Imágenes de Lista 3d - Descarga gratuita en Freepik">
            <a:extLst>
              <a:ext uri="{FF2B5EF4-FFF2-40B4-BE49-F238E27FC236}">
                <a16:creationId xmlns:a16="http://schemas.microsoft.com/office/drawing/2014/main" id="{668CF0C0-53F8-52C9-AC00-A373D5E75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583192"/>
            <a:ext cx="2665884" cy="3581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0904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41dd0a9e-964d-48c8-9389-7445c2a187f7" xsi:nil="true"/>
    <lcf76f155ced4ddcb4097134ff3c332f xmlns="edbb1c21-1b45-407e-8894-c97732534993">
      <Terms xmlns="http://schemas.microsoft.com/office/infopath/2007/PartnerControls"/>
    </lcf76f155ced4ddcb4097134ff3c332f>
    <_Flow_SignoffStatus xmlns="edbb1c21-1b45-407e-8894-c97732534993" xsi:nil="true"/>
    <_ip_UnifiedCompliancePolicyProperties xmlns="http://schemas.microsoft.com/sharepoint/v3" xsi:nil="true"/>
    <FechayHora xmlns="edbb1c21-1b45-407e-8894-c97732534993" xsi:nil="true"/>
    <_x0031_010005470 xmlns="edbb1c21-1b45-407e-8894-c97732534993">
      <UserInfo>
        <DisplayName/>
        <AccountId xsi:nil="true"/>
        <AccountType/>
      </UserInfo>
    </_x0031_010005470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0239B14884FBB46AB47CE62E6B5D997" ma:contentTypeVersion="24" ma:contentTypeDescription="Crear nuevo documento." ma:contentTypeScope="" ma:versionID="9cceea161467e9937048645b52beb732">
  <xsd:schema xmlns:xsd="http://www.w3.org/2001/XMLSchema" xmlns:xs="http://www.w3.org/2001/XMLSchema" xmlns:p="http://schemas.microsoft.com/office/2006/metadata/properties" xmlns:ns1="http://schemas.microsoft.com/sharepoint/v3" xmlns:ns2="edbb1c21-1b45-407e-8894-c97732534993" xmlns:ns3="41dd0a9e-964d-48c8-9389-7445c2a187f7" targetNamespace="http://schemas.microsoft.com/office/2006/metadata/properties" ma:root="true" ma:fieldsID="ec4adf18d12104a364fbb5a4b0ef5c6a" ns1:_="" ns2:_="" ns3:_="">
    <xsd:import namespace="http://schemas.microsoft.com/sharepoint/v3"/>
    <xsd:import namespace="edbb1c21-1b45-407e-8894-c97732534993"/>
    <xsd:import namespace="41dd0a9e-964d-48c8-9389-7445c2a187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_Flow_SignoffStatus" minOccurs="0"/>
                <xsd:element ref="ns2:FechayHora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  <xsd:element ref="ns2:_x0031_01000547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b1c21-1b45-407e-8894-c977325349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Flow_SignoffStatus" ma:index="20" nillable="true" ma:displayName="Estado de aprobación" ma:internalName="Estado_x0020_de_x0020_aprobaci_x00f3_n">
      <xsd:simpleType>
        <xsd:restriction base="dms:Text"/>
      </xsd:simpleType>
    </xsd:element>
    <xsd:element name="FechayHora" ma:index="21" nillable="true" ma:displayName="Fecha y Hora" ma:description="Fecha y Hora" ma:format="DateTime" ma:internalName="FechayHor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0031_010005470" ma:index="31" nillable="true" ma:displayName="1010005470" ma:format="Dropdown" ma:list="UserInfo" ma:SharePointGroup="0" ma:internalName="_x0031_010005470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d0a9e-964d-48c8-9389-7445c2a187f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f955bbf-853c-4bfd-87ed-1b9a3029639f}" ma:internalName="TaxCatchAll" ma:showField="CatchAllData" ma:web="41dd0a9e-964d-48c8-9389-7445c2a187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B763EB-6EA6-4482-8FD4-5691A680E0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860E70-C8B7-4B0D-92E7-A0C804F08688}">
  <ds:schemaRefs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edbb1c21-1b45-407e-8894-c97732534993"/>
    <ds:schemaRef ds:uri="http://purl.org/dc/dcmitype/"/>
    <ds:schemaRef ds:uri="http://purl.org/dc/elements/1.1/"/>
    <ds:schemaRef ds:uri="41dd0a9e-964d-48c8-9389-7445c2a187f7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070CF40-3461-4D4D-971F-77D5ED27CABA}"/>
</file>

<file path=docProps/app.xml><?xml version="1.0" encoding="utf-8"?>
<Properties xmlns="http://schemas.openxmlformats.org/officeDocument/2006/extended-properties" xmlns:vt="http://schemas.openxmlformats.org/officeDocument/2006/docPropsVTypes">
  <TotalTime>3856</TotalTime>
  <Words>1322</Words>
  <Application>Microsoft Office PowerPoint</Application>
  <PresentationFormat>Panorámica</PresentationFormat>
  <Paragraphs>125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PRINCIPAL</cp:lastModifiedBy>
  <cp:revision>71</cp:revision>
  <dcterms:created xsi:type="dcterms:W3CDTF">2020-10-01T23:51:28Z</dcterms:created>
  <dcterms:modified xsi:type="dcterms:W3CDTF">2025-05-03T15:00:23Z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  <property fmtid="{D5CDD505-2E9C-101B-9397-08002B2CF9AE}" pid="9" name="ContentTypeId">
    <vt:lpwstr>0x01010080239B14884FBB46AB47CE62E6B5D997</vt:lpwstr>
  </property>
  <property fmtid="{D5CDD505-2E9C-101B-9397-08002B2CF9AE}" pid="10" name="MediaServiceImageTags">
    <vt:lpwstr/>
  </property>
</Properties>
</file>